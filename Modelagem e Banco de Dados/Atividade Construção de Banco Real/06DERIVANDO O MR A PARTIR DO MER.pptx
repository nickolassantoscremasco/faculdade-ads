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4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28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Slides/notesSlide55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notesSlides/notesSlide49.xml" ContentType="application/vnd.openxmlformats-officedocument.presentationml.notesSlide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53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53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8.xml" ContentType="application/vnd.openxmlformats-officedocument.presentationml.slide+xml"/>
  <Override PartName="/ppt/slides/slide51.xml" ContentType="application/vnd.openxmlformats-officedocument.presentationml.slide+xml"/>
  <Override PartName="/ppt/slides/slide54.xml" ContentType="application/vnd.openxmlformats-officedocument.presentationml.slide+xml"/>
  <Override PartName="/ppt/notesSlides/notesSlide19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52.xml" ContentType="application/vnd.openxmlformats-officedocument.presentationml.slide+xml"/>
  <Override PartName="/ppt/slides/slide5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12192000" cy="6858000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 /><Relationship Id="rId61" Type="http://schemas.openxmlformats.org/officeDocument/2006/relationships/tableStyles" Target="tableStyles.xml" /><Relationship Id="rId6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8521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269448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1067112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2461661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593397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82785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020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14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44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C6F648-92F1-01E4-F2BC-C8F2C332A9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37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615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129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7E846D-D125-6CBD-7889-D8C045C0A4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211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297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451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6ED783-98CC-1CD3-1735-EB40FCC860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520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9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86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6CC047-831A-3CB7-89DE-3AA036C7B4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819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0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558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B55323-411C-2FEB-838B-0CCCF0F40A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612A81-2DB1-35C5-B053-AC1527083C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99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19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9942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37EBB8-7DDF-D5C9-7409-CBF83E628E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076395-28DF-562B-4E12-45D4073DAF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571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5327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147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D79C8E-EB34-DF80-ED10-72C434640A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124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0865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863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B5E572-7F81-E45B-ADF1-672A7584B7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00DED3-B0AD-2DB4-56E1-59C7ADDF50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6854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1528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731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97A698-2617-6631-DEBD-5F7D55DE1B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3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3929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512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0E2394-E21F-9E59-AEC7-2D8968D298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BD094E-8605-B114-B015-C6E8255AFA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6213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00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2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C51B2-EB5B-CD11-D9A4-D953DAE076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F453A0-E023-683C-7EA3-E521AF35D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4075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92317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753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04C8CD-EC03-325B-2FB2-DE44DDC474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965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3587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92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310D58-1D40-2CB2-A380-464D35F43B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637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2096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0517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99B9F5-CFAB-47F5-0471-44B074D5F8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662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8445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027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868F4E-1E8D-B34F-44C7-338D2B5786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414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4954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232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8D5BCA-E3F1-0528-BF7E-EBB2AFA129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7FB95C-7914-2AD3-F296-4850BA0529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94E553-045C-639F-059C-DB884D8511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A259C4-F8B2-5F88-5F3F-DD50BE992E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9587-5647-EF98-98FF-3B9548B464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F58726-A053-47E2-C8C4-3FA67F3379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883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635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75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AA6285-605C-1151-ED71-9DB5859581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545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9314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346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47972-32D4-D391-C7C0-865827E85A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128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3617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9970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EB9567-6D34-10CE-38C7-1C29350C8B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25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45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977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2C317C-8CD3-7610-A13F-B8411563E2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191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9961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982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48E6CC-120F-B9A8-C55B-C1A1843913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808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3743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20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7D2B55-623B-B6BD-69BB-5112AB723D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137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015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269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6285A1-7A27-CBAC-7F4D-66519FBB8B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382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6902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35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EA5600-1E5C-6ECB-78B8-4388E0FD68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186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4049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7200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2C76A9-DBE1-3C8E-BAB9-E4E7BF6F1A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996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6824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860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40625F-EA36-3145-6D9B-5938AD6D43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708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1426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DFD26D-4416-9332-BA3B-3DDF71A5BA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8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3139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46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D348C2-ED02-0B29-720B-7B1F3CA1ED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02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8580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83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7A276F-32E6-00FE-CF19-08688520D9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922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2553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047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35D239-1B64-6AA8-5A1E-AB2540A824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938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813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12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86B7B3-32C9-9002-C858-C088C4E1F1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681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7936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587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85156B-4609-80DC-8405-B38AA5CD42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4577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65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069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D5378E-93C6-0237-2DF3-1156C3B87D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045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7224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35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0A5C40-F0E4-B6D9-2CDF-F83787C3B0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622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0411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993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86CD5C-6566-BD01-A256-5D1AE8D1B6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367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42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88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919CED-3479-A921-4B7C-83C30F8FD7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5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7042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52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C9D7C5-2853-36E0-D90C-B3FB4A8711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180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012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140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BDF51-2600-477E-0100-3B32ADC5C6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896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8388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9314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71020E-5A2A-A3FC-50B4-D549106F9D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407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351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7206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C37702-C2D2-37DC-3D77-0B08795894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1921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5767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435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163B4B-3475-6289-3699-7625EB1AD8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9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5584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856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32C60A-F3D8-EE06-73CE-BB39871B98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899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689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AFDCDA-2FDD-5530-8445-A411360919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660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272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792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7A204D-378D-6FA4-9710-AF6E3C5A19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6943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414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87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68511C-8519-7487-0458-DB779E7381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Slide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832565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71743994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97460344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904425302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40940687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94593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932623274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151135070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717770682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845458317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318195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183674662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980238006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586168637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33978493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676097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553497987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935575883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90208066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559314097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9944853" name="Espaço Reservado para Número de Slid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070783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221678276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395476544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728008483" name="Espaço Reservado para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93230099" name="Espaço Reservado para Conteú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936081828" name="Espaço Reservado par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1868029737" name="Espaço Reservado para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357919181" name="Espaço Reservado para Número de Slid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65578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76455192" name="Espaço Reservado para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1149668931" name="Espaço Reservado para Rodapé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12530994" name="Espaço Reservado para Número de Slid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613166" name="Espaço Reservado para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1093185854" name="Espaço Reservado para Rodapé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85763655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307834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50198546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21908668" name="Espaço Reservado para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898905887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1253070861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92961354" name="Espaço Reservado para Número de Slid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910746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706075628" name="Espaço Reservado para Imagem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pt-BR"/>
          </a:p>
        </p:txBody>
      </p:sp>
      <p:sp>
        <p:nvSpPr>
          <p:cNvPr id="1085805514" name="Espaço Reservado para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1758479032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1728291073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57357552" name="Espaço Reservado para Número de Slid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11256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665680229" name="Espaço Reservado para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315117963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155838582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38304700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exto e Títul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010348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196735118" name="Espaço Reservado para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308810742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1528636901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9419387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693927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047245356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2146244681" name="Espaço Reservado para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5452E51-6FEE-46C0-80C1-9BA3B968E418}" type="datetimeFigureOut">
              <a:rPr lang="pt-BR"/>
              <a:t>11/09/2026</a:t>
            </a:fld>
            <a:endParaRPr lang="pt-BR"/>
          </a:p>
        </p:txBody>
      </p:sp>
      <p:sp>
        <p:nvSpPr>
          <p:cNvPr id="343371248" name="Espaço Reservado para Rodapé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86137394" name="Espaço Reservado para Número de Slid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5E1E0D9-0DF5-4F39-BABC-F6BDA90AD6FE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jp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3.png"/><Relationship Id="rId4" Type="http://schemas.openxmlformats.org/officeDocument/2006/relationships/image" Target="../media/image24.jp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jp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7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8.jp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652817" name="Título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pt-BR" sz="2800"/>
              <a:t>DERIVANDO O MR A PARTIR DO MER</a:t>
            </a:r>
            <a:r>
              <a:rPr sz="2800"/>
              <a:t> (projeto lógico</a:t>
            </a:r>
            <a:r>
              <a:rPr sz="2800"/>
              <a:t>)</a:t>
            </a:r>
            <a:endParaRPr/>
          </a:p>
        </p:txBody>
      </p:sp>
      <p:sp>
        <p:nvSpPr>
          <p:cNvPr id="262587294" name="Subtítulo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Prof. Edídio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605733" name="Título 1"/>
          <p:cNvSpPr>
            <a:spLocks noGrp="1"/>
          </p:cNvSpPr>
          <p:nvPr>
            <p:ph type="title"/>
          </p:nvPr>
        </p:nvSpPr>
        <p:spPr bwMode="auto">
          <a:xfrm>
            <a:off x="838200" y="232604"/>
            <a:ext cx="10515600" cy="65529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/>
              <a:t>Introdução</a:t>
            </a:r>
            <a:endParaRPr/>
          </a:p>
        </p:txBody>
      </p:sp>
      <p:sp>
        <p:nvSpPr>
          <p:cNvPr id="1184280780" name="Espaço Reservado para Conteúdo 2"/>
          <p:cNvSpPr>
            <a:spLocks noGrp="1"/>
          </p:cNvSpPr>
          <p:nvPr>
            <p:ph idx="1"/>
          </p:nvPr>
        </p:nvSpPr>
        <p:spPr bwMode="auto">
          <a:xfrm flipH="0" flipV="0">
            <a:off x="838198" y="887895"/>
            <a:ext cx="10515600" cy="528906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/>
              <a:t>O Modelo Relacional é a representação do modelo lógico do projeto de banco de dados, sendo que a forma de representação dos conceitos necessários ao projeto deve passar a ser mais detalhada e se aproximar um pouco mais da representação física.</a:t>
            </a:r>
            <a:endParaRPr/>
          </a:p>
          <a:p>
            <a:pPr>
              <a:defRPr/>
            </a:pPr>
            <a:r>
              <a:rPr lang="pt-BR"/>
              <a:t>Dessa forma, várias mudanças devem ser realizadas no </a:t>
            </a:r>
            <a:r>
              <a:rPr lang="pt-BR"/>
              <a:t>MER gerado na fase de modelagem conceitual, como, por exemplo: </a:t>
            </a:r>
            <a:endParaRPr lang="pt-BR"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 b="1">
                <a:solidFill>
                  <a:srgbClr val="FF0000"/>
                </a:solidFill>
              </a:rPr>
              <a:t>Entidades passam a ser representadas por relações ou tabelas</a:t>
            </a:r>
            <a:r>
              <a:rPr lang="pt-BR"/>
              <a:t>. 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93281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Introdução</a:t>
            </a:r>
            <a:endParaRPr/>
          </a:p>
        </p:txBody>
      </p:sp>
      <p:sp>
        <p:nvSpPr>
          <p:cNvPr id="993663557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Atributos passam a ser representados em colunas. O atributo identificador passa a ser a chave primária (PK) da tabela. </a:t>
            </a:r>
            <a:endParaRPr lang="pt-BR"/>
          </a:p>
          <a:p>
            <a:pPr>
              <a:defRPr/>
            </a:pPr>
            <a:r>
              <a:rPr lang="pt-BR"/>
              <a:t>Os relacionamentos e as dependências passam a ser representados por chaves estrangeiras (FK) e assim por diante. </a:t>
            </a:r>
            <a:endParaRPr/>
          </a:p>
          <a:p>
            <a:pPr>
              <a:defRPr/>
            </a:pPr>
            <a:r>
              <a:rPr lang="pt-BR"/>
              <a:t>Na Figura seguinte, pode ser visto um exemplo do resultado da transformação de um MER em MR. </a:t>
            </a:r>
            <a:endParaRPr lang="pt-BR"/>
          </a:p>
          <a:p>
            <a:pPr>
              <a:defRPr/>
            </a:pPr>
            <a:r>
              <a:rPr lang="pt-BR"/>
              <a:t>Cada etapa desse mapeamento será estudada a seguir.</a:t>
            </a:r>
            <a:endParaRPr/>
          </a:p>
          <a:p>
            <a:pPr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239465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/>
          </a:p>
        </p:txBody>
      </p:sp>
      <p:pic>
        <p:nvPicPr>
          <p:cNvPr id="1797534604" name="Espaço Reservado para Conteúdo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rcRect l="0" t="11781" r="0" b="0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194728" name="Título 1"/>
          <p:cNvSpPr>
            <a:spLocks noGrp="1"/>
          </p:cNvSpPr>
          <p:nvPr>
            <p:ph type="title"/>
          </p:nvPr>
        </p:nvSpPr>
        <p:spPr bwMode="auto">
          <a:xfrm>
            <a:off x="838200" y="245857"/>
            <a:ext cx="10515600" cy="58903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/>
              <a:t>Regras</a:t>
            </a:r>
            <a:endParaRPr/>
          </a:p>
        </p:txBody>
      </p:sp>
      <p:sp>
        <p:nvSpPr>
          <p:cNvPr id="678465566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940904"/>
            <a:ext cx="10515600" cy="523605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pt-BR"/>
              <a:t>Mapeamento de Entidades Fortes(existe independentemente de outra entidade)</a:t>
            </a:r>
            <a:endParaRPr lang="pt-BR"/>
          </a:p>
          <a:p>
            <a:pPr>
              <a:defRPr/>
            </a:pPr>
            <a:r>
              <a:rPr lang="pt-BR"/>
              <a:t>Cada conjunto de entidades fortes é mapeado como uma relação que envolve todos os atributos da entidade correspondente do MER. </a:t>
            </a:r>
            <a:endParaRPr/>
          </a:p>
          <a:p>
            <a:pPr>
              <a:defRPr/>
            </a:pPr>
            <a:r>
              <a:rPr lang="pt-BR"/>
              <a:t>Assim, para cada entidade regular E no </a:t>
            </a:r>
            <a:r>
              <a:rPr lang="pt-BR">
                <a:solidFill>
                  <a:srgbClr val="FF0000"/>
                </a:solidFill>
              </a:rPr>
              <a:t>DER(diagrama entidade relacionamento/design)</a:t>
            </a:r>
            <a:r>
              <a:rPr lang="pt-BR"/>
              <a:t>, criar uma </a:t>
            </a:r>
            <a:r>
              <a:rPr lang="pt-BR" b="1" u="sng"/>
              <a:t>Relação</a:t>
            </a:r>
            <a:r>
              <a:rPr lang="pt-BR" u="sng"/>
              <a:t> R</a:t>
            </a:r>
            <a:r>
              <a:rPr lang="pt-BR"/>
              <a:t> que inclua todos os atributos simples de E.</a:t>
            </a:r>
            <a:endParaRPr/>
          </a:p>
          <a:p>
            <a:pPr>
              <a:defRPr/>
            </a:pPr>
            <a:r>
              <a:rPr/>
              <a:t>Por exemplo, suponha a entidade</a:t>
            </a:r>
            <a:r>
              <a:rPr spc="4"/>
              <a:t> </a:t>
            </a:r>
            <a:r>
              <a:rPr/>
              <a:t>Aluno</a:t>
            </a:r>
            <a:r>
              <a:rPr spc="-54"/>
              <a:t> </a:t>
            </a:r>
            <a:r>
              <a:rPr/>
              <a:t>que</a:t>
            </a:r>
            <a:r>
              <a:rPr spc="-54"/>
              <a:t> </a:t>
            </a:r>
            <a:r>
              <a:rPr/>
              <a:t>possui</a:t>
            </a:r>
            <a:r>
              <a:rPr spc="-54"/>
              <a:t> </a:t>
            </a:r>
            <a:r>
              <a:rPr/>
              <a:t>dois</a:t>
            </a:r>
            <a:r>
              <a:rPr spc="-49"/>
              <a:t> </a:t>
            </a:r>
            <a:r>
              <a:rPr/>
              <a:t>atributos</a:t>
            </a:r>
            <a:r>
              <a:rPr spc="-54"/>
              <a:t> </a:t>
            </a:r>
            <a:r>
              <a:rPr/>
              <a:t>CPF</a:t>
            </a:r>
            <a:r>
              <a:rPr spc="-54"/>
              <a:t> </a:t>
            </a:r>
            <a:r>
              <a:rPr/>
              <a:t>e</a:t>
            </a:r>
            <a:r>
              <a:rPr spc="-49"/>
              <a:t> </a:t>
            </a:r>
            <a:r>
              <a:rPr/>
              <a:t>Nome,</a:t>
            </a:r>
            <a:r>
              <a:rPr spc="-54"/>
              <a:t> </a:t>
            </a:r>
            <a:r>
              <a:rPr/>
              <a:t>sendo</a:t>
            </a:r>
            <a:r>
              <a:rPr spc="-54"/>
              <a:t> </a:t>
            </a:r>
            <a:r>
              <a:rPr/>
              <a:t>o</a:t>
            </a:r>
            <a:r>
              <a:rPr spc="-49"/>
              <a:t> </a:t>
            </a:r>
            <a:r>
              <a:rPr/>
              <a:t>CPF</a:t>
            </a:r>
            <a:r>
              <a:rPr spc="-54"/>
              <a:t> </a:t>
            </a:r>
            <a:r>
              <a:rPr/>
              <a:t>o</a:t>
            </a:r>
            <a:r>
              <a:rPr spc="-54"/>
              <a:t> </a:t>
            </a:r>
            <a:r>
              <a:rPr/>
              <a:t>atributo</a:t>
            </a:r>
            <a:r>
              <a:rPr spc="-49"/>
              <a:t> </a:t>
            </a:r>
            <a:r>
              <a:rPr/>
              <a:t>identificador</a:t>
            </a:r>
            <a:r>
              <a:rPr spc="-54"/>
              <a:t> </a:t>
            </a:r>
            <a:r>
              <a:rPr/>
              <a:t>da</a:t>
            </a:r>
            <a:r>
              <a:rPr spc="-214"/>
              <a:t> </a:t>
            </a:r>
            <a:r>
              <a:rPr/>
              <a:t>entidade</a:t>
            </a:r>
            <a:r>
              <a:rPr/>
              <a:t>.</a:t>
            </a:r>
            <a:r>
              <a:rPr spc="-29"/>
              <a:t> </a:t>
            </a:r>
            <a:r>
              <a:rPr/>
              <a:t>No</a:t>
            </a:r>
            <a:r>
              <a:rPr spc="-29"/>
              <a:t> </a:t>
            </a:r>
            <a:r>
              <a:rPr/>
              <a:t>MR,</a:t>
            </a:r>
            <a:r>
              <a:rPr spc="-34"/>
              <a:t> </a:t>
            </a:r>
            <a:r>
              <a:rPr/>
              <a:t>seria</a:t>
            </a:r>
            <a:r>
              <a:rPr spc="-34"/>
              <a:t> </a:t>
            </a:r>
            <a:r>
              <a:rPr/>
              <a:t>criada</a:t>
            </a:r>
            <a:r>
              <a:rPr spc="-29"/>
              <a:t> </a:t>
            </a:r>
            <a:r>
              <a:rPr/>
              <a:t>uma</a:t>
            </a:r>
            <a:r>
              <a:rPr spc="-29"/>
              <a:t> </a:t>
            </a:r>
            <a:r>
              <a:rPr/>
              <a:t>relação</a:t>
            </a:r>
            <a:r>
              <a:rPr spc="-29"/>
              <a:t> </a:t>
            </a:r>
            <a:r>
              <a:rPr/>
              <a:t>ou</a:t>
            </a:r>
            <a:r>
              <a:rPr spc="-29"/>
              <a:t> </a:t>
            </a:r>
            <a:r>
              <a:rPr/>
              <a:t>tabela</a:t>
            </a:r>
            <a:r>
              <a:rPr spc="-29"/>
              <a:t> </a:t>
            </a:r>
            <a:r>
              <a:rPr/>
              <a:t>de</a:t>
            </a:r>
            <a:r>
              <a:rPr spc="-34"/>
              <a:t> </a:t>
            </a:r>
            <a:r>
              <a:rPr/>
              <a:t>nome</a:t>
            </a:r>
            <a:r>
              <a:rPr spc="-29"/>
              <a:t> </a:t>
            </a:r>
            <a:r>
              <a:rPr/>
              <a:t>Aluno,</a:t>
            </a:r>
            <a:r>
              <a:rPr spc="-214"/>
              <a:t> </a:t>
            </a:r>
            <a:r>
              <a:rPr/>
              <a:t>com duas colunas (atributos) CPF, que deveria ser marcado como chave primária</a:t>
            </a:r>
            <a:r>
              <a:rPr spc="4"/>
              <a:t> </a:t>
            </a:r>
            <a:r>
              <a:rPr/>
              <a:t>(PK) e Nome.</a:t>
            </a:r>
            <a:endParaRPr u="sng"/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rial"/>
                <a:cs typeface="Arial"/>
              </a:rPr>
              <a:t>                                                      </a:t>
            </a:r>
            <a:endParaRPr lang="pt-BR"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rgbClr val="FF0000"/>
                </a:solidFill>
                <a:latin typeface="Aptos"/>
                <a:ea typeface="Arial"/>
                <a:cs typeface="Arial"/>
              </a:rPr>
              <a:t>                                                   DER</a:t>
            </a:r>
            <a:endParaRPr lang="pt-BR" sz="2800" b="0" i="0" u="sng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pt-BR" sz="2800" b="0" i="0" u="sng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pt-BR" sz="2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 </a:t>
            </a:r>
            <a:r>
              <a:rPr lang="pt-BR" sz="2800" b="1" i="0" u="sng" strike="noStrike" cap="none" spc="0">
                <a:solidFill>
                  <a:schemeClr val="tx1"/>
                </a:solidFill>
                <a:latin typeface="Aptos"/>
                <a:ea typeface="Arial"/>
                <a:cs typeface="Arial"/>
              </a:rPr>
              <a:t>Relação</a:t>
            </a:r>
            <a:r>
              <a:rPr lang="pt-BR" sz="2800" b="0" i="0" u="sng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</a:t>
            </a:r>
            <a:endParaRPr lang="pt-BR" sz="2800" b="0" i="0" u="sng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25276021" name="image15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581196" y="4319119"/>
            <a:ext cx="3772603" cy="1857842"/>
          </a:xfrm>
          <a:prstGeom prst="rect">
            <a:avLst/>
          </a:prstGeom>
        </p:spPr>
      </p:pic>
      <p:sp>
        <p:nvSpPr>
          <p:cNvPr id="309606043" name=""/>
          <p:cNvSpPr/>
          <p:nvPr/>
        </p:nvSpPr>
        <p:spPr bwMode="auto">
          <a:xfrm rot="0" flipH="0" flipV="0">
            <a:off x="7158013" y="5599275"/>
            <a:ext cx="364976" cy="16913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9289979" name=""/>
          <p:cNvSpPr/>
          <p:nvPr/>
        </p:nvSpPr>
        <p:spPr bwMode="auto">
          <a:xfrm rot="0" flipH="0" flipV="0">
            <a:off x="7113504" y="4842616"/>
            <a:ext cx="329369" cy="20474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45674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 SE.....................</a:t>
            </a:r>
            <a:endParaRPr/>
          </a:p>
        </p:txBody>
      </p:sp>
      <p:sp>
        <p:nvSpPr>
          <p:cNvPr id="1361893300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 houvesse atributos compostos,</a:t>
            </a:r>
            <a:r>
              <a:rPr spc="4"/>
              <a:t> </a:t>
            </a:r>
            <a:r>
              <a:rPr/>
              <a:t>esses deveriam ser substituídos pelos atributos simples que o compõem</a:t>
            </a:r>
            <a:r>
              <a:rPr/>
              <a:t>.</a:t>
            </a:r>
            <a:r>
              <a:rPr spc="-29"/>
              <a:t> </a:t>
            </a:r>
            <a:endParaRPr/>
          </a:p>
          <a:p>
            <a:pPr>
              <a:defRPr/>
            </a:pPr>
            <a:r>
              <a:rPr/>
              <a:t>Assim,</a:t>
            </a:r>
            <a:r>
              <a:rPr spc="-29"/>
              <a:t> </a:t>
            </a:r>
            <a:r>
              <a:rPr/>
              <a:t>o</a:t>
            </a:r>
            <a:r>
              <a:rPr spc="-29"/>
              <a:t> </a:t>
            </a:r>
            <a:r>
              <a:rPr/>
              <a:t>atributo</a:t>
            </a:r>
            <a:r>
              <a:rPr spc="-29"/>
              <a:t> </a:t>
            </a:r>
            <a:r>
              <a:rPr/>
              <a:t>Endereço,</a:t>
            </a:r>
            <a:r>
              <a:rPr spc="-29"/>
              <a:t> </a:t>
            </a:r>
            <a:r>
              <a:rPr/>
              <a:t>que</a:t>
            </a:r>
            <a:r>
              <a:rPr spc="-29"/>
              <a:t> </a:t>
            </a:r>
            <a:r>
              <a:rPr/>
              <a:t>é</a:t>
            </a:r>
            <a:r>
              <a:rPr spc="-29"/>
              <a:t> </a:t>
            </a:r>
            <a:r>
              <a:rPr/>
              <a:t>composto</a:t>
            </a:r>
            <a:r>
              <a:rPr spc="-29"/>
              <a:t> </a:t>
            </a:r>
            <a:r>
              <a:rPr/>
              <a:t>pelos</a:t>
            </a:r>
            <a:r>
              <a:rPr spc="-29"/>
              <a:t> </a:t>
            </a:r>
            <a:r>
              <a:rPr/>
              <a:t>atributos</a:t>
            </a:r>
            <a:r>
              <a:rPr spc="-29"/>
              <a:t> </a:t>
            </a:r>
            <a:r>
              <a:rPr/>
              <a:t>Rua,</a:t>
            </a:r>
            <a:r>
              <a:rPr spc="-29"/>
              <a:t> </a:t>
            </a:r>
            <a:r>
              <a:rPr/>
              <a:t>Numero</a:t>
            </a:r>
            <a:r>
              <a:rPr spc="-214"/>
              <a:t> </a:t>
            </a:r>
            <a:r>
              <a:rPr/>
              <a:t>e</a:t>
            </a:r>
            <a:r>
              <a:rPr spc="-9"/>
              <a:t> </a:t>
            </a:r>
            <a:r>
              <a:rPr/>
              <a:t>Bairro,</a:t>
            </a:r>
            <a:r>
              <a:rPr spc="-4"/>
              <a:t> </a:t>
            </a:r>
            <a:r>
              <a:rPr/>
              <a:t>seria</a:t>
            </a:r>
            <a:r>
              <a:rPr spc="-9"/>
              <a:t> </a:t>
            </a:r>
            <a:r>
              <a:rPr/>
              <a:t>representado</a:t>
            </a:r>
            <a:r>
              <a:rPr spc="-9"/>
              <a:t> </a:t>
            </a:r>
            <a:r>
              <a:rPr/>
              <a:t>na</a:t>
            </a:r>
            <a:r>
              <a:rPr spc="-9"/>
              <a:t> </a:t>
            </a:r>
            <a:r>
              <a:rPr/>
              <a:t>relação</a:t>
            </a:r>
            <a:r>
              <a:rPr spc="-9"/>
              <a:t> </a:t>
            </a:r>
            <a:r>
              <a:rPr/>
              <a:t>apenas</a:t>
            </a:r>
            <a:r>
              <a:rPr spc="-9"/>
              <a:t> </a:t>
            </a:r>
            <a:r>
              <a:rPr/>
              <a:t>por</a:t>
            </a:r>
            <a:r>
              <a:rPr spc="-9"/>
              <a:t> </a:t>
            </a:r>
            <a:r>
              <a:rPr/>
              <a:t>estes</a:t>
            </a:r>
            <a:r>
              <a:rPr spc="-4"/>
              <a:t> </a:t>
            </a:r>
            <a:r>
              <a:rPr/>
              <a:t>últimos</a:t>
            </a:r>
            <a:r>
              <a:rPr/>
              <a:t>. </a:t>
            </a:r>
            <a:endParaRPr/>
          </a:p>
        </p:txBody>
      </p:sp>
      <p:pic>
        <p:nvPicPr>
          <p:cNvPr id="568882729" name="image16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4336121" y="3774392"/>
            <a:ext cx="5866331" cy="2402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19495" name="Título 1"/>
          <p:cNvSpPr>
            <a:spLocks noGrp="1"/>
          </p:cNvSpPr>
          <p:nvPr>
            <p:ph type="title"/>
          </p:nvPr>
        </p:nvSpPr>
        <p:spPr bwMode="auto">
          <a:xfrm>
            <a:off x="761840" y="1138265"/>
            <a:ext cx="3995690" cy="1401183"/>
          </a:xfrm>
        </p:spPr>
        <p:txBody>
          <a:bodyPr anchor="t">
            <a:normAutofit fontScale="90000"/>
          </a:bodyPr>
          <a:lstStyle/>
          <a:p>
            <a:pPr>
              <a:defRPr/>
            </a:pPr>
            <a:r>
              <a:rPr lang="pt-BR" sz="3200"/>
              <a:t>Mapeamento de Atributos Multivalorados </a:t>
            </a:r>
            <a:endParaRPr/>
          </a:p>
        </p:txBody>
      </p:sp>
      <p:cxnSp>
        <p:nvCxnSpPr>
          <p:cNvPr id="340922221" name="Straight Connector 8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338305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61840" y="2551176"/>
            <a:ext cx="4167969" cy="360293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sz="2000"/>
              <a:t>Os atributos multivalorados vão se tornar relações(tabelas) cujas chaves primárias serão compostas pela chave da entidade possuidora do atributo mais o atributo multivalorado. </a:t>
            </a:r>
            <a:endParaRPr/>
          </a:p>
          <a:p>
            <a:pPr>
              <a:defRPr/>
            </a:pPr>
            <a:r>
              <a:rPr lang="pt-BR" sz="2000"/>
              <a:t>Ou seja, para cada atributo A multivalorado, deve-se criar uma nova relação R que inclua o atributo multivalorado</a:t>
            </a:r>
            <a:endParaRPr/>
          </a:p>
          <a:p>
            <a:pPr>
              <a:defRPr/>
            </a:pPr>
            <a:r>
              <a:rPr lang="pt-BR" sz="2000"/>
              <a:t> </a:t>
            </a:r>
            <a:endParaRPr/>
          </a:p>
        </p:txBody>
      </p:sp>
      <p:pic>
        <p:nvPicPr>
          <p:cNvPr id="1368840943" name="image17.jpeg" descr="Interface gráfica do usuário, Aplicativo&#10;&#10;Descrição gerada automaticament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29810" y="1090257"/>
            <a:ext cx="4757528" cy="4679087"/>
          </a:xfrm>
          <a:prstGeom prst="rect">
            <a:avLst/>
          </a:prstGeom>
        </p:spPr>
      </p:pic>
      <p:sp>
        <p:nvSpPr>
          <p:cNvPr id="1040723325" name="Texto Explicativo: Seta para a Esquerda 4"/>
          <p:cNvSpPr/>
          <p:nvPr/>
        </p:nvSpPr>
        <p:spPr bwMode="auto">
          <a:xfrm>
            <a:off x="9581320" y="993069"/>
            <a:ext cx="2398645" cy="311621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pt-BR"/>
              <a:t>Multivalorado</a:t>
            </a:r>
            <a:endParaRPr lang="pt-BR"/>
          </a:p>
          <a:p>
            <a:pPr algn="ctr">
              <a:defRPr/>
            </a:pPr>
            <a:r>
              <a:rPr lang="pt-BR" i="1"/>
              <a:t>Tel tem vários valores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8430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Explicando melhor</a:t>
            </a:r>
            <a:endParaRPr/>
          </a:p>
        </p:txBody>
      </p:sp>
      <p:sp>
        <p:nvSpPr>
          <p:cNvPr id="588357651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 entidade seria mapeada para a relação Empregado (pela</a:t>
            </a:r>
            <a:r>
              <a:rPr spc="-214"/>
              <a:t> </a:t>
            </a:r>
            <a:r>
              <a:rPr/>
              <a:t>regra já descrita anteriormente) e o atributo mutivalorado Telefone daria origem a</a:t>
            </a:r>
            <a:r>
              <a:rPr spc="-214"/>
              <a:t> </a:t>
            </a:r>
            <a:r>
              <a:rPr/>
              <a:t>outra relação, que chamamos de Telefone_Empregado, contendo a chave primária</a:t>
            </a:r>
            <a:r>
              <a:rPr spc="-214"/>
              <a:t> </a:t>
            </a:r>
            <a:r>
              <a:rPr/>
              <a:t>da relação Empregado (que originou-se da entidade possuidora do atributo) e o</a:t>
            </a:r>
            <a:r>
              <a:rPr spc="4"/>
              <a:t> </a:t>
            </a:r>
            <a:r>
              <a:rPr/>
              <a:t>atributo</a:t>
            </a:r>
            <a:r>
              <a:rPr spc="-24"/>
              <a:t> </a:t>
            </a:r>
            <a:r>
              <a:rPr/>
              <a:t>valorado,</a:t>
            </a:r>
            <a:r>
              <a:rPr spc="-19"/>
              <a:t> </a:t>
            </a:r>
            <a:r>
              <a:rPr/>
              <a:t>também</a:t>
            </a:r>
            <a:r>
              <a:rPr spc="-24"/>
              <a:t> </a:t>
            </a:r>
            <a:r>
              <a:rPr/>
              <a:t>fazendo</a:t>
            </a:r>
            <a:r>
              <a:rPr spc="-14"/>
              <a:t> </a:t>
            </a:r>
            <a:r>
              <a:rPr/>
              <a:t>parte</a:t>
            </a:r>
            <a:r>
              <a:rPr spc="-19"/>
              <a:t> </a:t>
            </a:r>
            <a:r>
              <a:rPr/>
              <a:t>da</a:t>
            </a:r>
            <a:r>
              <a:rPr spc="-24"/>
              <a:t> </a:t>
            </a:r>
            <a:r>
              <a:rPr/>
              <a:t>chave</a:t>
            </a:r>
            <a:r>
              <a:rPr spc="-14"/>
              <a:t> </a:t>
            </a:r>
            <a:r>
              <a:rPr/>
              <a:t>primária</a:t>
            </a:r>
            <a:r>
              <a:rPr spc="-24"/>
              <a:t> </a:t>
            </a:r>
            <a:r>
              <a:rPr/>
              <a:t>dessa</a:t>
            </a:r>
            <a:r>
              <a:rPr spc="-24"/>
              <a:t> </a:t>
            </a:r>
            <a:r>
              <a:rPr/>
              <a:t>nova</a:t>
            </a:r>
            <a:r>
              <a:rPr spc="-19"/>
              <a:t> </a:t>
            </a:r>
            <a:r>
              <a:rPr/>
              <a:t>relação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736597" name="Título 1"/>
          <p:cNvSpPr>
            <a:spLocks noGrp="1"/>
          </p:cNvSpPr>
          <p:nvPr>
            <p:ph type="title"/>
          </p:nvPr>
        </p:nvSpPr>
        <p:spPr bwMode="auto"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pt-BR" sz="3200"/>
              <a:t>Mapeamento de Entidades Fracas </a:t>
            </a:r>
            <a:endParaRPr/>
          </a:p>
        </p:txBody>
      </p:sp>
      <p:cxnSp>
        <p:nvCxnSpPr>
          <p:cNvPr id="124948856" name="Straight Connector 8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96841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sz="2000"/>
              <a:t>São mapeadas em uma relação formada por todos os atributos da entidade fraca mais os atributos que formam a chave primária da relação da qual a entidade fraca depende. </a:t>
            </a:r>
            <a:endParaRPr/>
          </a:p>
          <a:p>
            <a:pPr>
              <a:defRPr/>
            </a:pPr>
            <a:r>
              <a:rPr lang="pt-BR" sz="2000"/>
              <a:t>O relacionamento não é mapeado. Assim, para cada tipo de entidade fraca EF do DER, criar uma relação R e incluir todos os atributos simples (ou os componentes simples de atributos compostos) de EF como atributos de R. </a:t>
            </a:r>
            <a:endParaRPr/>
          </a:p>
          <a:p>
            <a:pPr>
              <a:defRPr/>
            </a:pPr>
            <a:endParaRPr lang="pt-BR" sz="2000"/>
          </a:p>
        </p:txBody>
      </p:sp>
      <p:pic>
        <p:nvPicPr>
          <p:cNvPr id="241746566" name="image18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82748" y="1138265"/>
            <a:ext cx="5334160" cy="4657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99019" name="Título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Mapeamento de Entidades Fracas </a:t>
            </a:r>
            <a:endParaRPr/>
          </a:p>
        </p:txBody>
      </p:sp>
      <p:sp>
        <p:nvSpPr>
          <p:cNvPr id="403216309" name="Espaço Reservado para Conteúdo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O relacionamento não é mapeado. Assim, para cada tipo de entidade fraca EF do DER, criar uma relação R e incluir todos os atributos simples (ou os componentes simples de atributos compostos) de EF como atributos de R. </a:t>
            </a:r>
            <a:endParaRPr/>
          </a:p>
          <a:p>
            <a:pPr>
              <a:defRPr/>
            </a:pPr>
            <a:endParaRPr lang="pt-BR"/>
          </a:p>
        </p:txBody>
      </p:sp>
      <p:sp>
        <p:nvSpPr>
          <p:cNvPr id="707440343" name="Espaço Reservado para Conteúdo 6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pic>
        <p:nvPicPr>
          <p:cNvPr id="751821733" name="Imagem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41281" y="1905000"/>
            <a:ext cx="5181600" cy="4271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72220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Melhorando................</a:t>
            </a:r>
            <a:endParaRPr/>
          </a:p>
        </p:txBody>
      </p:sp>
      <p:sp>
        <p:nvSpPr>
          <p:cNvPr id="888118020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A entidade forte Empregado foi mapeada para a relação Empregado,</a:t>
            </a:r>
            <a:r>
              <a:rPr spc="4"/>
              <a:t> </a:t>
            </a:r>
            <a:r>
              <a:rPr/>
              <a:t>como explicado anteriormente. A entidade fraca Dependente deu origem a uma</a:t>
            </a:r>
            <a:r>
              <a:rPr spc="4"/>
              <a:t> </a:t>
            </a:r>
            <a:r>
              <a:rPr/>
              <a:t>relação cuja chave primária é formada pela chave primária de empregado (CPF) e</a:t>
            </a:r>
            <a:r>
              <a:rPr spc="4"/>
              <a:t> </a:t>
            </a:r>
            <a:r>
              <a:rPr/>
              <a:t>pelo</a:t>
            </a:r>
            <a:r>
              <a:rPr spc="-29"/>
              <a:t> </a:t>
            </a:r>
            <a:r>
              <a:rPr/>
              <a:t>identificador</a:t>
            </a:r>
            <a:r>
              <a:rPr spc="-24"/>
              <a:t> </a:t>
            </a:r>
            <a:r>
              <a:rPr/>
              <a:t>da</a:t>
            </a:r>
            <a:r>
              <a:rPr spc="-24"/>
              <a:t> </a:t>
            </a:r>
            <a:r>
              <a:rPr/>
              <a:t>própria</a:t>
            </a:r>
            <a:r>
              <a:rPr spc="-24"/>
              <a:t> </a:t>
            </a:r>
            <a:r>
              <a:rPr/>
              <a:t>entidade</a:t>
            </a:r>
            <a:r>
              <a:rPr spc="-29"/>
              <a:t> </a:t>
            </a:r>
            <a:r>
              <a:rPr/>
              <a:t>fraca</a:t>
            </a:r>
            <a:r>
              <a:rPr spc="-24"/>
              <a:t> </a:t>
            </a:r>
            <a:r>
              <a:rPr/>
              <a:t>(RG),</a:t>
            </a:r>
            <a:r>
              <a:rPr spc="-24"/>
              <a:t> </a:t>
            </a:r>
            <a:r>
              <a:rPr/>
              <a:t>além</a:t>
            </a:r>
            <a:r>
              <a:rPr spc="-24"/>
              <a:t> </a:t>
            </a:r>
            <a:r>
              <a:rPr/>
              <a:t>do</a:t>
            </a:r>
            <a:r>
              <a:rPr spc="-29"/>
              <a:t> </a:t>
            </a:r>
            <a:r>
              <a:rPr/>
              <a:t>atributo</a:t>
            </a:r>
            <a:r>
              <a:rPr spc="-24"/>
              <a:t> </a:t>
            </a:r>
            <a:r>
              <a:rPr/>
              <a:t>adicional</a:t>
            </a:r>
            <a:r>
              <a:rPr spc="-19"/>
              <a:t> </a:t>
            </a:r>
            <a:r>
              <a:rPr/>
              <a:t>Nome.</a:t>
            </a:r>
            <a:endParaRPr/>
          </a:p>
        </p:txBody>
      </p:sp>
      <p:sp>
        <p:nvSpPr>
          <p:cNvPr id="1049396212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0402967" name="image18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6172200" y="1825624"/>
            <a:ext cx="5125182" cy="4272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331696" name="Título 1"/>
          <p:cNvSpPr>
            <a:spLocks noGrp="1"/>
          </p:cNvSpPr>
          <p:nvPr>
            <p:ph type="title"/>
          </p:nvPr>
        </p:nvSpPr>
        <p:spPr bwMode="auto">
          <a:xfrm>
            <a:off x="761840" y="54002"/>
            <a:ext cx="4544762" cy="817144"/>
          </a:xfrm>
        </p:spPr>
        <p:txBody>
          <a:bodyPr anchor="t">
            <a:normAutofit fontScale="90000"/>
          </a:bodyPr>
          <a:lstStyle/>
          <a:p>
            <a:pPr>
              <a:defRPr/>
            </a:pPr>
            <a:r>
              <a:rPr lang="pt-BR" sz="2800"/>
              <a:t>Mapeamento de Relacionamentos Binários 1:1 </a:t>
            </a:r>
            <a:endParaRPr/>
          </a:p>
        </p:txBody>
      </p:sp>
      <p:cxnSp>
        <p:nvCxnSpPr>
          <p:cNvPr id="958118670" name="Straight Connector 8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6478948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61839" y="1249463"/>
            <a:ext cx="5029361" cy="56085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sz="2000"/>
              <a:t>Esse tipo de relacionamento não é mapeado em uma nova relação. Seus atributos são colocados em qualquer uma das relações que mapeiem as entidades envolvidas.</a:t>
            </a:r>
            <a:endParaRPr/>
          </a:p>
          <a:p>
            <a:pPr>
              <a:defRPr/>
            </a:pPr>
            <a:r>
              <a:rPr lang="pt-BR" sz="2000"/>
              <a:t>A entidade escolhida para receber os atributos do relacionamento receberá, também, a chave primária da outra entidade envolvida. Veja exemplo</a:t>
            </a:r>
            <a:endParaRPr/>
          </a:p>
          <a:p>
            <a:pPr>
              <a:defRPr/>
            </a:pPr>
            <a:r>
              <a:rPr lang="pt-PT" sz="2000">
                <a:latin typeface="Calibri"/>
                <a:ea typeface="Calibri"/>
              </a:rPr>
              <a:t>Depois,</a:t>
            </a:r>
            <a:r>
              <a:rPr lang="pt-PT" sz="2000" spc="225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deve-se escolher</a:t>
            </a:r>
            <a:r>
              <a:rPr lang="pt-PT" sz="2000" spc="5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uma das relações, por exemplo, E1, para incluir nela, como chave-estrangeira, a</a:t>
            </a:r>
            <a:r>
              <a:rPr lang="pt-PT" sz="2000" spc="5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chave-primária de E2. Devem-se incluir também em E1 todos os atributos simples</a:t>
            </a:r>
            <a:r>
              <a:rPr lang="pt-PT" sz="2000" spc="5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(ou</a:t>
            </a:r>
            <a:r>
              <a:rPr lang="pt-PT" sz="2000" spc="75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os</a:t>
            </a:r>
            <a:r>
              <a:rPr lang="pt-PT" sz="2000" spc="80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componentes</a:t>
            </a:r>
            <a:r>
              <a:rPr lang="pt-PT" sz="2000" spc="80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simples</a:t>
            </a:r>
            <a:r>
              <a:rPr lang="pt-PT" sz="2000" spc="80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de</a:t>
            </a:r>
            <a:r>
              <a:rPr lang="pt-PT" sz="2000" spc="80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atributos</a:t>
            </a:r>
            <a:r>
              <a:rPr lang="pt-PT" sz="2000" spc="80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compostos)</a:t>
            </a:r>
            <a:r>
              <a:rPr lang="pt-PT" sz="2000" spc="80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do</a:t>
            </a:r>
            <a:r>
              <a:rPr lang="pt-PT" sz="2000" spc="80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tipo</a:t>
            </a:r>
            <a:r>
              <a:rPr lang="pt-PT" sz="2000" spc="80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de</a:t>
            </a:r>
            <a:r>
              <a:rPr lang="pt-PT" sz="2000" spc="80">
                <a:latin typeface="Calibri"/>
                <a:ea typeface="Calibri"/>
              </a:rPr>
              <a:t> </a:t>
            </a:r>
            <a:r>
              <a:rPr lang="pt-PT" sz="2000">
                <a:latin typeface="Calibri"/>
                <a:ea typeface="Calibri"/>
              </a:rPr>
              <a:t>relacionamento</a:t>
            </a:r>
            <a:endParaRPr lang="pt-BR" sz="2000">
              <a:latin typeface="Calibri"/>
              <a:ea typeface="Calibri"/>
            </a:endParaRPr>
          </a:p>
          <a:p>
            <a:pPr>
              <a:defRPr/>
            </a:pPr>
            <a:endParaRPr lang="pt-BR" sz="2400"/>
          </a:p>
          <a:p>
            <a:pPr>
              <a:defRPr/>
            </a:pPr>
            <a:endParaRPr lang="pt-BR" sz="2000"/>
          </a:p>
        </p:txBody>
      </p:sp>
      <p:pic>
        <p:nvPicPr>
          <p:cNvPr id="1928934643" name="image19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85399" y="1247862"/>
            <a:ext cx="4438743" cy="4360675"/>
          </a:xfrm>
          <a:prstGeom prst="rect">
            <a:avLst/>
          </a:prstGeom>
        </p:spPr>
      </p:pic>
      <p:sp>
        <p:nvSpPr>
          <p:cNvPr id="406245066" name="Seta: para a Direita 4"/>
          <p:cNvSpPr/>
          <p:nvPr/>
        </p:nvSpPr>
        <p:spPr bwMode="auto">
          <a:xfrm>
            <a:off x="6400800" y="3710608"/>
            <a:ext cx="768626" cy="43732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pt-BR"/>
              <a:t>E2</a:t>
            </a:r>
            <a:endParaRPr/>
          </a:p>
        </p:txBody>
      </p:sp>
      <p:sp>
        <p:nvSpPr>
          <p:cNvPr id="1451490697" name="Seta: para a Direita 5"/>
          <p:cNvSpPr/>
          <p:nvPr/>
        </p:nvSpPr>
        <p:spPr bwMode="auto">
          <a:xfrm>
            <a:off x="6525802" y="4823791"/>
            <a:ext cx="643624" cy="55659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pt-BR"/>
              <a:t>E1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38183" name="Título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Mapeamento de Relacionamentos Binários 1:1 </a:t>
            </a:r>
            <a:endParaRPr/>
          </a:p>
        </p:txBody>
      </p:sp>
      <p:sp>
        <p:nvSpPr>
          <p:cNvPr id="971341781" name="Espaço Reservado para Conteúdo 4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Depois, deve-se escolher uma das relações, por exemplo, E1, para incluir nela, como chave-estrangeira, a chave-primária de E2. Devem-se incluir também em E1 todos os atributos simples (ou os componentes simples de atributos compostos) do tipo de relacionamento</a:t>
            </a:r>
            <a:endParaRPr/>
          </a:p>
          <a:p>
            <a:pPr>
              <a:defRPr/>
            </a:pPr>
            <a:endParaRPr lang="pt-BR"/>
          </a:p>
        </p:txBody>
      </p:sp>
      <p:pic>
        <p:nvPicPr>
          <p:cNvPr id="1885830468" name="Espaço Reservado para Conteúdo 7"/>
          <p:cNvPicPr>
            <a:picLocks noChangeAspect="1" noGrp="1"/>
          </p:cNvPicPr>
          <p:nvPr>
            <p:ph sz="half" idx="2"/>
          </p:nvPr>
        </p:nvPicPr>
        <p:blipFill rotWithShape="1">
          <a:blip r:embed="rId3"/>
          <a:stretch/>
        </p:blipFill>
        <p:spPr bwMode="auto">
          <a:xfrm>
            <a:off x="6544731" y="1825625"/>
            <a:ext cx="4436538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38335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Melhorando............</a:t>
            </a:r>
            <a:endParaRPr/>
          </a:p>
        </p:txBody>
      </p:sp>
      <p:sp>
        <p:nvSpPr>
          <p:cNvPr id="2013519956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defRPr/>
            </a:pPr>
            <a:r>
              <a:rPr/>
              <a:t>“Um empregado trabalha em uma empresa e uma</a:t>
            </a:r>
            <a:r>
              <a:rPr spc="4"/>
              <a:t> </a:t>
            </a:r>
            <a:r>
              <a:rPr/>
              <a:t>empresa possui um único empregado”  Esse é um relacionamento</a:t>
            </a:r>
            <a:r>
              <a:rPr spc="4"/>
              <a:t> </a:t>
            </a:r>
            <a:r>
              <a:rPr/>
              <a:t>binário 1:1. Para mapeá-lo para o MR, devem-se criar duas relações Empregado e</a:t>
            </a:r>
            <a:r>
              <a:rPr spc="4"/>
              <a:t> </a:t>
            </a:r>
            <a:r>
              <a:rPr/>
              <a:t>Empresa, conforme a maneira anteriormente explicada (mapeamento de entidade</a:t>
            </a:r>
            <a:r>
              <a:rPr spc="-214"/>
              <a:t> </a:t>
            </a:r>
            <a:r>
              <a:rPr/>
              <a:t>forte).</a:t>
            </a:r>
            <a:r>
              <a:rPr spc="-49"/>
              <a:t> </a:t>
            </a:r>
            <a:r>
              <a:rPr/>
              <a:t>Depois,</a:t>
            </a:r>
            <a:r>
              <a:rPr spc="-54"/>
              <a:t> </a:t>
            </a:r>
            <a:r>
              <a:rPr/>
              <a:t>seria</a:t>
            </a:r>
            <a:r>
              <a:rPr spc="-54"/>
              <a:t> </a:t>
            </a:r>
            <a:r>
              <a:rPr/>
              <a:t>escolhida</a:t>
            </a:r>
            <a:r>
              <a:rPr spc="-49"/>
              <a:t> </a:t>
            </a:r>
            <a:r>
              <a:rPr/>
              <a:t>uma</a:t>
            </a:r>
            <a:r>
              <a:rPr spc="-54"/>
              <a:t> </a:t>
            </a:r>
            <a:r>
              <a:rPr/>
              <a:t>das</a:t>
            </a:r>
            <a:r>
              <a:rPr spc="-49"/>
              <a:t> </a:t>
            </a:r>
            <a:r>
              <a:rPr/>
              <a:t>relações</a:t>
            </a:r>
            <a:r>
              <a:rPr spc="-49"/>
              <a:t> </a:t>
            </a:r>
            <a:r>
              <a:rPr/>
              <a:t>(suponha</a:t>
            </a:r>
            <a:r>
              <a:rPr spc="-49"/>
              <a:t> </a:t>
            </a:r>
            <a:r>
              <a:rPr/>
              <a:t>que</a:t>
            </a:r>
            <a:r>
              <a:rPr spc="-54"/>
              <a:t> </a:t>
            </a:r>
            <a:r>
              <a:rPr/>
              <a:t>escolhemos</a:t>
            </a:r>
            <a:r>
              <a:rPr spc="-49"/>
              <a:t> </a:t>
            </a:r>
            <a:r>
              <a:rPr/>
              <a:t>a</a:t>
            </a:r>
            <a:r>
              <a:rPr spc="-54"/>
              <a:t> </a:t>
            </a:r>
            <a:r>
              <a:rPr/>
              <a:t>relação</a:t>
            </a:r>
            <a:r>
              <a:rPr spc="4"/>
              <a:t> </a:t>
            </a:r>
            <a:r>
              <a:rPr/>
              <a:t>Empregado)</a:t>
            </a:r>
            <a:r>
              <a:rPr spc="-19"/>
              <a:t> </a:t>
            </a:r>
            <a:r>
              <a:rPr/>
              <a:t>para</a:t>
            </a:r>
            <a:r>
              <a:rPr spc="-19"/>
              <a:t> </a:t>
            </a:r>
            <a:r>
              <a:rPr/>
              <a:t>receber</a:t>
            </a:r>
            <a:r>
              <a:rPr spc="-19"/>
              <a:t> </a:t>
            </a:r>
            <a:r>
              <a:rPr/>
              <a:t>os</a:t>
            </a:r>
            <a:r>
              <a:rPr spc="-19"/>
              <a:t> </a:t>
            </a:r>
            <a:r>
              <a:rPr/>
              <a:t>atributos</a:t>
            </a:r>
            <a:r>
              <a:rPr spc="-19"/>
              <a:t> </a:t>
            </a:r>
            <a:r>
              <a:rPr/>
              <a:t>do</a:t>
            </a:r>
            <a:r>
              <a:rPr spc="-19"/>
              <a:t> </a:t>
            </a:r>
            <a:r>
              <a:rPr/>
              <a:t>relacionamento</a:t>
            </a:r>
            <a:r>
              <a:rPr spc="-19"/>
              <a:t> </a:t>
            </a:r>
            <a:r>
              <a:rPr/>
              <a:t>(no</a:t>
            </a:r>
            <a:r>
              <a:rPr spc="-19"/>
              <a:t> </a:t>
            </a:r>
            <a:r>
              <a:rPr/>
              <a:t>caso,</a:t>
            </a:r>
            <a:r>
              <a:rPr spc="-19"/>
              <a:t> </a:t>
            </a:r>
            <a:r>
              <a:rPr/>
              <a:t>Dt_admissao)</a:t>
            </a:r>
            <a:r>
              <a:rPr spc="-14"/>
              <a:t> </a:t>
            </a:r>
            <a:r>
              <a:rPr/>
              <a:t>e</a:t>
            </a:r>
            <a:r>
              <a:rPr spc="-214"/>
              <a:t> </a:t>
            </a:r>
            <a:r>
              <a:rPr/>
              <a:t>a chave primária da relação que não for a escolhida (no caso, o atributo Codigo,</a:t>
            </a:r>
            <a:r>
              <a:rPr spc="4"/>
              <a:t> </a:t>
            </a:r>
            <a:r>
              <a:rPr/>
              <a:t>que pertence à relação Empresa). Se a entidade escolhida fosse a relação Empresa</a:t>
            </a:r>
            <a:r>
              <a:rPr spc="4"/>
              <a:t> </a:t>
            </a:r>
            <a:r>
              <a:rPr/>
              <a:t>(a escolha é sua) seria necessário colocar a chave primária da entidade Empregado</a:t>
            </a:r>
            <a:r>
              <a:rPr spc="-214"/>
              <a:t> </a:t>
            </a:r>
            <a:r>
              <a:rPr/>
              <a:t>na relação Empresa, assim como o atributo do relacionamento. Todas as duas</a:t>
            </a:r>
            <a:r>
              <a:rPr spc="4"/>
              <a:t> </a:t>
            </a:r>
            <a:r>
              <a:rPr/>
              <a:t>abordagens</a:t>
            </a:r>
            <a:r>
              <a:rPr spc="-4"/>
              <a:t> </a:t>
            </a:r>
            <a:r>
              <a:rPr/>
              <a:t>seriam</a:t>
            </a:r>
            <a:r>
              <a:rPr spc="-4"/>
              <a:t> </a:t>
            </a:r>
            <a:r>
              <a:rPr/>
              <a:t>possíveis.</a:t>
            </a:r>
            <a:endParaRPr/>
          </a:p>
        </p:txBody>
      </p:sp>
      <p:sp>
        <p:nvSpPr>
          <p:cNvPr id="617444151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64410357" name="image19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6172200" y="1731239"/>
            <a:ext cx="5181599" cy="4445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951975" name="Título 1"/>
          <p:cNvSpPr>
            <a:spLocks noGrp="1"/>
          </p:cNvSpPr>
          <p:nvPr>
            <p:ph type="title"/>
          </p:nvPr>
        </p:nvSpPr>
        <p:spPr bwMode="auto">
          <a:xfrm>
            <a:off x="838200" y="131762"/>
            <a:ext cx="10515600" cy="5492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 sz="4000"/>
              <a:t>Mapeamento de Relacionamentos Binários 1:N </a:t>
            </a:r>
            <a:endParaRPr/>
          </a:p>
        </p:txBody>
      </p:sp>
      <p:sp>
        <p:nvSpPr>
          <p:cNvPr id="1973990658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967409"/>
            <a:ext cx="10515600" cy="520955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/>
              <a:t>Esse tipo de relacionamento não é mapeado em uma nova relação. Seus atributos são colocados na relação que mapeia a entidade com cardinalidade N. </a:t>
            </a:r>
            <a:endParaRPr/>
          </a:p>
          <a:p>
            <a:pPr>
              <a:defRPr/>
            </a:pPr>
            <a:r>
              <a:rPr lang="pt-BR"/>
              <a:t>Por exemplo, suponha que “Uma empresa tem zero ou mais empregados e um empregado trabalha para uma e apenas uma empresa” (vide Figura seguinte). </a:t>
            </a:r>
            <a:endParaRPr/>
          </a:p>
          <a:p>
            <a:pPr>
              <a:defRPr/>
            </a:pPr>
            <a:r>
              <a:rPr lang="pt-BR"/>
              <a:t>Esse é um relacionamento binário 1:N. </a:t>
            </a:r>
            <a:endParaRPr/>
          </a:p>
        </p:txBody>
      </p:sp>
      <p:pic>
        <p:nvPicPr>
          <p:cNvPr id="740427271" name="image20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7557686" y="3200400"/>
            <a:ext cx="4076802" cy="320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15780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Mapeamento de Relacionamentos Binários 1:N</a:t>
            </a:r>
            <a:endParaRPr/>
          </a:p>
        </p:txBody>
      </p:sp>
      <p:sp>
        <p:nvSpPr>
          <p:cNvPr id="40946339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Primeiro cria-se duas relações Empregado e Empresa, (mapeamento de entidade forte). </a:t>
            </a:r>
            <a:endParaRPr sz="2800"/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Depois, deve- se incluir na relação que representa a entidade do lado N do relacionamento (no caso, Empregado), a chave primária da relação que representa a entidade do lado 1 (no caso, Empresa). </a:t>
            </a:r>
            <a:endParaRPr sz="2800"/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 fim, os atributos do relacionamento devem também ser incluídos na relação do lado N. </a:t>
            </a:r>
            <a:endParaRPr sz="2800"/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Neste caso, obrigatoriamente o lado escolhido deveria ser o lado N do relacionamento</a:t>
            </a:r>
            <a:endParaRPr/>
          </a:p>
        </p:txBody>
      </p:sp>
      <p:sp>
        <p:nvSpPr>
          <p:cNvPr id="354453033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533661575" name="image20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6258925" y="1878294"/>
            <a:ext cx="5094874" cy="4298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4349365" name="Espaço Reservado para Conteúdo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2547550" y="643465"/>
            <a:ext cx="7096899" cy="55710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059395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pt-BR" sz="3600"/>
              <a:t>Mapeamento de Relacionamentos Binários M:N</a:t>
            </a:r>
            <a:r>
              <a:rPr lang="pt-BR"/>
              <a:t> </a:t>
            </a:r>
            <a:endParaRPr/>
          </a:p>
        </p:txBody>
      </p:sp>
      <p:sp>
        <p:nvSpPr>
          <p:cNvPr id="529737457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pt-BR"/>
              <a:t>O relacionamento é mapeado em uma nova relação que recebe os atributos do relacionamento mais os atributos- chaves das entidades envolvidas no relacionamento.</a:t>
            </a:r>
            <a:endParaRPr/>
          </a:p>
          <a:p>
            <a:pPr>
              <a:defRPr/>
            </a:pPr>
            <a:r>
              <a:rPr lang="pt-BR"/>
              <a:t>Por exemplo, temos que “Um projeto aloca zero ou mais empregados e um empregado pode trabalhar em zero ou mais projetos.”. </a:t>
            </a:r>
            <a:endParaRPr/>
          </a:p>
          <a:p>
            <a:pPr>
              <a:defRPr/>
            </a:pPr>
            <a:r>
              <a:rPr lang="pt-BR"/>
              <a:t>Como o relacionamento é binário(duas entidades) e M:N, seriam criadas três relações: Projeto, Empregado e Alocação (melhor passar o verbo para um substantivo, </a:t>
            </a:r>
            <a:r>
              <a:rPr lang="pt-BR" b="1">
                <a:solidFill>
                  <a:srgbClr val="FF0000"/>
                </a:solidFill>
              </a:rPr>
              <a:t>assim o relacionamento aloca passa a ser a relação alocação</a:t>
            </a:r>
            <a:r>
              <a:rPr lang="pt-BR"/>
              <a:t>.</a:t>
            </a:r>
            <a:r>
              <a:rPr/>
              <a:t> Aloca Verbo passa a ser substantivo</a:t>
            </a:r>
            <a:endParaRPr/>
          </a:p>
        </p:txBody>
      </p:sp>
      <p:sp>
        <p:nvSpPr>
          <p:cNvPr id="1619730120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79218889" name="image21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6232219" y="1913901"/>
            <a:ext cx="5091066" cy="41037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54136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Mapeamento de Relacionamentos Binários M:N </a:t>
            </a:r>
            <a:endParaRPr/>
          </a:p>
        </p:txBody>
      </p:sp>
      <p:sp>
        <p:nvSpPr>
          <p:cNvPr id="1790053851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pt-BR" sz="2400"/>
              <a:t>As duas primeiras relações seriam criadas pela regra já vista de mapeamento de entidades fortes. </a:t>
            </a:r>
            <a:endParaRPr sz="2400"/>
          </a:p>
          <a:p>
            <a:pPr>
              <a:defRPr/>
            </a:pPr>
            <a:r>
              <a:rPr lang="pt-BR" sz="2400"/>
              <a:t>Quanto ao relacionamento, seria criado para ele uma relação Alocação que teria como chave primária as chaves das duas relações que representam as entidades envolvidas no relacionamento (no caso, CPF e Código), além do </a:t>
            </a:r>
            <a:r>
              <a:rPr lang="pt-BR" sz="2400"/>
              <a:t>atributo do próprio relacionamento (no caso, </a:t>
            </a:r>
            <a:r>
              <a:rPr lang="pt-BR" sz="2400"/>
              <a:t>Dt_alocação</a:t>
            </a:r>
            <a:r>
              <a:rPr lang="pt-BR" sz="2400"/>
              <a:t>).</a:t>
            </a:r>
            <a:endParaRPr sz="2400"/>
          </a:p>
          <a:p>
            <a:pPr>
              <a:defRPr/>
            </a:pPr>
            <a:endParaRPr sz="2400"/>
          </a:p>
        </p:txBody>
      </p:sp>
      <p:sp>
        <p:nvSpPr>
          <p:cNvPr id="1782133119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1619008" name="image21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6232218" y="1913900"/>
            <a:ext cx="5091066" cy="4103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8278895" name="Espaço Reservado para Conteúdo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2547550" y="643465"/>
            <a:ext cx="7096899" cy="5571067"/>
          </a:xfrm>
          <a:prstGeom prst="rect">
            <a:avLst/>
          </a:prstGeom>
        </p:spPr>
      </p:pic>
      <p:sp>
        <p:nvSpPr>
          <p:cNvPr id="1144037373" name="Seta: para a Esquerda 4"/>
          <p:cNvSpPr/>
          <p:nvPr/>
        </p:nvSpPr>
        <p:spPr bwMode="auto">
          <a:xfrm>
            <a:off x="8299353" y="5075583"/>
            <a:ext cx="2690191" cy="1244967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pt-BR"/>
              <a:t>Poderia ser chave primaria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72961771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14227847" name="Título 1"/>
          <p:cNvSpPr>
            <a:spLocks noGrp="1"/>
          </p:cNvSpPr>
          <p:nvPr>
            <p:ph type="title"/>
          </p:nvPr>
        </p:nvSpPr>
        <p:spPr bwMode="auto"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pt-BR" sz="3000"/>
              <a:t>Mapeamento de Relacionamentos Ternários, Quaternários, etc </a:t>
            </a:r>
            <a:endParaRPr/>
          </a:p>
        </p:txBody>
      </p:sp>
      <p:sp>
        <p:nvSpPr>
          <p:cNvPr id="1343972794" name="sketch line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stroke="1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fill="norm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06969802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pt-BR" sz="2200"/>
              <a:t>Geralmente, mapeamos tais relacionamentos como se todos fossem de cardinalidade M:N. </a:t>
            </a:r>
            <a:endParaRPr/>
          </a:p>
          <a:p>
            <a:pPr>
              <a:defRPr/>
            </a:pPr>
            <a:r>
              <a:rPr lang="pt-BR" sz="2200"/>
              <a:t>A relação será formada pelos atributos do relacionamento e as chaves primárias das entidades envolvidas neste relacionamento.</a:t>
            </a:r>
            <a:endParaRPr/>
          </a:p>
          <a:p>
            <a:pPr>
              <a:defRPr/>
            </a:pPr>
            <a:endParaRPr lang="pt-BR" sz="2200"/>
          </a:p>
        </p:txBody>
      </p:sp>
      <p:pic>
        <p:nvPicPr>
          <p:cNvPr id="1704620020" name="image23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09957" y="858129"/>
            <a:ext cx="5748059" cy="5350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90986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/>
              <a:t>Mapeamento</a:t>
            </a:r>
            <a:r>
              <a:rPr b="1" spc="324"/>
              <a:t> </a:t>
            </a:r>
            <a:r>
              <a:rPr b="1"/>
              <a:t>de</a:t>
            </a:r>
            <a:r>
              <a:rPr b="1" spc="324"/>
              <a:t> </a:t>
            </a:r>
            <a:r>
              <a:rPr b="1"/>
              <a:t>Especialização/Generalização</a:t>
            </a:r>
            <a:endParaRPr/>
          </a:p>
        </p:txBody>
      </p:sp>
      <p:sp>
        <p:nvSpPr>
          <p:cNvPr id="791289533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Há</a:t>
            </a:r>
            <a:r>
              <a:rPr spc="324"/>
              <a:t> </a:t>
            </a:r>
            <a:r>
              <a:rPr/>
              <a:t>dois</a:t>
            </a:r>
            <a:r>
              <a:rPr spc="324"/>
              <a:t> </a:t>
            </a:r>
            <a:r>
              <a:rPr/>
              <a:t>casos.</a:t>
            </a:r>
            <a:r>
              <a:rPr spc="324"/>
              <a:t> </a:t>
            </a:r>
            <a:r>
              <a:rPr/>
              <a:t>Primeiro,</a:t>
            </a:r>
            <a:r>
              <a:rPr spc="324"/>
              <a:t> </a:t>
            </a:r>
            <a:r>
              <a:rPr/>
              <a:t>se</a:t>
            </a:r>
            <a:r>
              <a:rPr spc="-214"/>
              <a:t> </a:t>
            </a:r>
            <a:r>
              <a:rPr/>
              <a:t>a especialização for mutuamente exclusiva e total. Ou seja, nenhum elemento é</a:t>
            </a:r>
            <a:r>
              <a:rPr spc="4"/>
              <a:t> </a:t>
            </a:r>
            <a:r>
              <a:rPr/>
              <a:t>membro de mais de uma entidade e se todas as entidades do nível superior forem</a:t>
            </a:r>
            <a:r>
              <a:rPr spc="4"/>
              <a:t> </a:t>
            </a:r>
            <a:r>
              <a:rPr/>
              <a:t>membros dos níveis inferiores (por exemplo, todo cliente ou é pessoa física ou é</a:t>
            </a:r>
            <a:r>
              <a:rPr spc="4"/>
              <a:t> </a:t>
            </a:r>
            <a:r>
              <a:rPr/>
              <a:t>pessoa jurídica, nunca será apenas um cliente)</a:t>
            </a:r>
            <a:endParaRPr/>
          </a:p>
        </p:txBody>
      </p:sp>
      <p:sp>
        <p:nvSpPr>
          <p:cNvPr id="821692552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r>
              <a:rPr/>
              <a:t>Neste caso são criadas relações</a:t>
            </a:r>
            <a:r>
              <a:rPr spc="4"/>
              <a:t> </a:t>
            </a:r>
            <a:r>
              <a:rPr/>
              <a:t>apenas para as especializações (entidades filhas, no nível inferior) e elas usarão</a:t>
            </a:r>
            <a:r>
              <a:rPr spc="4"/>
              <a:t> </a:t>
            </a:r>
            <a:r>
              <a:rPr/>
              <a:t>como chave primária o atributo identificador da entidade de nível superior. Por</a:t>
            </a:r>
            <a:r>
              <a:rPr spc="4"/>
              <a:t> </a:t>
            </a:r>
            <a:r>
              <a:rPr/>
              <a:t>exemplo,</a:t>
            </a:r>
            <a:r>
              <a:rPr spc="-45"/>
              <a:t> </a:t>
            </a:r>
            <a:r>
              <a:rPr/>
              <a:t>atente</a:t>
            </a:r>
            <a:r>
              <a:rPr spc="-45"/>
              <a:t> </a:t>
            </a:r>
            <a:r>
              <a:rPr/>
              <a:t>para</a:t>
            </a:r>
            <a:r>
              <a:rPr spc="-45"/>
              <a:t> </a:t>
            </a:r>
            <a:r>
              <a:rPr/>
              <a:t>a</a:t>
            </a:r>
            <a:r>
              <a:rPr spc="-49"/>
              <a:t> </a:t>
            </a:r>
            <a:r>
              <a:rPr/>
              <a:t>Figura</a:t>
            </a:r>
            <a:r>
              <a:rPr spc="-45"/>
              <a:t> </a:t>
            </a:r>
            <a:r>
              <a:rPr/>
              <a:t>seguinte......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98181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44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Mapeamento</a:t>
            </a:r>
            <a:r>
              <a:rPr lang="pt-BR" sz="4400" b="1" i="0" u="none" strike="noStrike" cap="none" spc="324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pt-BR" sz="44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</a:t>
            </a:r>
            <a:r>
              <a:rPr lang="pt-BR" sz="4400" b="1" i="0" u="none" strike="noStrike" cap="none" spc="324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pt-BR" sz="44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Especialização/Generalização</a:t>
            </a:r>
            <a:endParaRPr/>
          </a:p>
        </p:txBody>
      </p:sp>
      <p:sp>
        <p:nvSpPr>
          <p:cNvPr id="690813603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Temos</a:t>
            </a:r>
            <a:r>
              <a:rPr spc="-45"/>
              <a:t> </a:t>
            </a:r>
            <a:r>
              <a:rPr/>
              <a:t>que</a:t>
            </a:r>
            <a:r>
              <a:rPr spc="-45"/>
              <a:t> </a:t>
            </a:r>
            <a:r>
              <a:rPr/>
              <a:t>o</a:t>
            </a:r>
            <a:r>
              <a:rPr spc="-45"/>
              <a:t> </a:t>
            </a:r>
            <a:r>
              <a:rPr/>
              <a:t>Cliente</a:t>
            </a:r>
            <a:r>
              <a:rPr spc="-45"/>
              <a:t> </a:t>
            </a:r>
            <a:r>
              <a:rPr/>
              <a:t>foi</a:t>
            </a:r>
            <a:r>
              <a:rPr spc="-45"/>
              <a:t> </a:t>
            </a:r>
            <a:r>
              <a:rPr/>
              <a:t>especializado</a:t>
            </a:r>
            <a:r>
              <a:rPr spc="-45"/>
              <a:t> </a:t>
            </a:r>
            <a:r>
              <a:rPr/>
              <a:t>em</a:t>
            </a:r>
            <a:r>
              <a:rPr spc="-45"/>
              <a:t> </a:t>
            </a:r>
            <a:r>
              <a:rPr/>
              <a:t>Pessoa_</a:t>
            </a:r>
            <a:r>
              <a:rPr spc="-209"/>
              <a:t> </a:t>
            </a:r>
            <a:r>
              <a:rPr/>
              <a:t>Fisica e Pessoa_Juridica e essa é uma especialização mutuamente exclusiva e total.</a:t>
            </a:r>
            <a:r>
              <a:rPr spc="-214"/>
              <a:t> </a:t>
            </a:r>
            <a:r>
              <a:rPr/>
              <a:t>Dessa forma, esse diagrama dará origem a duas relações. Ambas terão os atributos</a:t>
            </a:r>
            <a:r>
              <a:rPr spc="-214"/>
              <a:t> </a:t>
            </a:r>
            <a:r>
              <a:rPr/>
              <a:t>da</a:t>
            </a:r>
            <a:r>
              <a:rPr spc="-24"/>
              <a:t> </a:t>
            </a:r>
            <a:r>
              <a:rPr/>
              <a:t>entidade</a:t>
            </a:r>
            <a:r>
              <a:rPr spc="-24"/>
              <a:t> </a:t>
            </a:r>
            <a:r>
              <a:rPr/>
              <a:t>de</a:t>
            </a:r>
            <a:r>
              <a:rPr spc="-19"/>
              <a:t> </a:t>
            </a:r>
            <a:r>
              <a:rPr/>
              <a:t>nível</a:t>
            </a:r>
            <a:r>
              <a:rPr spc="-24"/>
              <a:t> </a:t>
            </a:r>
            <a:r>
              <a:rPr/>
              <a:t>superior</a:t>
            </a:r>
            <a:r>
              <a:rPr spc="-24"/>
              <a:t> </a:t>
            </a:r>
            <a:r>
              <a:rPr/>
              <a:t>(e</a:t>
            </a:r>
            <a:r>
              <a:rPr spc="-19"/>
              <a:t> </a:t>
            </a:r>
            <a:r>
              <a:rPr/>
              <a:t>a</a:t>
            </a:r>
            <a:r>
              <a:rPr spc="-24"/>
              <a:t> </a:t>
            </a:r>
            <a:r>
              <a:rPr/>
              <a:t>chave</a:t>
            </a:r>
            <a:r>
              <a:rPr spc="-24"/>
              <a:t> </a:t>
            </a:r>
            <a:r>
              <a:rPr/>
              <a:t>primária</a:t>
            </a:r>
            <a:r>
              <a:rPr spc="-19"/>
              <a:t> </a:t>
            </a:r>
            <a:r>
              <a:rPr/>
              <a:t>será</a:t>
            </a:r>
            <a:r>
              <a:rPr spc="-24"/>
              <a:t> </a:t>
            </a:r>
            <a:r>
              <a:rPr/>
              <a:t>o</a:t>
            </a:r>
            <a:r>
              <a:rPr spc="-24"/>
              <a:t> </a:t>
            </a:r>
            <a:r>
              <a:rPr/>
              <a:t>identificador</a:t>
            </a:r>
            <a:r>
              <a:rPr spc="-19"/>
              <a:t> </a:t>
            </a:r>
            <a:r>
              <a:rPr/>
              <a:t>da</a:t>
            </a:r>
            <a:r>
              <a:rPr spc="-24"/>
              <a:t> </a:t>
            </a:r>
            <a:r>
              <a:rPr/>
              <a:t>mesma</a:t>
            </a:r>
            <a:r>
              <a:rPr spc="-24"/>
              <a:t> </a:t>
            </a:r>
            <a:r>
              <a:rPr/>
              <a:t>–</a:t>
            </a:r>
            <a:r>
              <a:rPr spc="-19"/>
              <a:t> </a:t>
            </a:r>
            <a:r>
              <a:rPr/>
              <a:t>o</a:t>
            </a:r>
            <a:r>
              <a:rPr spc="4"/>
              <a:t> </a:t>
            </a:r>
            <a:r>
              <a:rPr/>
              <a:t>código),</a:t>
            </a:r>
            <a:r>
              <a:rPr spc="-9"/>
              <a:t> </a:t>
            </a:r>
            <a:r>
              <a:rPr/>
              <a:t>além</a:t>
            </a:r>
            <a:r>
              <a:rPr spc="-4"/>
              <a:t> </a:t>
            </a:r>
            <a:r>
              <a:rPr/>
              <a:t>de</a:t>
            </a:r>
            <a:r>
              <a:rPr spc="-9"/>
              <a:t> </a:t>
            </a:r>
            <a:r>
              <a:rPr/>
              <a:t>seus</a:t>
            </a:r>
            <a:r>
              <a:rPr spc="-4"/>
              <a:t> </a:t>
            </a:r>
            <a:r>
              <a:rPr/>
              <a:t>próprios</a:t>
            </a:r>
            <a:r>
              <a:rPr spc="-4"/>
              <a:t> </a:t>
            </a:r>
            <a:r>
              <a:rPr/>
              <a:t>atributos.</a:t>
            </a:r>
            <a:endParaRPr/>
          </a:p>
        </p:txBody>
      </p:sp>
      <p:sp>
        <p:nvSpPr>
          <p:cNvPr id="448889163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98881646" name="image24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6685303" y="1842706"/>
            <a:ext cx="4312944" cy="4334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29172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4400" b="1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Mapeamento</a:t>
            </a:r>
            <a:r>
              <a:rPr lang="pt-BR" sz="4400" b="1" i="0" u="none" strike="noStrike" cap="none" spc="324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 </a:t>
            </a:r>
            <a:r>
              <a:rPr lang="pt-BR" sz="4400" b="1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de</a:t>
            </a:r>
            <a:r>
              <a:rPr lang="pt-BR" sz="4400" b="1" i="0" u="none" strike="noStrike" cap="none" spc="324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 </a:t>
            </a:r>
            <a:r>
              <a:rPr lang="pt-BR" sz="4400" b="1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Especialização/Generalização</a:t>
            </a:r>
            <a:endParaRPr/>
          </a:p>
        </p:txBody>
      </p:sp>
      <p:sp>
        <p:nvSpPr>
          <p:cNvPr id="961938506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/>
              <a:t>Se</a:t>
            </a:r>
            <a:r>
              <a:rPr spc="169"/>
              <a:t> </a:t>
            </a:r>
            <a:r>
              <a:rPr/>
              <a:t>a</a:t>
            </a:r>
            <a:r>
              <a:rPr spc="169"/>
              <a:t> </a:t>
            </a:r>
            <a:r>
              <a:rPr/>
              <a:t>especialização</a:t>
            </a:r>
            <a:r>
              <a:rPr spc="174"/>
              <a:t> </a:t>
            </a:r>
            <a:r>
              <a:rPr/>
              <a:t>não</a:t>
            </a:r>
            <a:r>
              <a:rPr spc="169"/>
              <a:t> </a:t>
            </a:r>
            <a:r>
              <a:rPr/>
              <a:t>for</a:t>
            </a:r>
            <a:r>
              <a:rPr spc="169"/>
              <a:t> </a:t>
            </a:r>
            <a:r>
              <a:rPr/>
              <a:t>mutuamente</a:t>
            </a:r>
            <a:r>
              <a:rPr spc="174"/>
              <a:t> </a:t>
            </a:r>
            <a:r>
              <a:rPr/>
              <a:t>exclusiva,</a:t>
            </a:r>
            <a:r>
              <a:rPr spc="169"/>
              <a:t> </a:t>
            </a:r>
            <a:r>
              <a:rPr/>
              <a:t>deve</a:t>
            </a:r>
            <a:r>
              <a:rPr spc="169"/>
              <a:t> </a:t>
            </a:r>
            <a:r>
              <a:rPr/>
              <a:t>ser</a:t>
            </a:r>
            <a:r>
              <a:rPr spc="174"/>
              <a:t> </a:t>
            </a:r>
            <a:r>
              <a:rPr/>
              <a:t>criada</a:t>
            </a:r>
            <a:r>
              <a:rPr spc="174"/>
              <a:t> </a:t>
            </a:r>
            <a:r>
              <a:rPr/>
              <a:t>uma</a:t>
            </a:r>
            <a:r>
              <a:rPr spc="169"/>
              <a:t> </a:t>
            </a:r>
            <a:r>
              <a:rPr/>
              <a:t>tabela</a:t>
            </a:r>
            <a:r>
              <a:rPr spc="-214"/>
              <a:t> </a:t>
            </a:r>
            <a:r>
              <a:rPr/>
              <a:t>para cada entidade, todas tendo como chave primária o atributo identificador da entidade</a:t>
            </a:r>
            <a:r>
              <a:rPr spc="4"/>
              <a:t> </a:t>
            </a:r>
            <a:r>
              <a:rPr/>
              <a:t>principal (de nível superior). Por exemplo, vide a Figura ao lado. Uma conta pode ser apenas</a:t>
            </a:r>
            <a:r>
              <a:rPr spc="4"/>
              <a:t> </a:t>
            </a:r>
            <a:r>
              <a:rPr/>
              <a:t>uma conta normal, pode ser uma poupança ou uma conta de investimento. Assim, a</a:t>
            </a:r>
            <a:r>
              <a:rPr spc="4"/>
              <a:t> </a:t>
            </a:r>
            <a:r>
              <a:rPr/>
              <a:t>especialização</a:t>
            </a:r>
            <a:r>
              <a:rPr spc="4"/>
              <a:t> </a:t>
            </a:r>
            <a:r>
              <a:rPr/>
              <a:t>não</a:t>
            </a:r>
            <a:r>
              <a:rPr spc="4"/>
              <a:t> </a:t>
            </a:r>
            <a:r>
              <a:rPr/>
              <a:t>é</a:t>
            </a:r>
            <a:r>
              <a:rPr spc="4"/>
              <a:t> </a:t>
            </a:r>
            <a:r>
              <a:rPr/>
              <a:t>mutuamente</a:t>
            </a:r>
            <a:r>
              <a:rPr spc="4"/>
              <a:t> </a:t>
            </a:r>
            <a:r>
              <a:rPr/>
              <a:t>exclusiva,</a:t>
            </a:r>
            <a:r>
              <a:rPr spc="4"/>
              <a:t> </a:t>
            </a:r>
            <a:r>
              <a:rPr/>
              <a:t>como</a:t>
            </a:r>
            <a:r>
              <a:rPr spc="4"/>
              <a:t> </a:t>
            </a:r>
            <a:r>
              <a:rPr/>
              <a:t>consequência,</a:t>
            </a:r>
            <a:r>
              <a:rPr spc="4"/>
              <a:t> </a:t>
            </a:r>
            <a:r>
              <a:rPr/>
              <a:t>cada</a:t>
            </a:r>
            <a:r>
              <a:rPr spc="4"/>
              <a:t> </a:t>
            </a:r>
            <a:r>
              <a:rPr/>
              <a:t>entidade</a:t>
            </a:r>
            <a:r>
              <a:rPr spc="4"/>
              <a:t> </a:t>
            </a:r>
            <a:r>
              <a:rPr/>
              <a:t>dará</a:t>
            </a:r>
            <a:r>
              <a:rPr spc="4"/>
              <a:t> </a:t>
            </a:r>
            <a:r>
              <a:rPr/>
              <a:t>origem</a:t>
            </a:r>
            <a:r>
              <a:rPr spc="-14"/>
              <a:t> </a:t>
            </a:r>
            <a:r>
              <a:rPr/>
              <a:t>a</a:t>
            </a:r>
            <a:r>
              <a:rPr spc="-19"/>
              <a:t> </a:t>
            </a:r>
            <a:r>
              <a:rPr/>
              <a:t>uma</a:t>
            </a:r>
            <a:r>
              <a:rPr spc="-14"/>
              <a:t> </a:t>
            </a:r>
            <a:r>
              <a:rPr/>
              <a:t>tabela</a:t>
            </a:r>
            <a:r>
              <a:rPr spc="-19"/>
              <a:t> </a:t>
            </a:r>
            <a:r>
              <a:rPr/>
              <a:t>e</a:t>
            </a:r>
            <a:r>
              <a:rPr spc="-14"/>
              <a:t> </a:t>
            </a:r>
            <a:r>
              <a:rPr/>
              <a:t>todas</a:t>
            </a:r>
            <a:r>
              <a:rPr spc="-14"/>
              <a:t> </a:t>
            </a:r>
            <a:r>
              <a:rPr/>
              <a:t>terão</a:t>
            </a:r>
            <a:r>
              <a:rPr spc="-19"/>
              <a:t> </a:t>
            </a:r>
            <a:r>
              <a:rPr/>
              <a:t>como</a:t>
            </a:r>
            <a:r>
              <a:rPr spc="-14"/>
              <a:t> </a:t>
            </a:r>
            <a:r>
              <a:rPr/>
              <a:t>chave</a:t>
            </a:r>
            <a:r>
              <a:rPr spc="-14"/>
              <a:t> </a:t>
            </a:r>
            <a:r>
              <a:rPr/>
              <a:t>primária</a:t>
            </a:r>
            <a:r>
              <a:rPr spc="-19"/>
              <a:t> </a:t>
            </a:r>
            <a:r>
              <a:rPr/>
              <a:t>a</a:t>
            </a:r>
            <a:r>
              <a:rPr spc="-14"/>
              <a:t> </a:t>
            </a:r>
            <a:r>
              <a:rPr/>
              <a:t>chave</a:t>
            </a:r>
            <a:r>
              <a:rPr spc="-14"/>
              <a:t> </a:t>
            </a:r>
            <a:r>
              <a:rPr/>
              <a:t>da</a:t>
            </a:r>
            <a:r>
              <a:rPr spc="-14"/>
              <a:t> </a:t>
            </a:r>
            <a:r>
              <a:rPr/>
              <a:t>entidade</a:t>
            </a:r>
            <a:r>
              <a:rPr spc="-19"/>
              <a:t> </a:t>
            </a:r>
            <a:r>
              <a:rPr/>
              <a:t>principal.</a:t>
            </a:r>
            <a:endParaRPr/>
          </a:p>
        </p:txBody>
      </p:sp>
      <p:sp>
        <p:nvSpPr>
          <p:cNvPr id="2050063846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2677565" name="image25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6312336" y="1825624"/>
            <a:ext cx="4913831" cy="4263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00107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/>
              <a:t>Agregação</a:t>
            </a:r>
            <a:r>
              <a:rPr b="1" spc="4"/>
              <a:t> </a:t>
            </a:r>
            <a:r>
              <a:rPr b="1"/>
              <a:t>e</a:t>
            </a:r>
            <a:r>
              <a:rPr b="1" spc="4"/>
              <a:t> </a:t>
            </a:r>
            <a:r>
              <a:rPr b="1"/>
              <a:t>Entidade</a:t>
            </a:r>
            <a:r>
              <a:rPr b="1" spc="4"/>
              <a:t> </a:t>
            </a:r>
            <a:r>
              <a:rPr b="1"/>
              <a:t>Associativa</a:t>
            </a:r>
            <a:endParaRPr/>
          </a:p>
        </p:txBody>
      </p:sp>
      <p:sp>
        <p:nvSpPr>
          <p:cNvPr id="468398391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/>
              <a:t>Envolvem</a:t>
            </a:r>
            <a:r>
              <a:rPr spc="4"/>
              <a:t> </a:t>
            </a:r>
            <a:r>
              <a:rPr/>
              <a:t>um</a:t>
            </a:r>
            <a:r>
              <a:rPr spc="4"/>
              <a:t> </a:t>
            </a:r>
            <a:r>
              <a:rPr/>
              <a:t>relacionamento</a:t>
            </a:r>
            <a:r>
              <a:rPr spc="4"/>
              <a:t> </a:t>
            </a:r>
            <a:r>
              <a:rPr/>
              <a:t>entre</a:t>
            </a:r>
            <a:r>
              <a:rPr spc="4"/>
              <a:t> </a:t>
            </a:r>
            <a:r>
              <a:rPr/>
              <a:t>relacionamentos.</a:t>
            </a:r>
            <a:r>
              <a:rPr spc="4"/>
              <a:t> </a:t>
            </a:r>
            <a:r>
              <a:rPr/>
              <a:t>Para</a:t>
            </a:r>
            <a:r>
              <a:rPr spc="4"/>
              <a:t> </a:t>
            </a:r>
            <a:r>
              <a:rPr/>
              <a:t>fazer</a:t>
            </a:r>
            <a:r>
              <a:rPr spc="4"/>
              <a:t> </a:t>
            </a:r>
            <a:r>
              <a:rPr/>
              <a:t>o</a:t>
            </a:r>
            <a:r>
              <a:rPr spc="4"/>
              <a:t> </a:t>
            </a:r>
            <a:r>
              <a:rPr/>
              <a:t>mapeamento,</a:t>
            </a:r>
            <a:r>
              <a:rPr spc="4"/>
              <a:t> </a:t>
            </a:r>
            <a:r>
              <a:rPr/>
              <a:t>primeiro,</a:t>
            </a:r>
            <a:r>
              <a:rPr spc="4"/>
              <a:t> </a:t>
            </a:r>
            <a:r>
              <a:rPr/>
              <a:t>criamos</a:t>
            </a:r>
            <a:r>
              <a:rPr spc="225"/>
              <a:t> </a:t>
            </a:r>
            <a:r>
              <a:rPr/>
              <a:t>relações</a:t>
            </a:r>
            <a:r>
              <a:rPr spc="225"/>
              <a:t> </a:t>
            </a:r>
            <a:r>
              <a:rPr/>
              <a:t>para</a:t>
            </a:r>
            <a:r>
              <a:rPr spc="4"/>
              <a:t> </a:t>
            </a:r>
            <a:r>
              <a:rPr/>
              <a:t>todas as entidades envolvidas. Segundo, criamos uma relação para o primeiro</a:t>
            </a:r>
            <a:r>
              <a:rPr spc="4"/>
              <a:t> </a:t>
            </a:r>
            <a:r>
              <a:rPr/>
              <a:t>relacionamento (a entidade associativa) que terá como chave primária as chaves</a:t>
            </a:r>
            <a:r>
              <a:rPr spc="4"/>
              <a:t> </a:t>
            </a:r>
            <a:r>
              <a:rPr spc="-4"/>
              <a:t>primárias</a:t>
            </a:r>
            <a:r>
              <a:rPr spc="-54"/>
              <a:t> </a:t>
            </a:r>
            <a:r>
              <a:rPr spc="-4"/>
              <a:t>das</a:t>
            </a:r>
            <a:r>
              <a:rPr spc="-49"/>
              <a:t> </a:t>
            </a:r>
            <a:r>
              <a:rPr spc="-4"/>
              <a:t>entidades</a:t>
            </a:r>
            <a:r>
              <a:rPr spc="-49"/>
              <a:t> </a:t>
            </a:r>
            <a:r>
              <a:rPr spc="-4"/>
              <a:t>diretamente</a:t>
            </a:r>
            <a:r>
              <a:rPr spc="-49"/>
              <a:t> </a:t>
            </a:r>
            <a:r>
              <a:rPr spc="-4"/>
              <a:t>envolvidas.</a:t>
            </a:r>
            <a:r>
              <a:rPr spc="-49"/>
              <a:t> </a:t>
            </a:r>
            <a:r>
              <a:rPr spc="-4"/>
              <a:t>Terceiro,</a:t>
            </a:r>
            <a:r>
              <a:rPr spc="-49"/>
              <a:t> </a:t>
            </a:r>
            <a:r>
              <a:rPr spc="-4"/>
              <a:t>criamos</a:t>
            </a:r>
            <a:r>
              <a:rPr spc="-54"/>
              <a:t> </a:t>
            </a:r>
            <a:r>
              <a:rPr spc="-4"/>
              <a:t>uma</a:t>
            </a:r>
            <a:r>
              <a:rPr spc="-49"/>
              <a:t> </a:t>
            </a:r>
            <a:r>
              <a:rPr spc="-4"/>
              <a:t>relação</a:t>
            </a:r>
            <a:r>
              <a:rPr spc="-49"/>
              <a:t> </a:t>
            </a:r>
            <a:r>
              <a:rPr/>
              <a:t>para</a:t>
            </a:r>
            <a:r>
              <a:rPr spc="4"/>
              <a:t> </a:t>
            </a:r>
            <a:r>
              <a:rPr/>
              <a:t>o</a:t>
            </a:r>
            <a:r>
              <a:rPr spc="-45"/>
              <a:t> </a:t>
            </a:r>
            <a:r>
              <a:rPr/>
              <a:t>relacionamento</a:t>
            </a:r>
            <a:r>
              <a:rPr spc="-39"/>
              <a:t> </a:t>
            </a:r>
            <a:r>
              <a:rPr/>
              <a:t>externo,</a:t>
            </a:r>
            <a:r>
              <a:rPr spc="-39"/>
              <a:t> </a:t>
            </a:r>
            <a:r>
              <a:rPr/>
              <a:t>contendo</a:t>
            </a:r>
            <a:r>
              <a:rPr spc="-34"/>
              <a:t> </a:t>
            </a:r>
            <a:r>
              <a:rPr/>
              <a:t>as</a:t>
            </a:r>
            <a:r>
              <a:rPr spc="-39"/>
              <a:t> </a:t>
            </a:r>
            <a:r>
              <a:rPr/>
              <a:t>chaves</a:t>
            </a:r>
            <a:r>
              <a:rPr spc="-45"/>
              <a:t> </a:t>
            </a:r>
            <a:r>
              <a:rPr/>
              <a:t>primárias</a:t>
            </a:r>
            <a:r>
              <a:rPr spc="-39"/>
              <a:t> </a:t>
            </a:r>
            <a:r>
              <a:rPr/>
              <a:t>de</a:t>
            </a:r>
            <a:r>
              <a:rPr spc="-39"/>
              <a:t> </a:t>
            </a:r>
            <a:r>
              <a:rPr/>
              <a:t>todas</a:t>
            </a:r>
            <a:r>
              <a:rPr spc="-39"/>
              <a:t> </a:t>
            </a:r>
            <a:r>
              <a:rPr/>
              <a:t>as</a:t>
            </a:r>
            <a:r>
              <a:rPr spc="-39"/>
              <a:t> </a:t>
            </a:r>
            <a:r>
              <a:rPr/>
              <a:t>entidades.</a:t>
            </a:r>
            <a:endParaRPr/>
          </a:p>
        </p:txBody>
      </p:sp>
      <p:sp>
        <p:nvSpPr>
          <p:cNvPr id="722703918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defRPr/>
            </a:pPr>
            <a:r>
              <a:rPr/>
              <a:t>Por</a:t>
            </a:r>
            <a:r>
              <a:rPr spc="-214"/>
              <a:t> </a:t>
            </a:r>
            <a:r>
              <a:rPr/>
              <a:t>exemplo, vide a Figura seguinte. Nela temos um exemplo de uso de entidade associativa</a:t>
            </a:r>
            <a:r>
              <a:rPr spc="4"/>
              <a:t> </a:t>
            </a:r>
            <a:r>
              <a:rPr/>
              <a:t>para poder especificar que em uma consulta feita por um médico a um paciente,</a:t>
            </a:r>
            <a:r>
              <a:rPr spc="4"/>
              <a:t> </a:t>
            </a:r>
            <a:r>
              <a:rPr/>
              <a:t>medicamentos</a:t>
            </a:r>
            <a:r>
              <a:rPr spc="4"/>
              <a:t> </a:t>
            </a:r>
            <a:r>
              <a:rPr/>
              <a:t>podem</a:t>
            </a:r>
            <a:r>
              <a:rPr spc="4"/>
              <a:t> </a:t>
            </a:r>
            <a:r>
              <a:rPr/>
              <a:t>ser</a:t>
            </a:r>
            <a:r>
              <a:rPr spc="4"/>
              <a:t> </a:t>
            </a:r>
            <a:r>
              <a:rPr/>
              <a:t>prescritos.</a:t>
            </a:r>
            <a:r>
              <a:rPr spc="4"/>
              <a:t> </a:t>
            </a:r>
            <a:r>
              <a:rPr/>
              <a:t>Cada</a:t>
            </a:r>
            <a:r>
              <a:rPr spc="4"/>
              <a:t> </a:t>
            </a:r>
            <a:r>
              <a:rPr/>
              <a:t>entidade</a:t>
            </a:r>
            <a:r>
              <a:rPr spc="4"/>
              <a:t> </a:t>
            </a:r>
            <a:r>
              <a:rPr/>
              <a:t>forte</a:t>
            </a:r>
            <a:r>
              <a:rPr spc="4"/>
              <a:t> </a:t>
            </a:r>
            <a:r>
              <a:rPr/>
              <a:t>dará</a:t>
            </a:r>
            <a:r>
              <a:rPr spc="4"/>
              <a:t> </a:t>
            </a:r>
            <a:r>
              <a:rPr/>
              <a:t>origem</a:t>
            </a:r>
            <a:r>
              <a:rPr spc="4"/>
              <a:t> </a:t>
            </a:r>
            <a:r>
              <a:rPr/>
              <a:t>a</a:t>
            </a:r>
            <a:r>
              <a:rPr spc="4"/>
              <a:t> </a:t>
            </a:r>
            <a:r>
              <a:rPr/>
              <a:t>uma</a:t>
            </a:r>
            <a:r>
              <a:rPr spc="-214"/>
              <a:t> </a:t>
            </a:r>
            <a:r>
              <a:rPr/>
              <a:t>relação.</a:t>
            </a:r>
            <a:r>
              <a:rPr spc="4"/>
              <a:t> </a:t>
            </a:r>
            <a:r>
              <a:rPr/>
              <a:t>Depois,</a:t>
            </a:r>
            <a:r>
              <a:rPr spc="4"/>
              <a:t> </a:t>
            </a:r>
            <a:r>
              <a:rPr/>
              <a:t>a</a:t>
            </a:r>
            <a:r>
              <a:rPr spc="4"/>
              <a:t> </a:t>
            </a:r>
            <a:r>
              <a:rPr/>
              <a:t>entidade</a:t>
            </a:r>
            <a:r>
              <a:rPr spc="4"/>
              <a:t> </a:t>
            </a:r>
            <a:r>
              <a:rPr/>
              <a:t>associativa</a:t>
            </a:r>
            <a:r>
              <a:rPr spc="4"/>
              <a:t> </a:t>
            </a:r>
            <a:r>
              <a:rPr/>
              <a:t>Consulta</a:t>
            </a:r>
            <a:r>
              <a:rPr spc="4"/>
              <a:t> </a:t>
            </a:r>
            <a:r>
              <a:rPr/>
              <a:t>também</a:t>
            </a:r>
            <a:r>
              <a:rPr spc="4"/>
              <a:t> </a:t>
            </a:r>
            <a:r>
              <a:rPr/>
              <a:t>dará</a:t>
            </a:r>
            <a:r>
              <a:rPr spc="4"/>
              <a:t> </a:t>
            </a:r>
            <a:r>
              <a:rPr/>
              <a:t>origem</a:t>
            </a:r>
            <a:r>
              <a:rPr spc="4"/>
              <a:t> </a:t>
            </a:r>
            <a:r>
              <a:rPr/>
              <a:t>a</a:t>
            </a:r>
            <a:r>
              <a:rPr spc="4"/>
              <a:t> </a:t>
            </a:r>
            <a:r>
              <a:rPr/>
              <a:t>uma</a:t>
            </a:r>
            <a:r>
              <a:rPr spc="4"/>
              <a:t> </a:t>
            </a:r>
            <a:r>
              <a:rPr/>
              <a:t>relação que terá como chave primária as chaves das duas entidades diretamente</a:t>
            </a:r>
            <a:r>
              <a:rPr spc="4"/>
              <a:t> </a:t>
            </a:r>
            <a:r>
              <a:rPr/>
              <a:t>envolvidas</a:t>
            </a:r>
            <a:r>
              <a:rPr spc="-54"/>
              <a:t> </a:t>
            </a:r>
            <a:r>
              <a:rPr/>
              <a:t>(no</a:t>
            </a:r>
            <a:r>
              <a:rPr spc="-49"/>
              <a:t> </a:t>
            </a:r>
            <a:r>
              <a:rPr/>
              <a:t>caso,</a:t>
            </a:r>
            <a:r>
              <a:rPr spc="-54"/>
              <a:t> </a:t>
            </a:r>
            <a:r>
              <a:rPr/>
              <a:t>Medico</a:t>
            </a:r>
            <a:r>
              <a:rPr spc="-49"/>
              <a:t> </a:t>
            </a:r>
            <a:r>
              <a:rPr/>
              <a:t>e</a:t>
            </a:r>
            <a:r>
              <a:rPr spc="-49"/>
              <a:t> </a:t>
            </a:r>
            <a:r>
              <a:rPr/>
              <a:t>Paciente)</a:t>
            </a:r>
            <a:r>
              <a:rPr spc="-54"/>
              <a:t> </a:t>
            </a:r>
            <a:r>
              <a:rPr/>
              <a:t>no</a:t>
            </a:r>
            <a:r>
              <a:rPr spc="-49"/>
              <a:t> </a:t>
            </a:r>
            <a:r>
              <a:rPr/>
              <a:t>relacionamento</a:t>
            </a:r>
            <a:r>
              <a:rPr spc="-54"/>
              <a:t> </a:t>
            </a:r>
            <a:r>
              <a:rPr/>
              <a:t>da</a:t>
            </a:r>
            <a:r>
              <a:rPr spc="-49"/>
              <a:t> </a:t>
            </a:r>
            <a:r>
              <a:rPr/>
              <a:t>entidade</a:t>
            </a:r>
            <a:r>
              <a:rPr spc="-49"/>
              <a:t> </a:t>
            </a:r>
            <a:r>
              <a:rPr/>
              <a:t>associativa.</a:t>
            </a:r>
            <a:r>
              <a:rPr spc="-214"/>
              <a:t> </a:t>
            </a:r>
            <a:r>
              <a:rPr/>
              <a:t>Por último, o relacionamento externo, que se liga com a entidade associativa (no</a:t>
            </a:r>
            <a:r>
              <a:rPr spc="4"/>
              <a:t> </a:t>
            </a:r>
            <a:r>
              <a:rPr/>
              <a:t>caso, o relacionamento prescreve que passamos a chamar de prescrição no MR)</a:t>
            </a:r>
            <a:r>
              <a:rPr spc="4"/>
              <a:t> </a:t>
            </a:r>
            <a:r>
              <a:rPr/>
              <a:t>também dará origem a uma relação que terá como chave primária a chave da</a:t>
            </a:r>
            <a:r>
              <a:rPr spc="4"/>
              <a:t> </a:t>
            </a:r>
            <a:r>
              <a:rPr/>
              <a:t>entidade</a:t>
            </a:r>
            <a:r>
              <a:rPr spc="-9"/>
              <a:t> </a:t>
            </a:r>
            <a:r>
              <a:rPr/>
              <a:t>associativa</a:t>
            </a:r>
            <a:r>
              <a:rPr spc="-9"/>
              <a:t> </a:t>
            </a:r>
            <a:r>
              <a:rPr/>
              <a:t>e</a:t>
            </a:r>
            <a:r>
              <a:rPr spc="-4"/>
              <a:t> </a:t>
            </a:r>
            <a:r>
              <a:rPr/>
              <a:t>a</a:t>
            </a:r>
            <a:r>
              <a:rPr spc="-9"/>
              <a:t> </a:t>
            </a:r>
            <a:r>
              <a:rPr/>
              <a:t>chave da</a:t>
            </a:r>
            <a:r>
              <a:rPr spc="-9"/>
              <a:t> </a:t>
            </a:r>
            <a:r>
              <a:rPr/>
              <a:t>entidade</a:t>
            </a:r>
            <a:r>
              <a:rPr spc="-9"/>
              <a:t> </a:t>
            </a:r>
            <a:r>
              <a:rPr/>
              <a:t>que</a:t>
            </a:r>
            <a:r>
              <a:rPr spc="-9"/>
              <a:t> </a:t>
            </a:r>
            <a:r>
              <a:rPr/>
              <a:t>a</a:t>
            </a:r>
            <a:r>
              <a:rPr spc="-4"/>
              <a:t> </a:t>
            </a:r>
            <a:r>
              <a:rPr/>
              <a:t>ela</a:t>
            </a:r>
            <a:r>
              <a:rPr spc="-4"/>
              <a:t> </a:t>
            </a:r>
            <a:r>
              <a:rPr/>
              <a:t>se</a:t>
            </a:r>
            <a:r>
              <a:rPr spc="-9"/>
              <a:t> </a:t>
            </a:r>
            <a:r>
              <a:rPr/>
              <a:t>liga.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848808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213175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98743938" name="image26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838199" y="365124"/>
            <a:ext cx="10459182" cy="5811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741473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3600"/>
              <a:t>Mapeando </a:t>
            </a:r>
            <a:r>
              <a:rPr lang="pt-BR" sz="3600"/>
              <a:t>Auto-Relacionamentos</a:t>
            </a:r>
            <a:r>
              <a:rPr lang="pt-BR" sz="3600"/>
              <a:t> </a:t>
            </a:r>
            <a:endParaRPr/>
          </a:p>
        </p:txBody>
      </p:sp>
      <p:pic>
        <p:nvPicPr>
          <p:cNvPr id="745359162" name="image27.jpeg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3629465" y="1556411"/>
            <a:ext cx="3855735" cy="1573346"/>
          </a:xfrm>
          <a:prstGeom prst="rect">
            <a:avLst/>
          </a:prstGeom>
        </p:spPr>
      </p:pic>
      <p:pic>
        <p:nvPicPr>
          <p:cNvPr id="1758433214" name="image28.jpe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62916" y="3996665"/>
            <a:ext cx="4184333" cy="1304925"/>
          </a:xfrm>
          <a:prstGeom prst="rect">
            <a:avLst/>
          </a:prstGeom>
        </p:spPr>
      </p:pic>
      <p:pic>
        <p:nvPicPr>
          <p:cNvPr id="759462638" name="image29.jpe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485200" y="3728244"/>
            <a:ext cx="3228975" cy="2465363"/>
          </a:xfrm>
          <a:prstGeom prst="rect">
            <a:avLst/>
          </a:prstGeom>
        </p:spPr>
      </p:pic>
      <p:sp>
        <p:nvSpPr>
          <p:cNvPr id="1828043426" name="Seta: da Esquerda para a Direita e para Cima 6"/>
          <p:cNvSpPr/>
          <p:nvPr/>
        </p:nvSpPr>
        <p:spPr bwMode="auto">
          <a:xfrm>
            <a:off x="5434818" y="3129757"/>
            <a:ext cx="1322363" cy="1466557"/>
          </a:xfrm>
          <a:prstGeom prst="leftRightUpArrow">
            <a:avLst>
              <a:gd name="adj1" fmla="val 25000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3336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Obrigado...........</a:t>
            </a:r>
            <a:endParaRPr/>
          </a:p>
        </p:txBody>
      </p:sp>
      <p:sp>
        <p:nvSpPr>
          <p:cNvPr id="1854679130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20265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Revisão Rápida das Regras</a:t>
            </a:r>
            <a:endParaRPr/>
          </a:p>
        </p:txBody>
      </p:sp>
      <p:sp>
        <p:nvSpPr>
          <p:cNvPr id="1333387553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graphicFrame>
        <p:nvGraphicFramePr>
          <p:cNvPr id="460044585" name=""/>
          <p:cNvGraphicFramePr>
            <a:graphicFrameLocks xmlns:a="http://schemas.openxmlformats.org/drawingml/2006/main"/>
          </p:cNvGraphicFramePr>
          <p:nvPr/>
        </p:nvGraphicFramePr>
        <p:xfrm rot="0">
          <a:off x="899999" y="1887154"/>
          <a:ext cx="10219345" cy="4571999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3630393"/>
                <a:gridCol w="6588952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Elemento do MER</a:t>
                      </a:r>
                      <a:endParaRPr sz="1800"/>
                    </a:p>
                  </a:txBody>
                  <a:tcPr marL="0" marR="152399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Como mapear para o MR</a:t>
                      </a:r>
                      <a:endParaRPr sz="1800"/>
                    </a:p>
                  </a:txBody>
                  <a:tcPr marL="152399" marR="152399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Entidade Forte</a:t>
                      </a:r>
                      <a:endParaRPr sz="1800"/>
                    </a:p>
                  </a:txBody>
                  <a:tcPr marL="0" marR="152399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Cria uma tabela com todos os atributos simples</a:t>
                      </a:r>
                      <a:endParaRPr sz="1800"/>
                    </a:p>
                  </a:txBody>
                  <a:tcPr marL="152399" marR="0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Atributo Multivalorado</a:t>
                      </a:r>
                      <a:endParaRPr sz="1800"/>
                    </a:p>
                  </a:txBody>
                  <a:tcPr marL="0" marR="152399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Cria uma nova tabela (PK da entidade + atributo)</a:t>
                      </a:r>
                      <a:endParaRPr sz="1800"/>
                    </a:p>
                  </a:txBody>
                  <a:tcPr marL="152399" marR="0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Entidade Fraca</a:t>
                      </a:r>
                      <a:endParaRPr sz="1800"/>
                    </a:p>
                  </a:txBody>
                  <a:tcPr marL="0" marR="152399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Cria tabela com seus atributos + PK da entidade forte</a:t>
                      </a:r>
                      <a:endParaRPr sz="1800"/>
                    </a:p>
                  </a:txBody>
                  <a:tcPr marL="152399" marR="0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</a:tr>
              <a:tr h="54102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Relacionamento 1:1</a:t>
                      </a:r>
                      <a:endParaRPr sz="1800"/>
                    </a:p>
                  </a:txBody>
                  <a:tcPr marL="0" marR="152399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FK em uma das tabelas (geralmente na que participa totalmente)</a:t>
                      </a:r>
                      <a:endParaRPr sz="1800"/>
                    </a:p>
                  </a:txBody>
                  <a:tcPr marL="152399" marR="0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Relacionamento 1:N</a:t>
                      </a:r>
                      <a:endParaRPr sz="1800"/>
                    </a:p>
                  </a:txBody>
                  <a:tcPr marL="0" marR="152399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FK na tabela do lado N + atributos do relacionamento</a:t>
                      </a:r>
                      <a:endParaRPr sz="1800"/>
                    </a:p>
                  </a:txBody>
                  <a:tcPr marL="152399" marR="0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Relacionamento M:N</a:t>
                      </a:r>
                      <a:endParaRPr sz="1800"/>
                    </a:p>
                  </a:txBody>
                  <a:tcPr marL="0" marR="152399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Cria nova tabela com PKs das duas entidades + atributos</a:t>
                      </a:r>
                      <a:endParaRPr sz="1800"/>
                    </a:p>
                  </a:txBody>
                  <a:tcPr marL="152399" marR="0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Auto-relacionamento</a:t>
                      </a:r>
                      <a:endParaRPr sz="1800"/>
                    </a:p>
                  </a:txBody>
                  <a:tcPr marL="0" marR="152399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F1115"/>
                          </a:solidFill>
                          <a:latin typeface="Arial"/>
                          <a:ea typeface="Arial"/>
                          <a:cs typeface="Arial"/>
                        </a:rPr>
                        <a:t>FK na própria tabela (ou nova tabela, se M:N)</a:t>
                      </a:r>
                      <a:endParaRPr sz="1800"/>
                    </a:p>
                  </a:txBody>
                  <a:tcPr marL="152399" marR="0" marT="95249" marB="95249" anchor="ctr">
                    <a:lnB w="9524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37542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Exercício 1 — Livraria</a:t>
            </a:r>
            <a:endParaRPr/>
          </a:p>
        </p:txBody>
      </p:sp>
      <p:sp>
        <p:nvSpPr>
          <p:cNvPr id="548034665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MER: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Livro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(código, título, editora)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Autor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(CPF, nome, nacionalidade)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Um autor escreve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vários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livros; um livro pode ter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vários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autores.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O relacionamento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"Escreve"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possui o atributo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ano_publicacao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Pergunta: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Mapeie para o MR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81021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Exercício 2 — Escola</a:t>
            </a: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</p:txBody>
      </p:sp>
      <p:sp>
        <p:nvSpPr>
          <p:cNvPr id="1565735615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MER: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Professor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(matrícula, nome, disciplina)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Turma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(código, série, sala)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Um professor leciona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várias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turmas; uma turma tem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apenas um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professor.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O relacionamento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"Leciona"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possui o atributo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horario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.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Pergunta: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Mapeie para o MR.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9647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Exercício 3 — Clínica</a:t>
            </a:r>
            <a:endParaRPr/>
          </a:p>
        </p:txBody>
      </p:sp>
      <p:sp>
        <p:nvSpPr>
          <p:cNvPr id="373287076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MER:</a:t>
            </a:r>
            <a:endParaRPr sz="2600"/>
          </a:p>
          <a:p>
            <a:pPr>
              <a:defRPr/>
            </a:pP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Paciente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(CPF, nome, data_nascimento)</a:t>
            </a:r>
            <a:endParaRPr sz="2600"/>
          </a:p>
          <a:p>
            <a:pPr>
              <a:defRPr/>
            </a:pP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Prontuário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(número, data_abertura, observações)</a:t>
            </a:r>
            <a:endParaRPr sz="2600"/>
          </a:p>
          <a:p>
            <a:pPr>
              <a:defRPr/>
            </a:pP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Um paciente possui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um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prontuário; um prontuário pertence a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um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paciente.</a:t>
            </a:r>
            <a:endParaRPr sz="2600"/>
          </a:p>
          <a:p>
            <a:pPr>
              <a:defRPr/>
            </a:pP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Pergunta: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Mapeie para o MR.</a:t>
            </a:r>
            <a:endParaRPr sz="26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04125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Exercício 4 — Multivalorado</a:t>
            </a:r>
            <a:endParaRPr/>
          </a:p>
        </p:txBody>
      </p:sp>
      <p:sp>
        <p:nvSpPr>
          <p:cNvPr id="915355910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MER:</a:t>
            </a:r>
            <a:endParaRPr sz="2600"/>
          </a:p>
          <a:p>
            <a:pPr>
              <a:defRPr/>
            </a:pP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Funcionário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(CPF, nome, salário)</a:t>
            </a:r>
            <a:endParaRPr sz="2600"/>
          </a:p>
          <a:p>
            <a:pPr>
              <a:defRPr/>
            </a:pP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Atributo multivalorado: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dependentes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(nome do dependente)</a:t>
            </a:r>
            <a:endParaRPr sz="2600"/>
          </a:p>
          <a:p>
            <a:pPr>
              <a:defRPr/>
            </a:pP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Atributo multivalorado: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telefones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(número)</a:t>
            </a:r>
            <a:endParaRPr sz="2600"/>
          </a:p>
          <a:p>
            <a:pPr>
              <a:defRPr/>
            </a:pPr>
            <a:r>
              <a:rPr sz="2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Pergunta: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Mapeie para o MR.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05589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Exercício 5 — Entidade Fraca</a:t>
            </a: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</p:txBody>
      </p:sp>
      <p:sp>
        <p:nvSpPr>
          <p:cNvPr id="683552356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MER: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Cliente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(código, nome, telefone)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Pedido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(número, data, valor_total) — entidade fraca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Um cliente faz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vários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pedidos; um pedido pertence a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um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cliente.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Pergunta: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Mapeie para o MR.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44263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Exercício 6</a:t>
            </a:r>
            <a:endParaRPr/>
          </a:p>
        </p:txBody>
      </p:sp>
      <p:sp>
        <p:nvSpPr>
          <p:cNvPr id="1821888468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MER: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Funcionário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(CPF, nome, cargo)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Um funcionário pode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gerenciar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vários outros funcionários.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Um funcionário é gerenciado por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no máximo um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funcionário.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Pergunta: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Mapeie para o MR.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49857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Dicas</a:t>
            </a:r>
            <a:endParaRPr/>
          </a:p>
        </p:txBody>
      </p:sp>
      <p:sp>
        <p:nvSpPr>
          <p:cNvPr id="1131041214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40000" lnSpcReduction="12000"/>
          </a:bodyPr>
          <a:lstStyle/>
          <a:p>
            <a:pPr>
              <a:defRPr/>
            </a:pPr>
            <a:r>
              <a:rPr sz="7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Sempre identifique primeiro as entidades fortes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— elas viram tabelas independentes.</a:t>
            </a:r>
            <a:endParaRPr sz="7200"/>
          </a:p>
          <a:p>
            <a:pPr>
              <a:defRPr/>
            </a:pPr>
            <a:r>
              <a:rPr sz="7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Pergunte-se: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"Quantos dos outros podem se relacionar com um?"</a:t>
            </a:r>
            <a:endParaRPr sz="7200"/>
          </a:p>
          <a:p>
            <a:pPr>
              <a:defRPr/>
            </a:pP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Se for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7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1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→ FK vai para o lado N</a:t>
            </a:r>
            <a:endParaRPr sz="7200"/>
          </a:p>
          <a:p>
            <a:pPr>
              <a:defRPr/>
            </a:pP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Se for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7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N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→ cria nova tabela</a:t>
            </a:r>
            <a:endParaRPr sz="7200"/>
          </a:p>
          <a:p>
            <a:pPr>
              <a:defRPr/>
            </a:pPr>
            <a:r>
              <a:rPr sz="7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Atributos multivalorados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sempre viram tabelas separadas.</a:t>
            </a:r>
            <a:endParaRPr sz="7200"/>
          </a:p>
          <a:p>
            <a:pPr>
              <a:defRPr/>
            </a:pPr>
            <a:r>
              <a:rPr sz="7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Entidades fracas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sempre herdam a PK da entidade forte.</a:t>
            </a:r>
            <a:endParaRPr sz="7200"/>
          </a:p>
          <a:p>
            <a:pPr>
              <a:defRPr/>
            </a:pPr>
            <a:r>
              <a:rPr sz="7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Não esqueça das FKs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7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— elas são a ligação entre as tabelas!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98354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Respostas</a:t>
            </a:r>
            <a:endParaRPr/>
          </a:p>
        </p:txBody>
      </p:sp>
      <p:sp>
        <p:nvSpPr>
          <p:cNvPr id="222071096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Exercício 1</a:t>
            </a:r>
            <a:r>
              <a:rPr sz="165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endParaRPr sz="1650" b="1" i="0" u="none">
              <a:solidFill>
                <a:srgbClr val="0F1115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pt-BR" sz="1650" b="1" i="0" u="none" strike="noStrike" cap="none" spc="0">
                <a:solidFill>
                  <a:srgbClr val="0F1115"/>
                </a:solidFill>
                <a:latin typeface="Arial"/>
                <a:ea typeface="Arial"/>
                <a:cs typeface="Arial"/>
              </a:rPr>
              <a:t>Livro (codigo PK, titulo, editora)</a:t>
            </a:r>
            <a:endParaRPr lang="pt-BR" sz="1650" b="1" i="0" u="none" strike="noStrike" cap="none" spc="0">
              <a:solidFill>
                <a:srgbClr val="0F1115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50" b="1" i="0" u="none" strike="noStrike" cap="none" spc="0">
                <a:solidFill>
                  <a:srgbClr val="0F1115"/>
                </a:solidFill>
                <a:latin typeface="Arial"/>
                <a:ea typeface="Arial"/>
                <a:cs typeface="Arial"/>
              </a:rPr>
              <a:t>Autor (CPF PK, nome, nacionalidade)</a:t>
            </a:r>
            <a:endParaRPr lang="pt-BR" sz="1650" b="1" i="0" u="none" strike="noStrike" cap="none" spc="0">
              <a:solidFill>
                <a:srgbClr val="0F1115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50" b="1" i="0" u="none" strike="noStrike" cap="none" spc="0">
                <a:solidFill>
                  <a:srgbClr val="0F1115"/>
                </a:solidFill>
                <a:latin typeface="Arial"/>
                <a:ea typeface="Arial"/>
                <a:cs typeface="Arial"/>
              </a:rPr>
              <a:t>Escreve (codigo PK/FK, CPF PK/FK, ano_publicacao)</a:t>
            </a:r>
            <a:endParaRPr lang="pt-BR" sz="1650" b="1" i="0" u="none" strike="noStrike" cap="none" spc="0">
              <a:solidFill>
                <a:srgbClr val="0F1115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50" b="1" i="0" u="none" strike="noStrike" cap="none" spc="0">
                <a:solidFill>
                  <a:srgbClr val="0F1115"/>
                </a:solidFill>
                <a:latin typeface="Arial"/>
                <a:ea typeface="Arial"/>
                <a:cs typeface="Arial"/>
              </a:rPr>
              <a:t>   - codigo referencia Livro</a:t>
            </a:r>
            <a:endParaRPr lang="pt-BR" sz="1650" b="1" i="0" u="none" strike="noStrike" cap="none" spc="0">
              <a:solidFill>
                <a:srgbClr val="0F1115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50" b="1" i="0" u="none" strike="noStrike" cap="none" spc="0">
                <a:solidFill>
                  <a:srgbClr val="0F1115"/>
                </a:solidFill>
                <a:latin typeface="Arial"/>
                <a:ea typeface="Arial"/>
                <a:cs typeface="Arial"/>
              </a:rPr>
              <a:t>   - CPF referencia Autor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26619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Respostas</a:t>
            </a:r>
            <a:endParaRPr sz="4400"/>
          </a:p>
          <a:p>
            <a:pPr>
              <a:defRPr/>
            </a:pPr>
            <a:endParaRPr/>
          </a:p>
        </p:txBody>
      </p:sp>
      <p:sp>
        <p:nvSpPr>
          <p:cNvPr id="2117601822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R2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Professor (matricula PK, nome, disciplina)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Turma (codigo PK, serie, sala, matricula_professor FK, horario)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  - matricula_professor referencia Professor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46746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Respostas</a:t>
            </a:r>
            <a:endParaRPr sz="4400"/>
          </a:p>
          <a:p>
            <a:pPr>
              <a:defRPr/>
            </a:pPr>
            <a:endParaRPr/>
          </a:p>
        </p:txBody>
      </p:sp>
      <p:sp>
        <p:nvSpPr>
          <p:cNvPr id="1613989190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R3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Paciente (CPF PK, nome, data_nascimento)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Prontuario (numero PK, data_abertura, observacoes, CPF_paciente FK)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  - CPF_paciente referencia Paciente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32623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Respostas</a:t>
            </a:r>
            <a:endParaRPr sz="4400"/>
          </a:p>
          <a:p>
            <a:pPr>
              <a:defRPr/>
            </a:pPr>
            <a:endParaRPr/>
          </a:p>
        </p:txBody>
      </p:sp>
      <p:sp>
        <p:nvSpPr>
          <p:cNvPr id="1833315227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R4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Funcionario (CPF PK, nome, salario)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Dependente (CPF PK/FK, nome_dependente PK)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  - CPF referencia Funcionario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Telefone (CPF PK/FK, numero PK)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  - CPF referencia Funcionario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36008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Respostas</a:t>
            </a:r>
            <a:endParaRPr sz="4400"/>
          </a:p>
          <a:p>
            <a:pPr>
              <a:defRPr/>
            </a:pPr>
            <a:endParaRPr/>
          </a:p>
        </p:txBody>
      </p:sp>
      <p:sp>
        <p:nvSpPr>
          <p:cNvPr id="1293529739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R5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Cliente (codigo PK, nome, telefone)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Pedido (codigo_cliente PK/FK, numero PK, data, valor_total)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  - codigo_cliente referencia Cliente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92569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Respostas</a:t>
            </a:r>
            <a:endParaRPr sz="4400"/>
          </a:p>
          <a:p>
            <a:pPr>
              <a:defRPr/>
            </a:pPr>
            <a:endParaRPr/>
          </a:p>
        </p:txBody>
      </p:sp>
      <p:sp>
        <p:nvSpPr>
          <p:cNvPr id="1521707527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R6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Funcionario (CPF PK, nome, cargo, CPF_gerente FK)</a:t>
            </a:r>
            <a:endParaRPr lang="pt-BR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  - CPF_gerente referencia Funcionario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702368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92234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775230880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02139516" name="Título 1"/>
          <p:cNvSpPr>
            <a:spLocks noGrp="1"/>
          </p:cNvSpPr>
          <p:nvPr>
            <p:ph type="title"/>
          </p:nvPr>
        </p:nvSpPr>
        <p:spPr bwMode="auto">
          <a:xfrm>
            <a:off x="630936" y="639520"/>
            <a:ext cx="3429000" cy="726453"/>
          </a:xfrm>
        </p:spPr>
        <p:txBody>
          <a:bodyPr anchor="b">
            <a:normAutofit fontScale="90000"/>
          </a:bodyPr>
          <a:lstStyle/>
          <a:p>
            <a:pPr>
              <a:defRPr/>
            </a:pPr>
            <a:r>
              <a:rPr lang="pt-BR" sz="5400"/>
              <a:t>Exercícios</a:t>
            </a:r>
            <a:endParaRPr/>
          </a:p>
        </p:txBody>
      </p:sp>
      <p:sp>
        <p:nvSpPr>
          <p:cNvPr id="1522553997" name="sketch line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43278" y="2573755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stroke="1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fill="norm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9921779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30936" y="2886876"/>
            <a:ext cx="3429000" cy="3331044"/>
          </a:xfrm>
        </p:spPr>
        <p:txBody>
          <a:bodyPr anchor="t">
            <a:normAutofit lnSpcReduction="10000"/>
          </a:bodyPr>
          <a:lstStyle/>
          <a:p>
            <a:pPr>
              <a:defRPr/>
            </a:pPr>
            <a:r>
              <a:rPr lang="pt-BR"/>
              <a:t>A partir das regras de mapeamento estudadas nesta aula, mapeie o MER a seguir para o MR, apresentando o esquema das relações que são originadas</a:t>
            </a:r>
            <a:endParaRPr/>
          </a:p>
          <a:p>
            <a:pPr>
              <a:defRPr/>
            </a:pPr>
            <a:endParaRPr lang="pt-BR" sz="2200"/>
          </a:p>
        </p:txBody>
      </p:sp>
      <p:pic>
        <p:nvPicPr>
          <p:cNvPr id="1072312457" name="image30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54296" y="1763478"/>
            <a:ext cx="6903720" cy="33310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112856" name="Título 1"/>
          <p:cNvSpPr>
            <a:spLocks noGrp="1"/>
          </p:cNvSpPr>
          <p:nvPr>
            <p:ph type="title"/>
          </p:nvPr>
        </p:nvSpPr>
        <p:spPr bwMode="auto">
          <a:xfrm>
            <a:off x="838200" y="196314"/>
            <a:ext cx="10515600" cy="49300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/>
              <a:t>Resposta</a:t>
            </a:r>
            <a:endParaRPr/>
          </a:p>
        </p:txBody>
      </p:sp>
      <p:pic>
        <p:nvPicPr>
          <p:cNvPr id="1639397775" name="Espaço Reservado para Conteúdo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1772530" y="844063"/>
            <a:ext cx="8285870" cy="2869808"/>
          </a:xfrm>
          <a:prstGeom prst="rect">
            <a:avLst/>
          </a:prstGeom>
        </p:spPr>
      </p:pic>
      <p:pic>
        <p:nvPicPr>
          <p:cNvPr id="1819131049" name="image33.jpe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772531" y="4075894"/>
            <a:ext cx="8285870" cy="17059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186559" name="Título 1"/>
          <p:cNvSpPr>
            <a:spLocks noGrp="1"/>
          </p:cNvSpPr>
          <p:nvPr>
            <p:ph type="title"/>
          </p:nvPr>
        </p:nvSpPr>
        <p:spPr bwMode="auto">
          <a:xfrm>
            <a:off x="838200" y="285612"/>
            <a:ext cx="10515600" cy="57577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/>
              <a:t>Exercícios 3</a:t>
            </a:r>
            <a:endParaRPr/>
          </a:p>
        </p:txBody>
      </p:sp>
      <p:pic>
        <p:nvPicPr>
          <p:cNvPr id="258719053" name="image2.jpeg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1547446" y="1463039"/>
            <a:ext cx="9284676" cy="4164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92397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Respsota</a:t>
            </a:r>
            <a:endParaRPr lang="pt-BR"/>
          </a:p>
        </p:txBody>
      </p:sp>
      <p:sp>
        <p:nvSpPr>
          <p:cNvPr id="1176609692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Aluno (</a:t>
            </a:r>
            <a:r>
              <a:rPr lang="pt-BR"/>
              <a:t>no_cartao</a:t>
            </a:r>
            <a:r>
              <a:rPr lang="pt-BR"/>
              <a:t>, nome) Prova (</a:t>
            </a:r>
            <a:r>
              <a:rPr lang="pt-BR"/>
              <a:t>no_prova</a:t>
            </a:r>
            <a:r>
              <a:rPr lang="pt-BR"/>
              <a:t>, data)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Questao</a:t>
            </a:r>
            <a:r>
              <a:rPr lang="pt-BR"/>
              <a:t> (</a:t>
            </a:r>
            <a:r>
              <a:rPr lang="pt-BR"/>
              <a:t>no_prova,no_questao</a:t>
            </a:r>
            <a:r>
              <a:rPr lang="pt-BR"/>
              <a:t>, peso) (</a:t>
            </a:r>
            <a:r>
              <a:rPr lang="pt-BR"/>
              <a:t>no_prova</a:t>
            </a:r>
            <a:r>
              <a:rPr lang="pt-BR"/>
              <a:t>) referencia Prova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Nota (</a:t>
            </a:r>
            <a:r>
              <a:rPr lang="pt-BR"/>
              <a:t>no_prova,no_questao,no_cartao</a:t>
            </a:r>
            <a:r>
              <a:rPr lang="pt-BR"/>
              <a:t>, nota) (</a:t>
            </a:r>
            <a:r>
              <a:rPr lang="pt-BR"/>
              <a:t>no_prova,no_questa</a:t>
            </a:r>
            <a:r>
              <a:rPr lang="pt-BR"/>
              <a:t>) referencia </a:t>
            </a:r>
            <a:r>
              <a:rPr lang="pt-BR"/>
              <a:t>Questao</a:t>
            </a:r>
            <a:r>
              <a:rPr lang="pt-BR"/>
              <a:t> (</a:t>
            </a:r>
            <a:r>
              <a:rPr lang="pt-BR"/>
              <a:t>no_cartao</a:t>
            </a:r>
            <a:r>
              <a:rPr lang="pt-BR"/>
              <a:t>) referencia Aluno</a:t>
            </a:r>
            <a:endParaRPr/>
          </a:p>
          <a:p>
            <a:pPr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03216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Exercício</a:t>
            </a:r>
            <a:endParaRPr/>
          </a:p>
        </p:txBody>
      </p:sp>
      <p:pic>
        <p:nvPicPr>
          <p:cNvPr id="1425288779" name="Espaço Reservado para Conteúdo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1913207" y="1941341"/>
            <a:ext cx="8370276" cy="3784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33564" name="Título 1"/>
          <p:cNvSpPr>
            <a:spLocks noGrp="1"/>
          </p:cNvSpPr>
          <p:nvPr>
            <p:ph type="title"/>
          </p:nvPr>
        </p:nvSpPr>
        <p:spPr bwMode="auto">
          <a:xfrm>
            <a:off x="838200" y="131762"/>
            <a:ext cx="10515600" cy="5492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/>
              <a:t>Resposta</a:t>
            </a:r>
            <a:endParaRPr/>
          </a:p>
        </p:txBody>
      </p:sp>
      <p:sp>
        <p:nvSpPr>
          <p:cNvPr id="69460493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838200" y="781878"/>
            <a:ext cx="10515600" cy="539508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pt-BR" sz="2100"/>
              <a:t>Candidato (</a:t>
            </a:r>
            <a:r>
              <a:rPr lang="pt-BR" sz="2100"/>
              <a:t>CPF,NomeCand</a:t>
            </a:r>
            <a:r>
              <a:rPr lang="pt-BR" sz="2100"/>
              <a:t>)</a:t>
            </a:r>
            <a:endParaRPr/>
          </a:p>
          <a:p>
            <a:pPr>
              <a:defRPr/>
            </a:pPr>
            <a:r>
              <a:rPr lang="pt-BR" sz="2100"/>
              <a:t>/* tabela com os dados dos candidatos inscritos para um curso de Pós-Graduação em Computação*/</a:t>
            </a:r>
            <a:endParaRPr/>
          </a:p>
          <a:p>
            <a:pPr>
              <a:defRPr/>
            </a:pPr>
            <a:endParaRPr lang="pt-BR" sz="2100"/>
          </a:p>
          <a:p>
            <a:pPr>
              <a:defRPr/>
            </a:pPr>
            <a:r>
              <a:rPr lang="pt-BR" sz="2100"/>
              <a:t>CandidatoDoutor</a:t>
            </a:r>
            <a:r>
              <a:rPr lang="pt-BR" sz="2100"/>
              <a:t> (</a:t>
            </a:r>
            <a:r>
              <a:rPr lang="pt-BR" sz="2100"/>
              <a:t>CPF,PlanoDeCurso</a:t>
            </a:r>
            <a:r>
              <a:rPr lang="pt-BR" sz="2100"/>
              <a:t>) (CPF) referencia Candidato</a:t>
            </a:r>
            <a:endParaRPr/>
          </a:p>
          <a:p>
            <a:pPr>
              <a:defRPr/>
            </a:pPr>
            <a:r>
              <a:rPr lang="pt-BR" sz="2100"/>
              <a:t>/* tabela com os planos de curso dos candidatos a doutorado*/</a:t>
            </a:r>
            <a:endParaRPr/>
          </a:p>
          <a:p>
            <a:pPr>
              <a:defRPr/>
            </a:pPr>
            <a:endParaRPr lang="pt-BR" sz="2100"/>
          </a:p>
          <a:p>
            <a:pPr>
              <a:defRPr/>
            </a:pPr>
            <a:r>
              <a:rPr lang="pt-BR" sz="2100"/>
              <a:t>Orientador (</a:t>
            </a:r>
            <a:r>
              <a:rPr lang="pt-BR" sz="2100"/>
              <a:t>NoCartao</a:t>
            </a:r>
            <a:r>
              <a:rPr lang="pt-BR" sz="2100"/>
              <a:t>, </a:t>
            </a:r>
            <a:r>
              <a:rPr lang="pt-BR" sz="2100"/>
              <a:t>NomeOrientador</a:t>
            </a:r>
            <a:r>
              <a:rPr lang="pt-BR" sz="2100"/>
              <a:t>)</a:t>
            </a:r>
            <a:endParaRPr/>
          </a:p>
          <a:p>
            <a:pPr>
              <a:defRPr/>
            </a:pPr>
            <a:r>
              <a:rPr lang="pt-BR" sz="2100"/>
              <a:t>/* tabela com dados dos orientadores do curso de Pós-Graduação*/</a:t>
            </a:r>
            <a:endParaRPr/>
          </a:p>
          <a:p>
            <a:pPr>
              <a:defRPr/>
            </a:pPr>
            <a:endParaRPr lang="pt-BR" sz="2100"/>
          </a:p>
          <a:p>
            <a:pPr>
              <a:defRPr/>
            </a:pPr>
            <a:r>
              <a:rPr lang="pt-BR" sz="2100"/>
              <a:t>Indicação (</a:t>
            </a:r>
            <a:r>
              <a:rPr lang="pt-BR" sz="2100"/>
              <a:t>CPF,NoCartao</a:t>
            </a:r>
            <a:r>
              <a:rPr lang="pt-BR" sz="2100"/>
              <a:t>, </a:t>
            </a:r>
            <a:r>
              <a:rPr lang="pt-BR" sz="2100"/>
              <a:t>OrdemPreferencia</a:t>
            </a:r>
            <a:r>
              <a:rPr lang="pt-BR" sz="2100"/>
              <a:t>) (CPF) referencia Candidato</a:t>
            </a:r>
            <a:endParaRPr/>
          </a:p>
          <a:p>
            <a:pPr>
              <a:defRPr/>
            </a:pPr>
            <a:r>
              <a:rPr lang="pt-BR" sz="2100"/>
              <a:t>(</a:t>
            </a:r>
            <a:r>
              <a:rPr lang="pt-BR" sz="2100"/>
              <a:t>NoCartao</a:t>
            </a:r>
            <a:r>
              <a:rPr lang="pt-BR" sz="2100"/>
              <a:t>) </a:t>
            </a:r>
            <a:r>
              <a:rPr lang="pt-BR" sz="2100"/>
              <a:t>refrencia</a:t>
            </a:r>
            <a:r>
              <a:rPr lang="pt-BR" sz="2100"/>
              <a:t> Orientador</a:t>
            </a:r>
            <a:endParaRPr/>
          </a:p>
          <a:p>
            <a:pPr>
              <a:defRPr/>
            </a:pPr>
            <a:r>
              <a:rPr lang="pt-BR" sz="2100"/>
              <a:t>/* tabela com as indicações de orientadores com os quais o Candidato gostaria de</a:t>
            </a:r>
            <a:endParaRPr/>
          </a:p>
          <a:p>
            <a:pPr>
              <a:defRPr/>
            </a:pPr>
            <a:r>
              <a:rPr lang="pt-BR" sz="2100"/>
              <a:t>fazer o curso - a coluna </a:t>
            </a:r>
            <a:r>
              <a:rPr lang="pt-BR" sz="2100"/>
              <a:t>OrdemPreferencia</a:t>
            </a:r>
            <a:r>
              <a:rPr lang="pt-BR" sz="2100"/>
              <a:t> contém um valor de um em diante,</a:t>
            </a:r>
            <a:endParaRPr/>
          </a:p>
          <a:p>
            <a:pPr>
              <a:defRPr/>
            </a:pPr>
            <a:r>
              <a:rPr lang="pt-BR" sz="2100"/>
              <a:t>que ordena as indicações de um candidato por ordem de preferência */</a:t>
            </a:r>
            <a:endParaRPr/>
          </a:p>
          <a:p>
            <a:pPr>
              <a:defRPr/>
            </a:pPr>
            <a:endParaRPr lang="pt-BR" sz="2100"/>
          </a:p>
          <a:p>
            <a:pPr>
              <a:defRPr/>
            </a:pPr>
            <a:r>
              <a:rPr lang="pt-BR" sz="2100"/>
              <a:t>NotaPoscomp</a:t>
            </a:r>
            <a:r>
              <a:rPr lang="pt-BR" sz="2100"/>
              <a:t> (</a:t>
            </a:r>
            <a:r>
              <a:rPr lang="pt-BR" sz="2100"/>
              <a:t>CPF,Ano,Nota</a:t>
            </a:r>
            <a:r>
              <a:rPr lang="pt-BR" sz="2100"/>
              <a:t>) (CPF) referencia Candidato</a:t>
            </a:r>
            <a:endParaRPr/>
          </a:p>
          <a:p>
            <a:pPr>
              <a:defRPr/>
            </a:pPr>
            <a:r>
              <a:rPr lang="pt-BR" sz="2100"/>
              <a:t>/* tabela com as notas que o candidato obteve ao realizar o </a:t>
            </a:r>
            <a:r>
              <a:rPr lang="pt-BR" sz="2100"/>
              <a:t>Poscomp</a:t>
            </a:r>
            <a:r>
              <a:rPr lang="pt-BR" sz="2100"/>
              <a:t> (exame nacional de Pós-Graduação)*/</a:t>
            </a:r>
            <a:endParaRPr/>
          </a:p>
          <a:p>
            <a:pPr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81643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Exercício 2 Faça o ER</a:t>
            </a:r>
            <a:endParaRPr/>
          </a:p>
        </p:txBody>
      </p:sp>
      <p:pic>
        <p:nvPicPr>
          <p:cNvPr id="1020927731" name="Espaço Reservado para Conteúdo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1969477" y="1983545"/>
            <a:ext cx="8412480" cy="3446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68252" name="Título 1"/>
          <p:cNvSpPr>
            <a:spLocks noGrp="1"/>
          </p:cNvSpPr>
          <p:nvPr>
            <p:ph type="title"/>
          </p:nvPr>
        </p:nvSpPr>
        <p:spPr bwMode="auto">
          <a:xfrm>
            <a:off x="838200" y="266652"/>
            <a:ext cx="10515600" cy="60554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/>
              <a:t>Exercício 3 Faça o ER</a:t>
            </a:r>
            <a:endParaRPr/>
          </a:p>
        </p:txBody>
      </p:sp>
      <p:pic>
        <p:nvPicPr>
          <p:cNvPr id="912938055" name="image35.jpeg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838198" y="1125415"/>
            <a:ext cx="10359683" cy="51487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82478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Obrigado</a:t>
            </a:r>
            <a:endParaRPr/>
          </a:p>
        </p:txBody>
      </p:sp>
      <p:sp>
        <p:nvSpPr>
          <p:cNvPr id="1734114806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25796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30130311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48635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060972538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9322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08019007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ONLYOFFICE/9.3.0.140</Application>
  <PresentationFormat>On-screen Show (4:3)</PresentationFormat>
  <Paragraphs>0</Paragraphs>
  <Slides>55</Slides>
  <Notes>55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DERIVANDO O MR A PARTIR DO MER</dc:title>
  <dc:creator>edidio lima</dc:creator>
  <cp:lastModifiedBy/>
  <cp:revision>16</cp:revision>
  <dcterms:created xsi:type="dcterms:W3CDTF">2024-03-13T10:39:08Z</dcterms:created>
  <dcterms:modified xsi:type="dcterms:W3CDTF">2026-09-15T18:11:48Z</dcterms:modified>
</cp:coreProperties>
</file>