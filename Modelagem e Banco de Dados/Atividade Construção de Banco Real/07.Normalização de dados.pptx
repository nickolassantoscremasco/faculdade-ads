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88" r:id="rId4"/>
    <p:sldId id="258" r:id="rId5"/>
    <p:sldId id="289" r:id="rId6"/>
    <p:sldId id="259" r:id="rId7"/>
    <p:sldId id="260" r:id="rId8"/>
    <p:sldId id="261" r:id="rId9"/>
    <p:sldId id="290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87" r:id="rId22"/>
    <p:sldId id="273" r:id="rId23"/>
    <p:sldId id="274" r:id="rId24"/>
    <p:sldId id="275" r:id="rId25"/>
    <p:sldId id="276" r:id="rId26"/>
    <p:sldId id="277" r:id="rId27"/>
    <p:sldId id="278" r:id="rId28"/>
    <p:sldId id="283" r:id="rId29"/>
    <p:sldId id="284" r:id="rId30"/>
    <p:sldId id="291" r:id="rId31"/>
    <p:sldId id="279" r:id="rId32"/>
    <p:sldId id="280" r:id="rId33"/>
    <p:sldId id="281" r:id="rId34"/>
    <p:sldId id="282" r:id="rId35"/>
    <p:sldId id="285" r:id="rId36"/>
    <p:sldId id="286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69" d="100"/>
          <a:sy n="69" d="100"/>
        </p:scale>
        <p:origin x="5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7FB0BF-580B-8FA6-EC6F-D67D83E841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9A0A4E9-EB13-E56A-0D58-B63CA6F0C8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8B88D2-B513-91E4-BD02-AA487C804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11498-464F-4050-8021-693C66215B96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D49AE46-1A02-45E2-44F9-B7F4655EA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32C17C7-1590-22FC-898B-ABC09362B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C3A6C-4B14-40E9-BF89-1F064787EB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9406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D7456C-D6BC-11E6-124C-940477A36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A188DF2-6068-8ED0-647B-7AF046799E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931EE0D-106B-D529-58C6-74C285808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11498-464F-4050-8021-693C66215B96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12A60FE-4EF5-84E9-03AF-52A586054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E49CE5E-FB7E-79CF-F207-762A9EBED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C3A6C-4B14-40E9-BF89-1F064787EB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1746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8F4501-5202-42E5-58A0-2D830FC79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DF435CA-3610-F352-981A-17E76052EB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189B5E7-E2E9-C0A8-940F-40294CBEF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11498-464F-4050-8021-693C66215B96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C5E8065-DBC3-CC8C-4D6D-AAF26C36E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4DC3B68-E6DF-D323-ED3D-70391898C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C3A6C-4B14-40E9-BF89-1F064787EB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1835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A8D482-E31C-653A-688F-1011DF40A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44DEC2F-C7DB-AA24-833C-5607F271B4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9DEA3B8-80EC-7E77-3F07-E576A4BFC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015A077-3875-D3E9-8A5C-36F5A8D60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11498-464F-4050-8021-693C66215B96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883BB1A-D0BD-E7E8-CDB1-C26D56BCE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FB5C786-A9DC-0D20-2177-4893CC9C8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C3A6C-4B14-40E9-BF89-1F064787EB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8836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E522FB-AFB5-3447-FBEF-341F9619A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11C016-D7BF-064E-A8BF-D15725A25B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603672B-8172-64E6-B216-49C6399A3E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9C89C3D-39B8-3277-6AAD-AC8574B9AF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66ADB44-8176-F86F-3074-F5852E7BF4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C8B4EA8-4884-0D68-5204-7F9ECE80D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11498-464F-4050-8021-693C66215B96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9FCA403-4F80-4169-2FC2-459A0633C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B079A38-628B-D2B1-2B1B-0E4A52618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C3A6C-4B14-40E9-BF89-1F064787EB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6110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FA5ED7-33F6-9F3A-BEFC-5A9920FB5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F616A60-A699-E17E-ED88-237A8A210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11498-464F-4050-8021-693C66215B96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EA534F7-7908-199A-5C84-48B854DCD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35F144A-070C-9E47-B54A-F4215EC3D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C3A6C-4B14-40E9-BF89-1F064787EB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8129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3867919-C11A-70AD-12B3-AE4B16DA7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11498-464F-4050-8021-693C66215B96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CF9001C-F83E-016C-7F30-4F674BBD8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FFB1936-BDB7-09FD-92D5-77C14B513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C3A6C-4B14-40E9-BF89-1F064787EB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6881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BE3764-7837-07B2-5DB8-2BC39835E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8F62685-FE9A-E8CB-01C6-935C7F8EFF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1A2D9D3-0C72-950F-34DD-AF70F53342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8DF9EB4-F323-7624-8ACB-E44A61C7B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11498-464F-4050-8021-693C66215B96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DEA8B72-1235-AC71-BE21-45630C645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4B414BE-C39B-6356-E4CF-C2784E2D0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C3A6C-4B14-40E9-BF89-1F064787EB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669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D5EB7C-CB13-FA25-2B8F-D48F6788E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6AF1ACB-E205-7E7C-C144-A05317180B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EAF12E4-12B7-924D-D1A6-4BD960BB1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53F9281-5800-ABDF-EDD3-F3D9C025B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11498-464F-4050-8021-693C66215B96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77AEF13-61C3-F535-B7B2-1D7F80748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2C8AD3E-2AB8-ABC6-37C1-B90EA2E56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C3A6C-4B14-40E9-BF89-1F064787EB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0569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3C428A-7CA7-3776-9430-DB08AB4AF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C23C125-8A7F-5594-5790-A94BA46CF8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4CB785B-E317-6141-E1D4-732F52EFC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11498-464F-4050-8021-693C66215B96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7303B33-BF0A-5566-2F9E-DD38A6548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DE95D4B-6DB7-3301-3D43-39460D264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C3A6C-4B14-40E9-BF89-1F064787EB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199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3F8C41E-7AED-75D4-DBAF-E059B63249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A6D426F-9F35-7862-6409-182A1F4ADD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929B1F-B649-BD70-72D8-974DA6A85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11498-464F-4050-8021-693C66215B96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568ED22-D5F9-333E-03FF-7726CAE7B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61352F4-3436-E75C-2238-B3DA8E34B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C3A6C-4B14-40E9-BF89-1F064787EB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6102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4B2B972-27B3-5C62-4D3F-C52D16D6E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66115F1-E1F1-7058-4829-7BB1296587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3F69413-015F-3C91-7BA4-AD34B7415D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D11498-464F-4050-8021-693C66215B96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FEB24A5-B37E-AEB9-0F03-7661B7580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55D3BD8-683C-3D48-D67F-7D11D720FA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AC3A6C-4B14-40E9-BF89-1F064787EB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1457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D2DB67-CFE1-3C2E-D67D-7F32D944D5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Normalização de dados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A43449-2F00-6B2A-871F-FFE8569F97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Edídio</a:t>
            </a:r>
          </a:p>
        </p:txBody>
      </p:sp>
    </p:spTree>
    <p:extLst>
      <p:ext uri="{BB962C8B-B14F-4D97-AF65-F5344CB8AC3E}">
        <p14:creationId xmlns:p14="http://schemas.microsoft.com/office/powerpoint/2010/main" val="1642952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2A8433-1B2D-61FC-E4E3-5F82CF708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1275"/>
            <a:ext cx="10515600" cy="469762"/>
          </a:xfrm>
        </p:spPr>
        <p:txBody>
          <a:bodyPr>
            <a:normAutofit fontScale="90000"/>
          </a:bodyPr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0E8F477-EEB8-518B-5CAD-93A12029D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34887"/>
            <a:ext cx="10515600" cy="5811838"/>
          </a:xfrm>
        </p:spPr>
        <p:txBody>
          <a:bodyPr>
            <a:normAutofit/>
          </a:bodyPr>
          <a:lstStyle/>
          <a:p>
            <a:r>
              <a:rPr lang="pt-BR" dirty="0"/>
              <a:t>Projetar um banco de dados relacional significa agrupar </a:t>
            </a:r>
            <a:r>
              <a:rPr lang="pt-BR" b="1" dirty="0">
                <a:solidFill>
                  <a:srgbClr val="FF0000"/>
                </a:solidFill>
              </a:rPr>
              <a:t>atributos</a:t>
            </a:r>
            <a:r>
              <a:rPr lang="pt-BR" dirty="0"/>
              <a:t> para formar bons esquemas de </a:t>
            </a:r>
            <a:r>
              <a:rPr lang="pt-BR" b="1" dirty="0">
                <a:solidFill>
                  <a:srgbClr val="FF0000"/>
                </a:solidFill>
              </a:rPr>
              <a:t>relações(Tabelas/Bancos). </a:t>
            </a:r>
          </a:p>
          <a:p>
            <a:r>
              <a:rPr lang="pt-BR" dirty="0"/>
              <a:t>Mas o que seria um bom esquema? </a:t>
            </a:r>
          </a:p>
          <a:p>
            <a:r>
              <a:rPr lang="pt-BR" dirty="0"/>
              <a:t>Em nível geral, poderíamos dizer que seria um esquema fácil de entender e em que as </a:t>
            </a:r>
            <a:r>
              <a:rPr lang="pt-BR" dirty="0">
                <a:solidFill>
                  <a:srgbClr val="FF0000"/>
                </a:solidFill>
              </a:rPr>
              <a:t>tuplas(linhas) </a:t>
            </a:r>
            <a:r>
              <a:rPr lang="pt-BR" dirty="0"/>
              <a:t>da </a:t>
            </a:r>
            <a:r>
              <a:rPr lang="pt-BR" dirty="0">
                <a:solidFill>
                  <a:srgbClr val="FF0000"/>
                </a:solidFill>
              </a:rPr>
              <a:t>relação(tabela/banco) </a:t>
            </a:r>
            <a:r>
              <a:rPr lang="pt-BR" dirty="0"/>
              <a:t>fossem armazenadas e acessadas de forma eficiente</a:t>
            </a:r>
            <a:r>
              <a:rPr lang="pt-BR" dirty="0">
                <a:solidFill>
                  <a:srgbClr val="FF0000"/>
                </a:solidFill>
              </a:rPr>
              <a:t>(fazer operações). </a:t>
            </a:r>
          </a:p>
          <a:p>
            <a:r>
              <a:rPr lang="pt-BR" dirty="0"/>
              <a:t>Para isso, é preciso que sejam minimizadas, ao máximo, </a:t>
            </a:r>
            <a:r>
              <a:rPr lang="pt-BR" b="1" dirty="0">
                <a:solidFill>
                  <a:srgbClr val="FF0000"/>
                </a:solidFill>
              </a:rPr>
              <a:t>a redundância(repetição) nos dados e as anomalias de inserção, atualização e exclusão, ou seja, fazer operações erradas devido ao erro nas tabelas elaboradas.</a:t>
            </a:r>
            <a:r>
              <a:rPr lang="pt-B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66097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ABF0CF-FE6C-6931-B2FC-627534244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1ABC5C-303F-0D63-8569-E1298CCFA1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Além disso, é preciso garantir a integridade dos dados, evitando que informações sem sentido sejam inseridas e é preciso organizar e dividir as tabelas da forma mais eficiente possível. </a:t>
            </a:r>
          </a:p>
          <a:p>
            <a:r>
              <a:rPr lang="pt-BR" b="1" dirty="0">
                <a:solidFill>
                  <a:srgbClr val="FF0000"/>
                </a:solidFill>
              </a:rPr>
              <a:t>Dividir tabelas? Várias tabelas são melhores de gerenciar que apenas uma.</a:t>
            </a:r>
          </a:p>
          <a:p>
            <a:r>
              <a:rPr lang="pt-BR" dirty="0"/>
              <a:t>Uma forma de colaborar com essas necessidades é fazer a normalização dos dados.</a:t>
            </a:r>
          </a:p>
          <a:p>
            <a:r>
              <a:rPr lang="pt-BR" dirty="0"/>
              <a:t>Esse é justamente o assunto desta aula.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85969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116DC4-0F18-0A04-E169-B2A68537D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5494"/>
            <a:ext cx="10515600" cy="524436"/>
          </a:xfrm>
        </p:spPr>
        <p:txBody>
          <a:bodyPr>
            <a:normAutofit fontScale="90000"/>
          </a:bodyPr>
          <a:lstStyle/>
          <a:p>
            <a:r>
              <a:rPr lang="pt-BR" dirty="0"/>
              <a:t>O QUE É NORMALIZAÇÃO?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918B67-E92C-666D-D500-735A96572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3000"/>
            <a:ext cx="10515600" cy="5033963"/>
          </a:xfrm>
        </p:spPr>
        <p:txBody>
          <a:bodyPr>
            <a:normAutofit/>
          </a:bodyPr>
          <a:lstStyle/>
          <a:p>
            <a:r>
              <a:rPr lang="pt-BR" dirty="0"/>
              <a:t>Processo de análise de determinados esquemas de relações com base em suas dependências funcionais e chaves primárias para alcançar as propriedades desejáveis de: </a:t>
            </a:r>
          </a:p>
          <a:p>
            <a:r>
              <a:rPr lang="pt-BR" b="1" dirty="0">
                <a:solidFill>
                  <a:srgbClr val="FF0000"/>
                </a:solidFill>
              </a:rPr>
              <a:t>(1) minimização de redundâncias e </a:t>
            </a:r>
          </a:p>
          <a:p>
            <a:r>
              <a:rPr lang="pt-BR" b="1" dirty="0">
                <a:solidFill>
                  <a:srgbClr val="FF0000"/>
                </a:solidFill>
              </a:rPr>
              <a:t>(2) minimização de anomalias de inserção, exclusão e alteração.</a:t>
            </a:r>
          </a:p>
          <a:p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9814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EE1E39-F4AD-6952-5B5E-335001B80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NORMALIZAÇÃO?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8AEB971-C1C0-1B97-8167-605630E88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 Em outras palavras, quando uma tabela não atende ao critério de uma forma normal, sua estrutura é redesenhada através da projeção (jogar para fora) de alguns atributos, levando a construção de novas tabelas contendo algum atributo que possa refazer o conteúdo da tabela original através da junção (reunir) das tabelas resultantes.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48116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AFEB51-F5D7-015D-E275-A6F92ED1B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7889"/>
            <a:ext cx="10515600" cy="576169"/>
          </a:xfrm>
        </p:spPr>
        <p:txBody>
          <a:bodyPr>
            <a:normAutofit fontScale="90000"/>
          </a:bodyPr>
          <a:lstStyle/>
          <a:p>
            <a:r>
              <a:rPr lang="pt-BR" dirty="0"/>
              <a:t>Funções da normalização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3B56942-CEFD-0FBF-9339-E3E93F7F70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3000"/>
            <a:ext cx="10515600" cy="5033963"/>
          </a:xfrm>
        </p:spPr>
        <p:txBody>
          <a:bodyPr/>
          <a:lstStyle/>
          <a:p>
            <a:endParaRPr lang="pt-BR" dirty="0"/>
          </a:p>
          <a:p>
            <a:r>
              <a:rPr lang="pt-BR" dirty="0"/>
              <a:t>Analisar tabelas e organizá-las de forma que a sua estrutura seja simples, relacional e estável, para que o gerenciamento delas possa ser também simples, eficiente e seguro;</a:t>
            </a:r>
          </a:p>
          <a:p>
            <a:pPr lvl="1"/>
            <a:r>
              <a:rPr lang="pt-BR" b="1" dirty="0">
                <a:solidFill>
                  <a:srgbClr val="FF0000"/>
                </a:solidFill>
              </a:rPr>
              <a:t>Evitar a perda e a repetição da informação;</a:t>
            </a:r>
          </a:p>
          <a:p>
            <a:pPr lvl="1"/>
            <a:r>
              <a:rPr lang="pt-BR" b="1" dirty="0">
                <a:solidFill>
                  <a:srgbClr val="FF0000"/>
                </a:solidFill>
              </a:rPr>
              <a:t>Conseguir uma forma de representação adequada para o que se deseja armazenar;</a:t>
            </a:r>
          </a:p>
          <a:p>
            <a:pPr lvl="1"/>
            <a:r>
              <a:rPr lang="pt-BR" sz="2800" b="1" dirty="0">
                <a:solidFill>
                  <a:srgbClr val="FF0000"/>
                </a:solidFill>
              </a:rPr>
              <a:t>Oferecer mecanismos para analisar o projeto do BD (identificação de erros e possibilidades de melhorias) e oferecer métodos para corrigir problemas que, por ventura, sejam encontrados.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27370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33AA60-BE80-7D64-36A5-715266D37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1699"/>
          </a:xfrm>
        </p:spPr>
        <p:txBody>
          <a:bodyPr>
            <a:normAutofit fontScale="90000"/>
          </a:bodyPr>
          <a:lstStyle/>
          <a:p>
            <a:r>
              <a:rPr lang="pt-BR" dirty="0"/>
              <a:t>Para atingir o que?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7C0717-C37E-9022-3518-F266F9A6AF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  <a:p>
            <a:r>
              <a:rPr lang="pt-BR" dirty="0"/>
              <a:t>Garantir a integridade dos dados, </a:t>
            </a:r>
            <a:r>
              <a:rPr lang="pt-BR" b="1" dirty="0">
                <a:solidFill>
                  <a:srgbClr val="FF0000"/>
                </a:solidFill>
              </a:rPr>
              <a:t>evitando que informações sem sentido sejam inseridas no banco de dados;</a:t>
            </a:r>
          </a:p>
          <a:p>
            <a:endParaRPr lang="pt-BR" dirty="0"/>
          </a:p>
          <a:p>
            <a:r>
              <a:rPr lang="pt-BR" b="1" dirty="0">
                <a:solidFill>
                  <a:srgbClr val="FF0000"/>
                </a:solidFill>
              </a:rPr>
              <a:t>Organizar e dividir as tabelas da forma mais eficiente possível, diminuindo a redundância e permitindo a evolução do banco de dados com o mínimo de efeito colateral</a:t>
            </a:r>
            <a:r>
              <a:rPr lang="pt-BR" dirty="0"/>
              <a:t>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45249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54017E-24BB-3A16-88AB-2518F3D53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PRIMEIRA FORMA NORMAL (1FN)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61B8F31-E757-1D13-E1A3-04BBE6117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Todos os domínios de atributos possuem apenas valores atômicos (indivisíveis), e que o valor de cada atributo na tupla(linha) seja um valor simples(único). </a:t>
            </a:r>
          </a:p>
        </p:txBody>
      </p:sp>
    </p:spTree>
    <p:extLst>
      <p:ext uri="{BB962C8B-B14F-4D97-AF65-F5344CB8AC3E}">
        <p14:creationId xmlns:p14="http://schemas.microsoft.com/office/powerpoint/2010/main" val="4108246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0EE32D-0326-A484-EE65-41FB4C5DB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PRIMEIRA FORMA NORMAL (1FN)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8689EA3-547C-DA1C-93BF-4E1686B532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Ou seja, a 1FN não permite a construção de relações que apresentem atributos compostos (vide o atributo Graus das Lentes na Tabela “Relação Paciente” </a:t>
            </a:r>
            <a:r>
              <a:rPr lang="pt-BR" dirty="0" err="1"/>
              <a:t>proximo</a:t>
            </a:r>
            <a:r>
              <a:rPr lang="pt-BR" dirty="0"/>
              <a:t> slide.) e nem possibilita a existência de atributos multivalorados (vide o atributo Cursos na Tabela “matricula aluno”) em suas tuplas(linhas). </a:t>
            </a:r>
          </a:p>
          <a:p>
            <a:r>
              <a:rPr lang="pt-BR" dirty="0"/>
              <a:t>Os únicos valores de atributos permitidos devem ser simples e atômicos.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062486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6C6AE2-EF19-1E16-59DD-8AB431672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6099"/>
            <a:ext cx="10515600" cy="795476"/>
          </a:xfrm>
        </p:spPr>
        <p:txBody>
          <a:bodyPr/>
          <a:lstStyle/>
          <a:p>
            <a:r>
              <a:rPr lang="pt-BR" dirty="0"/>
              <a:t>Relação Paciente(atributos compostos)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00BC9CC4-F6E4-BFA6-82F6-942E09486E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656587"/>
              </p:ext>
            </p:extLst>
          </p:nvPr>
        </p:nvGraphicFramePr>
        <p:xfrm>
          <a:off x="1470992" y="2014329"/>
          <a:ext cx="9024730" cy="3207028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2216900">
                  <a:extLst>
                    <a:ext uri="{9D8B030D-6E8A-4147-A177-3AD203B41FA5}">
                      <a16:colId xmlns:a16="http://schemas.microsoft.com/office/drawing/2014/main" val="4166256314"/>
                    </a:ext>
                  </a:extLst>
                </a:gridCol>
                <a:gridCol w="2274462">
                  <a:extLst>
                    <a:ext uri="{9D8B030D-6E8A-4147-A177-3AD203B41FA5}">
                      <a16:colId xmlns:a16="http://schemas.microsoft.com/office/drawing/2014/main" val="187910985"/>
                    </a:ext>
                  </a:extLst>
                </a:gridCol>
                <a:gridCol w="2493819">
                  <a:extLst>
                    <a:ext uri="{9D8B030D-6E8A-4147-A177-3AD203B41FA5}">
                      <a16:colId xmlns:a16="http://schemas.microsoft.com/office/drawing/2014/main" val="4029865010"/>
                    </a:ext>
                  </a:extLst>
                </a:gridCol>
                <a:gridCol w="2039549">
                  <a:extLst>
                    <a:ext uri="{9D8B030D-6E8A-4147-A177-3AD203B41FA5}">
                      <a16:colId xmlns:a16="http://schemas.microsoft.com/office/drawing/2014/main" val="911620206"/>
                    </a:ext>
                  </a:extLst>
                </a:gridCol>
              </a:tblGrid>
              <a:tr h="801757">
                <a:tc>
                  <a:txBody>
                    <a:bodyPr/>
                    <a:lstStyle/>
                    <a:p>
                      <a:pPr marL="255270" algn="l">
                        <a:spcBef>
                          <a:spcPts val="625"/>
                        </a:spcBef>
                      </a:pPr>
                      <a:r>
                        <a:rPr lang="pt-PT" sz="2400" b="1" u="sng">
                          <a:solidFill>
                            <a:srgbClr val="FFFFFF"/>
                          </a:solidFill>
                          <a:effectLst/>
                          <a:uFill>
                            <a:solidFill>
                              <a:srgbClr val="FFFFFF"/>
                            </a:solidFill>
                          </a:uFill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CPF</a:t>
                      </a:r>
                      <a:r>
                        <a:rPr lang="pt-PT" sz="2400" b="1" spc="-1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PT" sz="24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(PK)</a:t>
                      </a:r>
                      <a:endParaRPr lang="pt-BR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141605" marR="125095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4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Nome</a:t>
                      </a:r>
                      <a:endParaRPr lang="pt-BR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113665" marR="10287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4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Tipo_Sanguineo</a:t>
                      </a:r>
                      <a:endParaRPr lang="pt-BR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6731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4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Graus_Lentes</a:t>
                      </a:r>
                      <a:endParaRPr lang="pt-BR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3876982"/>
                  </a:ext>
                </a:extLst>
              </a:tr>
              <a:tr h="801757">
                <a:tc>
                  <a:txBody>
                    <a:bodyPr/>
                    <a:lstStyle/>
                    <a:p>
                      <a:pPr marL="278765" algn="l">
                        <a:spcBef>
                          <a:spcPts val="625"/>
                        </a:spcBef>
                      </a:pPr>
                      <a:r>
                        <a:rPr lang="pt-PT" sz="2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123456</a:t>
                      </a:r>
                      <a:endParaRPr lang="pt-BR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141605" marR="12446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Jonas</a:t>
                      </a:r>
                      <a:r>
                        <a:rPr lang="pt-PT" sz="2400" spc="-15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PT" sz="2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Borges</a:t>
                      </a:r>
                      <a:endParaRPr lang="pt-BR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113665" marR="102235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AB+</a:t>
                      </a:r>
                      <a:endParaRPr lang="pt-BR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6731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0.25, 0.50</a:t>
                      </a:r>
                      <a:endParaRPr lang="pt-BR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138504"/>
                  </a:ext>
                </a:extLst>
              </a:tr>
              <a:tr h="801757">
                <a:tc>
                  <a:txBody>
                    <a:bodyPr/>
                    <a:lstStyle/>
                    <a:p>
                      <a:pPr marL="278765" algn="l">
                        <a:spcBef>
                          <a:spcPts val="625"/>
                        </a:spcBef>
                      </a:pPr>
                      <a:r>
                        <a:rPr lang="pt-PT" sz="2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987659</a:t>
                      </a:r>
                      <a:endParaRPr lang="pt-BR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141605" marR="12573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Cássia</a:t>
                      </a:r>
                      <a:r>
                        <a:rPr lang="pt-PT" sz="2400" spc="-25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PT" sz="2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Lima</a:t>
                      </a:r>
                      <a:endParaRPr lang="pt-BR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113665" marR="102235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O-</a:t>
                      </a:r>
                      <a:endParaRPr lang="pt-BR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6731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1.0,0.5</a:t>
                      </a:r>
                      <a:endParaRPr lang="pt-BR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2373977"/>
                  </a:ext>
                </a:extLst>
              </a:tr>
              <a:tr h="801757">
                <a:tc>
                  <a:txBody>
                    <a:bodyPr/>
                    <a:lstStyle/>
                    <a:p>
                      <a:pPr marL="278765" algn="l">
                        <a:spcBef>
                          <a:spcPts val="625"/>
                        </a:spcBef>
                      </a:pPr>
                      <a:r>
                        <a:rPr lang="pt-PT" sz="2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007543</a:t>
                      </a:r>
                      <a:endParaRPr lang="pt-BR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141605" marR="125095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Túlio</a:t>
                      </a:r>
                      <a:r>
                        <a:rPr lang="pt-PT" sz="2400" spc="-35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PT" sz="2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Gomes</a:t>
                      </a:r>
                      <a:endParaRPr lang="pt-BR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113665" marR="102235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A+</a:t>
                      </a:r>
                      <a:endParaRPr lang="pt-BR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6731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4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0.0,0.25</a:t>
                      </a:r>
                      <a:endParaRPr lang="pt-BR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920265"/>
                  </a:ext>
                </a:extLst>
              </a:tr>
            </a:tbl>
          </a:graphicData>
        </a:graphic>
      </p:graphicFrame>
      <p:sp>
        <p:nvSpPr>
          <p:cNvPr id="5" name="Raio 4">
            <a:extLst>
              <a:ext uri="{FF2B5EF4-FFF2-40B4-BE49-F238E27FC236}">
                <a16:creationId xmlns:a16="http://schemas.microsoft.com/office/drawing/2014/main" id="{976EA20E-C269-6ABE-FF05-C41895EC9398}"/>
              </a:ext>
            </a:extLst>
          </p:cNvPr>
          <p:cNvSpPr/>
          <p:nvPr/>
        </p:nvSpPr>
        <p:spPr>
          <a:xfrm>
            <a:off x="8653670" y="829297"/>
            <a:ext cx="689113" cy="1060174"/>
          </a:xfrm>
          <a:prstGeom prst="lightningBol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66429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053D5F-2183-B95C-7B99-A37AEBBEE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6099"/>
            <a:ext cx="10515600" cy="628788"/>
          </a:xfrm>
        </p:spPr>
        <p:txBody>
          <a:bodyPr>
            <a:normAutofit fontScale="90000"/>
          </a:bodyPr>
          <a:lstStyle/>
          <a:p>
            <a:r>
              <a:rPr lang="pt-BR" dirty="0"/>
              <a:t>Matricula aluno(atributos multivalorados)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F60F2120-AAC7-76D7-9FFA-0AAC716D70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2154208"/>
              </p:ext>
            </p:extLst>
          </p:nvPr>
        </p:nvGraphicFramePr>
        <p:xfrm>
          <a:off x="1696278" y="2385391"/>
          <a:ext cx="8189842" cy="3021496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2094870">
                  <a:extLst>
                    <a:ext uri="{9D8B030D-6E8A-4147-A177-3AD203B41FA5}">
                      <a16:colId xmlns:a16="http://schemas.microsoft.com/office/drawing/2014/main" val="2334533413"/>
                    </a:ext>
                  </a:extLst>
                </a:gridCol>
                <a:gridCol w="2149264">
                  <a:extLst>
                    <a:ext uri="{9D8B030D-6E8A-4147-A177-3AD203B41FA5}">
                      <a16:colId xmlns:a16="http://schemas.microsoft.com/office/drawing/2014/main" val="2658413253"/>
                    </a:ext>
                  </a:extLst>
                </a:gridCol>
                <a:gridCol w="3945708">
                  <a:extLst>
                    <a:ext uri="{9D8B030D-6E8A-4147-A177-3AD203B41FA5}">
                      <a16:colId xmlns:a16="http://schemas.microsoft.com/office/drawing/2014/main" val="599183432"/>
                    </a:ext>
                  </a:extLst>
                </a:gridCol>
              </a:tblGrid>
              <a:tr h="755374">
                <a:tc>
                  <a:txBody>
                    <a:bodyPr/>
                    <a:lstStyle/>
                    <a:p>
                      <a:pPr marL="153670" marR="14097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400" b="1" u="sng" dirty="0">
                          <a:solidFill>
                            <a:srgbClr val="FFFFFF"/>
                          </a:solidFill>
                          <a:effectLst/>
                          <a:uFill>
                            <a:solidFill>
                              <a:srgbClr val="FFFFFF"/>
                            </a:solidFill>
                          </a:uFill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CPF</a:t>
                      </a:r>
                      <a:r>
                        <a:rPr lang="pt-PT" sz="2400" b="1" spc="-1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PT" sz="24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(PK)</a:t>
                      </a:r>
                      <a:endParaRPr lang="pt-BR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79375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4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Nome</a:t>
                      </a:r>
                      <a:endParaRPr lang="pt-BR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83185" marR="6858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4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Cursos</a:t>
                      </a:r>
                      <a:endParaRPr lang="pt-BR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86234"/>
                  </a:ext>
                </a:extLst>
              </a:tr>
              <a:tr h="755374">
                <a:tc>
                  <a:txBody>
                    <a:bodyPr/>
                    <a:lstStyle/>
                    <a:p>
                      <a:pPr marL="153670" marR="14097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123456</a:t>
                      </a:r>
                      <a:endParaRPr lang="pt-BR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7874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4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Jonas</a:t>
                      </a:r>
                      <a:r>
                        <a:rPr lang="pt-PT" sz="2400" spc="-15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PT" sz="24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Borges</a:t>
                      </a:r>
                      <a:endParaRPr lang="pt-BR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83185" marR="6858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400" spc="-5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Programador,</a:t>
                      </a:r>
                      <a:r>
                        <a:rPr lang="pt-PT" sz="2400" spc="-35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PT" sz="2400" spc="-5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Arquiteto</a:t>
                      </a:r>
                      <a:endParaRPr lang="pt-BR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5818722"/>
                  </a:ext>
                </a:extLst>
              </a:tr>
              <a:tr h="755374">
                <a:tc>
                  <a:txBody>
                    <a:bodyPr/>
                    <a:lstStyle/>
                    <a:p>
                      <a:pPr marL="153670" marR="14097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987659</a:t>
                      </a:r>
                      <a:endParaRPr lang="pt-BR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8001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Cássia</a:t>
                      </a:r>
                      <a:r>
                        <a:rPr lang="pt-PT" sz="2400" spc="-25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PT" sz="2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Lima</a:t>
                      </a:r>
                      <a:endParaRPr lang="pt-BR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83185" marR="67945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4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Analista</a:t>
                      </a:r>
                      <a:endParaRPr lang="pt-BR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8686036"/>
                  </a:ext>
                </a:extLst>
              </a:tr>
              <a:tr h="755374">
                <a:tc>
                  <a:txBody>
                    <a:bodyPr/>
                    <a:lstStyle/>
                    <a:p>
                      <a:pPr marL="153670" marR="14097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007543</a:t>
                      </a:r>
                      <a:endParaRPr lang="pt-BR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79375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Túlio</a:t>
                      </a:r>
                      <a:r>
                        <a:rPr lang="pt-PT" sz="2400" spc="-35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PT" sz="2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Gomes</a:t>
                      </a:r>
                      <a:endParaRPr lang="pt-BR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83185" marR="6858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400" spc="-5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Operador,</a:t>
                      </a:r>
                      <a:r>
                        <a:rPr lang="pt-PT" sz="2400" spc="-35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PT" sz="2400" spc="-5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Programador,</a:t>
                      </a:r>
                      <a:r>
                        <a:rPr lang="pt-PT" sz="2400" spc="-35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PT" sz="2400" spc="-5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Analista</a:t>
                      </a:r>
                      <a:endParaRPr lang="pt-BR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041038"/>
                  </a:ext>
                </a:extLst>
              </a:tr>
            </a:tbl>
          </a:graphicData>
        </a:graphic>
      </p:graphicFrame>
      <p:sp>
        <p:nvSpPr>
          <p:cNvPr id="5" name="Raio 4">
            <a:extLst>
              <a:ext uri="{FF2B5EF4-FFF2-40B4-BE49-F238E27FC236}">
                <a16:creationId xmlns:a16="http://schemas.microsoft.com/office/drawing/2014/main" id="{A220BFD2-F990-CAC6-D4ED-9A36CBC77901}"/>
              </a:ext>
            </a:extLst>
          </p:cNvPr>
          <p:cNvSpPr/>
          <p:nvPr/>
        </p:nvSpPr>
        <p:spPr>
          <a:xfrm>
            <a:off x="7182678" y="993913"/>
            <a:ext cx="728870" cy="1232452"/>
          </a:xfrm>
          <a:prstGeom prst="lightningBol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77524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C2ED35-3D24-B5B4-821C-6D4DFCDFD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944069" cy="1325563"/>
          </a:xfrm>
        </p:spPr>
        <p:txBody>
          <a:bodyPr>
            <a:normAutofit/>
          </a:bodyPr>
          <a:lstStyle/>
          <a:p>
            <a:r>
              <a:rPr lang="pt-BR" sz="3600" dirty="0"/>
              <a:t>Deixando a tabela paciente na FN1/ atributos compostos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3B1ED75E-6F41-FA92-63A0-A196564FBB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0701444"/>
              </p:ext>
            </p:extLst>
          </p:nvPr>
        </p:nvGraphicFramePr>
        <p:xfrm>
          <a:off x="838199" y="2239617"/>
          <a:ext cx="9204395" cy="2994992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586921">
                  <a:extLst>
                    <a:ext uri="{9D8B030D-6E8A-4147-A177-3AD203B41FA5}">
                      <a16:colId xmlns:a16="http://schemas.microsoft.com/office/drawing/2014/main" val="2267395149"/>
                    </a:ext>
                  </a:extLst>
                </a:gridCol>
                <a:gridCol w="1812386">
                  <a:extLst>
                    <a:ext uri="{9D8B030D-6E8A-4147-A177-3AD203B41FA5}">
                      <a16:colId xmlns:a16="http://schemas.microsoft.com/office/drawing/2014/main" val="3011430681"/>
                    </a:ext>
                  </a:extLst>
                </a:gridCol>
                <a:gridCol w="2022985">
                  <a:extLst>
                    <a:ext uri="{9D8B030D-6E8A-4147-A177-3AD203B41FA5}">
                      <a16:colId xmlns:a16="http://schemas.microsoft.com/office/drawing/2014/main" val="113706284"/>
                    </a:ext>
                  </a:extLst>
                </a:gridCol>
                <a:gridCol w="1811148">
                  <a:extLst>
                    <a:ext uri="{9D8B030D-6E8A-4147-A177-3AD203B41FA5}">
                      <a16:colId xmlns:a16="http://schemas.microsoft.com/office/drawing/2014/main" val="2934800886"/>
                    </a:ext>
                  </a:extLst>
                </a:gridCol>
                <a:gridCol w="1970955">
                  <a:extLst>
                    <a:ext uri="{9D8B030D-6E8A-4147-A177-3AD203B41FA5}">
                      <a16:colId xmlns:a16="http://schemas.microsoft.com/office/drawing/2014/main" val="942436205"/>
                    </a:ext>
                  </a:extLst>
                </a:gridCol>
              </a:tblGrid>
              <a:tr h="748748">
                <a:tc>
                  <a:txBody>
                    <a:bodyPr/>
                    <a:lstStyle/>
                    <a:p>
                      <a:pPr marL="197485" marR="184785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000" b="1" u="sng">
                          <a:solidFill>
                            <a:srgbClr val="FFFFFF"/>
                          </a:solidFill>
                          <a:effectLst/>
                          <a:uFill>
                            <a:solidFill>
                              <a:srgbClr val="FFFFFF"/>
                            </a:solidFill>
                          </a:uFill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CPF</a:t>
                      </a:r>
                      <a:r>
                        <a:rPr lang="pt-PT" sz="2000" b="1" spc="-1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PT" sz="20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(PK)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52400" marR="13970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0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Nome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5095" marR="113665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0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Tipo_Sanguineo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8128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0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Grau_LenteEsq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44780" marR="133985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0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Grau_LenteDir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6824585"/>
                  </a:ext>
                </a:extLst>
              </a:tr>
              <a:tr h="748748">
                <a:tc>
                  <a:txBody>
                    <a:bodyPr/>
                    <a:lstStyle/>
                    <a:p>
                      <a:pPr marL="197485" marR="184785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123456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52400" marR="13970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Jonas</a:t>
                      </a:r>
                      <a:r>
                        <a:rPr lang="pt-PT" sz="2000" spc="-15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PT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Borges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5095" marR="11303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AB+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8128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0.25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44780" marR="133985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0.50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8578471"/>
                  </a:ext>
                </a:extLst>
              </a:tr>
              <a:tr h="748748">
                <a:tc>
                  <a:txBody>
                    <a:bodyPr/>
                    <a:lstStyle/>
                    <a:p>
                      <a:pPr marL="197485" marR="184785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987659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51765" marR="13970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Cássia</a:t>
                      </a:r>
                      <a:r>
                        <a:rPr lang="pt-PT" sz="2000" spc="-25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PT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Lima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5095" marR="11303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O-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8128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44780" marR="133985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0.5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2241357"/>
                  </a:ext>
                </a:extLst>
              </a:tr>
              <a:tr h="748748">
                <a:tc>
                  <a:txBody>
                    <a:bodyPr/>
                    <a:lstStyle/>
                    <a:p>
                      <a:pPr marL="197485" marR="184785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007543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51765" marR="13970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Túlio</a:t>
                      </a:r>
                      <a:r>
                        <a:rPr lang="pt-PT" sz="2000" spc="-35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PT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Gomes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5095" marR="11303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A+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8128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44780" marR="133985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0.25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5093396"/>
                  </a:ext>
                </a:extLst>
              </a:tr>
            </a:tbl>
          </a:graphicData>
        </a:graphic>
      </p:graphicFrame>
      <p:sp>
        <p:nvSpPr>
          <p:cNvPr id="5" name="Smiley 4">
            <a:extLst>
              <a:ext uri="{FF2B5EF4-FFF2-40B4-BE49-F238E27FC236}">
                <a16:creationId xmlns:a16="http://schemas.microsoft.com/office/drawing/2014/main" id="{CB5C133D-9605-DD87-981D-A774283785F5}"/>
              </a:ext>
            </a:extLst>
          </p:cNvPr>
          <p:cNvSpPr/>
          <p:nvPr/>
        </p:nvSpPr>
        <p:spPr>
          <a:xfrm>
            <a:off x="10227799" y="3564145"/>
            <a:ext cx="914400" cy="914400"/>
          </a:xfrm>
          <a:prstGeom prst="smileyFac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31379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0B5D14-FA4A-7AA9-9B18-3B3276421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Deixando a tabela Paciente / atributos multivalorados/ FN1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B9159D61-CDFE-44E6-AAE1-240FC04326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5861439"/>
              </p:ext>
            </p:extLst>
          </p:nvPr>
        </p:nvGraphicFramePr>
        <p:xfrm>
          <a:off x="838200" y="2401903"/>
          <a:ext cx="8274569" cy="3177916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642009">
                  <a:extLst>
                    <a:ext uri="{9D8B030D-6E8A-4147-A177-3AD203B41FA5}">
                      <a16:colId xmlns:a16="http://schemas.microsoft.com/office/drawing/2014/main" val="1016211458"/>
                    </a:ext>
                  </a:extLst>
                </a:gridCol>
                <a:gridCol w="1684643">
                  <a:extLst>
                    <a:ext uri="{9D8B030D-6E8A-4147-A177-3AD203B41FA5}">
                      <a16:colId xmlns:a16="http://schemas.microsoft.com/office/drawing/2014/main" val="3169681526"/>
                    </a:ext>
                  </a:extLst>
                </a:gridCol>
                <a:gridCol w="1605135">
                  <a:extLst>
                    <a:ext uri="{9D8B030D-6E8A-4147-A177-3AD203B41FA5}">
                      <a16:colId xmlns:a16="http://schemas.microsoft.com/office/drawing/2014/main" val="1935799103"/>
                    </a:ext>
                  </a:extLst>
                </a:gridCol>
                <a:gridCol w="1510647">
                  <a:extLst>
                    <a:ext uri="{9D8B030D-6E8A-4147-A177-3AD203B41FA5}">
                      <a16:colId xmlns:a16="http://schemas.microsoft.com/office/drawing/2014/main" val="242799854"/>
                    </a:ext>
                  </a:extLst>
                </a:gridCol>
                <a:gridCol w="1832135">
                  <a:extLst>
                    <a:ext uri="{9D8B030D-6E8A-4147-A177-3AD203B41FA5}">
                      <a16:colId xmlns:a16="http://schemas.microsoft.com/office/drawing/2014/main" val="3299912070"/>
                    </a:ext>
                  </a:extLst>
                </a:gridCol>
              </a:tblGrid>
              <a:tr h="794479">
                <a:tc>
                  <a:txBody>
                    <a:bodyPr/>
                    <a:lstStyle/>
                    <a:p>
                      <a:pPr marL="255270" algn="l">
                        <a:spcBef>
                          <a:spcPts val="625"/>
                        </a:spcBef>
                      </a:pPr>
                      <a:r>
                        <a:rPr lang="pt-PT" sz="2000" b="1" u="sng">
                          <a:solidFill>
                            <a:srgbClr val="FFFFFF"/>
                          </a:solidFill>
                          <a:effectLst/>
                          <a:uFill>
                            <a:solidFill>
                              <a:srgbClr val="FFFFFF"/>
                            </a:solidFill>
                          </a:uFill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CPF</a:t>
                      </a:r>
                      <a:r>
                        <a:rPr lang="pt-PT" sz="2000" b="1" spc="-1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PT" sz="20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(PK)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79375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0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Nome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3190" marR="10922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0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Curso1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6731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0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Curso2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75260" marR="16002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0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Curso3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605038"/>
                  </a:ext>
                </a:extLst>
              </a:tr>
              <a:tr h="794479">
                <a:tc>
                  <a:txBody>
                    <a:bodyPr/>
                    <a:lstStyle/>
                    <a:p>
                      <a:pPr marL="278130" algn="l">
                        <a:spcBef>
                          <a:spcPts val="625"/>
                        </a:spcBef>
                      </a:pPr>
                      <a:r>
                        <a:rPr lang="pt-PT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123456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79375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Jonas</a:t>
                      </a:r>
                      <a:r>
                        <a:rPr lang="pt-PT" sz="2000" spc="-15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PT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Borges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3190" marR="10922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Programador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6731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Arquiteto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75260" marR="16002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000" b="1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Null</a:t>
                      </a:r>
                      <a:endParaRPr lang="pt-BR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81446"/>
                  </a:ext>
                </a:extLst>
              </a:tr>
              <a:tr h="794479">
                <a:tc>
                  <a:txBody>
                    <a:bodyPr/>
                    <a:lstStyle/>
                    <a:p>
                      <a:pPr marL="278765" algn="l">
                        <a:spcBef>
                          <a:spcPts val="625"/>
                        </a:spcBef>
                      </a:pPr>
                      <a:r>
                        <a:rPr lang="pt-PT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987659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8001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Cássia</a:t>
                      </a:r>
                      <a:r>
                        <a:rPr lang="pt-PT" sz="2000" spc="-25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PT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Lima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3190" marR="108585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Analista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6731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000" b="1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Null</a:t>
                      </a:r>
                      <a:endParaRPr lang="pt-BR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75260" marR="16002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000" b="1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Null</a:t>
                      </a:r>
                      <a:endParaRPr lang="pt-BR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414856"/>
                  </a:ext>
                </a:extLst>
              </a:tr>
              <a:tr h="794479">
                <a:tc>
                  <a:txBody>
                    <a:bodyPr/>
                    <a:lstStyle/>
                    <a:p>
                      <a:pPr marL="278765" algn="l">
                        <a:spcBef>
                          <a:spcPts val="625"/>
                        </a:spcBef>
                      </a:pPr>
                      <a:r>
                        <a:rPr lang="pt-PT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007543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79375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Túlio</a:t>
                      </a:r>
                      <a:r>
                        <a:rPr lang="pt-PT" sz="2000" spc="-35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PT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Gomes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3190" marR="10922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Operador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6731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Programador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75260" marR="159385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Analista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7647502"/>
                  </a:ext>
                </a:extLst>
              </a:tr>
            </a:tbl>
          </a:graphicData>
        </a:graphic>
      </p:graphicFrame>
      <p:sp>
        <p:nvSpPr>
          <p:cNvPr id="5" name="Smiley 4">
            <a:extLst>
              <a:ext uri="{FF2B5EF4-FFF2-40B4-BE49-F238E27FC236}">
                <a16:creationId xmlns:a16="http://schemas.microsoft.com/office/drawing/2014/main" id="{7616C355-76FA-57B1-26C0-FA24BBD42214}"/>
              </a:ext>
            </a:extLst>
          </p:cNvPr>
          <p:cNvSpPr/>
          <p:nvPr/>
        </p:nvSpPr>
        <p:spPr>
          <a:xfrm>
            <a:off x="9478997" y="3336235"/>
            <a:ext cx="914400" cy="914400"/>
          </a:xfrm>
          <a:prstGeom prst="smileyFac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78236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AE4854-C1B9-DF11-F093-32FD036BB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4087"/>
          </a:xfrm>
        </p:spPr>
        <p:txBody>
          <a:bodyPr/>
          <a:lstStyle/>
          <a:p>
            <a:r>
              <a:rPr lang="pt-BR" dirty="0"/>
              <a:t>Segunda forma normal 2FN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4EF785-F797-4E01-EB0E-9B65B2F04D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7812"/>
            <a:ext cx="10515600" cy="4859151"/>
          </a:xfrm>
        </p:spPr>
        <p:txBody>
          <a:bodyPr/>
          <a:lstStyle/>
          <a:p>
            <a:endParaRPr lang="pt-BR" dirty="0"/>
          </a:p>
          <a:p>
            <a:r>
              <a:rPr lang="pt-BR" dirty="0"/>
              <a:t>Uma relação está na segunda forma normal quando duas condições são satisfeitas:</a:t>
            </a:r>
          </a:p>
          <a:p>
            <a:pPr lvl="1"/>
            <a:endParaRPr lang="pt-BR" b="1" dirty="0">
              <a:solidFill>
                <a:srgbClr val="FF0000"/>
              </a:solidFill>
            </a:endParaRPr>
          </a:p>
          <a:p>
            <a:pPr lvl="1"/>
            <a:r>
              <a:rPr lang="pt-BR" b="1" dirty="0">
                <a:solidFill>
                  <a:srgbClr val="FF0000"/>
                </a:solidFill>
              </a:rPr>
              <a:t>01. A relação está na primeira forma normal;</a:t>
            </a:r>
          </a:p>
          <a:p>
            <a:pPr lvl="1"/>
            <a:endParaRPr lang="pt-BR" b="1" dirty="0">
              <a:solidFill>
                <a:srgbClr val="FF0000"/>
              </a:solidFill>
            </a:endParaRPr>
          </a:p>
          <a:p>
            <a:pPr lvl="1"/>
            <a:r>
              <a:rPr lang="pt-BR" b="1" dirty="0">
                <a:solidFill>
                  <a:srgbClr val="FF0000"/>
                </a:solidFill>
              </a:rPr>
              <a:t>02. Todos os atributos que não fazem parte da chave-primária dependem funcionalmente de toda a chave primária, ou seja, nenhum dos atributos da relação possui dependência parcial. </a:t>
            </a:r>
          </a:p>
          <a:p>
            <a:pPr lvl="1"/>
            <a:r>
              <a:rPr lang="pt-BR" b="1" dirty="0">
                <a:solidFill>
                  <a:srgbClr val="FF0000"/>
                </a:solidFill>
              </a:rPr>
              <a:t>Em outras palavras, todo atributo A da relação R não é parcialmente dependente da chave-primária de R.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303382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13D62B-8DCF-19A6-A379-DEAB4B373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6753"/>
            <a:ext cx="10515600" cy="489314"/>
          </a:xfrm>
        </p:spPr>
        <p:txBody>
          <a:bodyPr>
            <a:normAutofit fontScale="90000"/>
          </a:bodyPr>
          <a:lstStyle/>
          <a:p>
            <a:r>
              <a:rPr lang="pt-BR"/>
              <a:t>Exemplo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825B6A-746F-17A1-1A14-1439BD90D5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09469"/>
            <a:ext cx="10515600" cy="5412464"/>
          </a:xfrm>
        </p:spPr>
        <p:txBody>
          <a:bodyPr>
            <a:normAutofit fontScale="92500"/>
          </a:bodyPr>
          <a:lstStyle/>
          <a:p>
            <a:r>
              <a:rPr lang="pt-BR" dirty="0"/>
              <a:t>Por exemplo, veja a </a:t>
            </a:r>
            <a:r>
              <a:rPr lang="pt-BR" b="1" dirty="0">
                <a:solidFill>
                  <a:srgbClr val="FF0000"/>
                </a:solidFill>
              </a:rPr>
              <a:t>Relação Alocação(tabela seguinte)</a:t>
            </a:r>
            <a:r>
              <a:rPr lang="pt-BR" dirty="0"/>
              <a:t>. </a:t>
            </a:r>
          </a:p>
          <a:p>
            <a:r>
              <a:rPr lang="pt-BR" dirty="0"/>
              <a:t>Ela possui a chave composta </a:t>
            </a:r>
            <a:r>
              <a:rPr lang="pt-BR" dirty="0" err="1"/>
              <a:t>CPF_Empregdo</a:t>
            </a:r>
            <a:r>
              <a:rPr lang="pt-BR" dirty="0"/>
              <a:t> e </a:t>
            </a:r>
            <a:r>
              <a:rPr lang="pt-BR" dirty="0" err="1"/>
              <a:t>Cod_Projeto</a:t>
            </a:r>
            <a:r>
              <a:rPr lang="pt-BR" dirty="0"/>
              <a:t>. </a:t>
            </a:r>
          </a:p>
          <a:p>
            <a:r>
              <a:rPr lang="pt-BR" dirty="0"/>
              <a:t>Essa relação se encontra na 1FN porque não possui atributos multivalorados ou compostos. </a:t>
            </a:r>
          </a:p>
          <a:p>
            <a:r>
              <a:rPr lang="pt-BR" dirty="0"/>
              <a:t>Porém, não está na 2FN porque o campo </a:t>
            </a:r>
            <a:r>
              <a:rPr lang="pt-BR" dirty="0" err="1"/>
              <a:t>Nome_Empregado</a:t>
            </a:r>
            <a:r>
              <a:rPr lang="pt-BR" dirty="0"/>
              <a:t> depende apenas de parte da chave primária (no caso, do </a:t>
            </a:r>
            <a:r>
              <a:rPr lang="pt-BR" dirty="0" err="1"/>
              <a:t>CPF_Empregado</a:t>
            </a:r>
            <a:r>
              <a:rPr lang="pt-BR" dirty="0"/>
              <a:t>) e o atributo </a:t>
            </a:r>
            <a:r>
              <a:rPr lang="pt-BR" dirty="0" err="1"/>
              <a:t>Nome_Projeto</a:t>
            </a:r>
            <a:r>
              <a:rPr lang="pt-BR" dirty="0"/>
              <a:t> só depende do atributo </a:t>
            </a:r>
            <a:r>
              <a:rPr lang="pt-BR" dirty="0" err="1"/>
              <a:t>Cod_Projeto</a:t>
            </a:r>
            <a:r>
              <a:rPr lang="pt-BR" dirty="0"/>
              <a:t>. </a:t>
            </a:r>
          </a:p>
          <a:p>
            <a:r>
              <a:rPr lang="pt-BR" dirty="0"/>
              <a:t>Apenas o atributo </a:t>
            </a:r>
            <a:r>
              <a:rPr lang="pt-BR" dirty="0" err="1"/>
              <a:t>Horas_Trabalhadas</a:t>
            </a:r>
            <a:r>
              <a:rPr lang="pt-BR" dirty="0"/>
              <a:t> é funcionalmente dependente da chave primária completa (porque para determinar as horas trabalhadas, precisamos saber o CPF do empregado e para qual projeto ele está trabalhando através do código do projeto). </a:t>
            </a:r>
          </a:p>
          <a:p>
            <a:r>
              <a:rPr lang="pt-BR" dirty="0"/>
              <a:t>Dessa forma, como existe dependência parcial, a relação não está na 2FN.</a:t>
            </a:r>
          </a:p>
          <a:p>
            <a:endParaRPr lang="pt-BR" dirty="0"/>
          </a:p>
        </p:txBody>
      </p:sp>
      <p:sp>
        <p:nvSpPr>
          <p:cNvPr id="4" name="Smiley 3">
            <a:extLst>
              <a:ext uri="{FF2B5EF4-FFF2-40B4-BE49-F238E27FC236}">
                <a16:creationId xmlns:a16="http://schemas.microsoft.com/office/drawing/2014/main" id="{B89E83F2-12C1-D33C-ADDF-A4196C59C794}"/>
              </a:ext>
            </a:extLst>
          </p:cNvPr>
          <p:cNvSpPr/>
          <p:nvPr/>
        </p:nvSpPr>
        <p:spPr>
          <a:xfrm>
            <a:off x="5658678" y="2120347"/>
            <a:ext cx="437322" cy="450573"/>
          </a:xfrm>
          <a:prstGeom prst="smileyFac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aio 4">
            <a:extLst>
              <a:ext uri="{FF2B5EF4-FFF2-40B4-BE49-F238E27FC236}">
                <a16:creationId xmlns:a16="http://schemas.microsoft.com/office/drawing/2014/main" id="{AC809ED3-E991-5A1D-70E0-1AD338559540}"/>
              </a:ext>
            </a:extLst>
          </p:cNvPr>
          <p:cNvSpPr/>
          <p:nvPr/>
        </p:nvSpPr>
        <p:spPr>
          <a:xfrm>
            <a:off x="838200" y="3003835"/>
            <a:ext cx="384313" cy="421852"/>
          </a:xfrm>
          <a:prstGeom prst="lightningBol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94037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889257-544C-81F3-0F6B-37D11D261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Relação Alocação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01950F90-51F4-4AA5-B854-B35EC757CC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5081956"/>
              </p:ext>
            </p:extLst>
          </p:nvPr>
        </p:nvGraphicFramePr>
        <p:xfrm>
          <a:off x="838199" y="2293496"/>
          <a:ext cx="10515598" cy="3117952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2121469">
                  <a:extLst>
                    <a:ext uri="{9D8B030D-6E8A-4147-A177-3AD203B41FA5}">
                      <a16:colId xmlns:a16="http://schemas.microsoft.com/office/drawing/2014/main" val="4020215129"/>
                    </a:ext>
                  </a:extLst>
                </a:gridCol>
                <a:gridCol w="1683907">
                  <a:extLst>
                    <a:ext uri="{9D8B030D-6E8A-4147-A177-3AD203B41FA5}">
                      <a16:colId xmlns:a16="http://schemas.microsoft.com/office/drawing/2014/main" val="3845764289"/>
                    </a:ext>
                  </a:extLst>
                </a:gridCol>
                <a:gridCol w="2384007">
                  <a:extLst>
                    <a:ext uri="{9D8B030D-6E8A-4147-A177-3AD203B41FA5}">
                      <a16:colId xmlns:a16="http://schemas.microsoft.com/office/drawing/2014/main" val="1449345073"/>
                    </a:ext>
                  </a:extLst>
                </a:gridCol>
                <a:gridCol w="1921037">
                  <a:extLst>
                    <a:ext uri="{9D8B030D-6E8A-4147-A177-3AD203B41FA5}">
                      <a16:colId xmlns:a16="http://schemas.microsoft.com/office/drawing/2014/main" val="376635082"/>
                    </a:ext>
                  </a:extLst>
                </a:gridCol>
                <a:gridCol w="2405178">
                  <a:extLst>
                    <a:ext uri="{9D8B030D-6E8A-4147-A177-3AD203B41FA5}">
                      <a16:colId xmlns:a16="http://schemas.microsoft.com/office/drawing/2014/main" val="3474854225"/>
                    </a:ext>
                  </a:extLst>
                </a:gridCol>
              </a:tblGrid>
              <a:tr h="897079">
                <a:tc>
                  <a:txBody>
                    <a:bodyPr/>
                    <a:lstStyle/>
                    <a:p>
                      <a:pPr marL="77470" marR="65405" algn="ctr">
                        <a:spcBef>
                          <a:spcPts val="165"/>
                        </a:spcBef>
                        <a:spcAft>
                          <a:spcPts val="0"/>
                        </a:spcAft>
                      </a:pPr>
                      <a:r>
                        <a:rPr lang="pt-PT" sz="2000" b="1" u="sng">
                          <a:solidFill>
                            <a:srgbClr val="FFFFFF"/>
                          </a:solidFill>
                          <a:effectLst/>
                          <a:uFill>
                            <a:solidFill>
                              <a:srgbClr val="FFFFFF"/>
                            </a:solidFill>
                          </a:uFill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CPF_Empregado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77470" marR="65405" algn="ctr">
                        <a:spcBef>
                          <a:spcPts val="305"/>
                        </a:spcBef>
                        <a:spcAft>
                          <a:spcPts val="0"/>
                        </a:spcAft>
                      </a:pPr>
                      <a:r>
                        <a:rPr lang="pt-PT" sz="20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(PK)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69850" marR="57785" algn="ctr">
                        <a:spcBef>
                          <a:spcPts val="165"/>
                        </a:spcBef>
                        <a:spcAft>
                          <a:spcPts val="0"/>
                        </a:spcAft>
                      </a:pPr>
                      <a:r>
                        <a:rPr lang="pt-PT" sz="2000" b="1" u="sng">
                          <a:solidFill>
                            <a:srgbClr val="FFFFFF"/>
                          </a:solidFill>
                          <a:effectLst/>
                          <a:uFill>
                            <a:solidFill>
                              <a:srgbClr val="FFFFFF"/>
                            </a:solidFill>
                          </a:uFill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Cod_Projeto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69850" marR="57785" algn="ctr">
                        <a:spcBef>
                          <a:spcPts val="305"/>
                        </a:spcBef>
                        <a:spcAft>
                          <a:spcPts val="0"/>
                        </a:spcAft>
                      </a:pPr>
                      <a:r>
                        <a:rPr lang="pt-PT" sz="20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(PK)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10"/>
                        </a:spcBef>
                      </a:pPr>
                      <a:r>
                        <a:rPr lang="pt-PT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80010" marR="67945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0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Nome_Empregado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10"/>
                        </a:spcBef>
                      </a:pPr>
                      <a:r>
                        <a:rPr lang="pt-PT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71120" marR="5969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0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Nome_Projeto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10"/>
                        </a:spcBef>
                      </a:pPr>
                      <a:r>
                        <a:rPr lang="pt-PT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70485" marR="5969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0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Horas_Trabalhadas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6799898"/>
                  </a:ext>
                </a:extLst>
              </a:tr>
              <a:tr h="740291">
                <a:tc>
                  <a:txBody>
                    <a:bodyPr/>
                    <a:lstStyle/>
                    <a:p>
                      <a:pPr marL="77470" marR="65405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123456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69850" marR="57785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80010" marR="67945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Ana Maria Gomes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71120" marR="5969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SoftHouse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70485" marR="5969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863364"/>
                  </a:ext>
                </a:extLst>
              </a:tr>
              <a:tr h="740291">
                <a:tc>
                  <a:txBody>
                    <a:bodyPr/>
                    <a:lstStyle/>
                    <a:p>
                      <a:pPr marL="77470" marR="65405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654321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69850" marR="57785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22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80010" marR="67945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José</a:t>
                      </a:r>
                      <a:r>
                        <a:rPr lang="pt-PT" sz="2000" spc="-15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PT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</a:t>
                      </a:r>
                      <a:r>
                        <a:rPr lang="pt-PT" sz="2000" spc="-1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PT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Silva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71120" marR="5969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HardCore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70485" marR="5969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8103108"/>
                  </a:ext>
                </a:extLst>
              </a:tr>
              <a:tr h="740291">
                <a:tc>
                  <a:txBody>
                    <a:bodyPr/>
                    <a:lstStyle/>
                    <a:p>
                      <a:pPr marL="77470" marR="6477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789654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69850" marR="57785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33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80010" marR="6731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Cláudio</a:t>
                      </a:r>
                      <a:r>
                        <a:rPr lang="pt-PT" sz="2000" spc="-25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PT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Alencar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71120" marR="5969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LinuxP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70485" marR="59055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40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9540798"/>
                  </a:ext>
                </a:extLst>
              </a:tr>
            </a:tbl>
          </a:graphicData>
        </a:graphic>
      </p:graphicFrame>
      <p:sp>
        <p:nvSpPr>
          <p:cNvPr id="6" name="Arco 5">
            <a:extLst>
              <a:ext uri="{FF2B5EF4-FFF2-40B4-BE49-F238E27FC236}">
                <a16:creationId xmlns:a16="http://schemas.microsoft.com/office/drawing/2014/main" id="{C6D95B63-58BA-FCB1-DEFC-C3D05642323B}"/>
              </a:ext>
            </a:extLst>
          </p:cNvPr>
          <p:cNvSpPr/>
          <p:nvPr/>
        </p:nvSpPr>
        <p:spPr>
          <a:xfrm>
            <a:off x="3823250" y="1998887"/>
            <a:ext cx="3617843" cy="673796"/>
          </a:xfrm>
          <a:prstGeom prst="arc">
            <a:avLst>
              <a:gd name="adj1" fmla="val 10877666"/>
              <a:gd name="adj2" fmla="val 2085"/>
            </a:avLst>
          </a:prstGeom>
          <a:ln w="5715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Seta: Curva para Cima 6">
            <a:extLst>
              <a:ext uri="{FF2B5EF4-FFF2-40B4-BE49-F238E27FC236}">
                <a16:creationId xmlns:a16="http://schemas.microsoft.com/office/drawing/2014/main" id="{31F39CB4-63B9-6706-CB88-9ED7D0CDAA41}"/>
              </a:ext>
            </a:extLst>
          </p:cNvPr>
          <p:cNvSpPr/>
          <p:nvPr/>
        </p:nvSpPr>
        <p:spPr>
          <a:xfrm>
            <a:off x="2782957" y="5603783"/>
            <a:ext cx="6864626" cy="820945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9617B3DE-8140-C6B5-85D5-1B72CABE3C8F}"/>
              </a:ext>
            </a:extLst>
          </p:cNvPr>
          <p:cNvCxnSpPr/>
          <p:nvPr/>
        </p:nvCxnSpPr>
        <p:spPr>
          <a:xfrm>
            <a:off x="1709530" y="5579165"/>
            <a:ext cx="2451653" cy="0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Arco 9">
            <a:extLst>
              <a:ext uri="{FF2B5EF4-FFF2-40B4-BE49-F238E27FC236}">
                <a16:creationId xmlns:a16="http://schemas.microsoft.com/office/drawing/2014/main" id="{CCDC44A8-B8AA-4E8C-7CC6-62CCD2359648}"/>
              </a:ext>
            </a:extLst>
          </p:cNvPr>
          <p:cNvSpPr/>
          <p:nvPr/>
        </p:nvSpPr>
        <p:spPr>
          <a:xfrm>
            <a:off x="1895061" y="1902719"/>
            <a:ext cx="3233531" cy="769964"/>
          </a:xfrm>
          <a:prstGeom prst="arc">
            <a:avLst>
              <a:gd name="adj1" fmla="val 10752740"/>
              <a:gd name="adj2" fmla="val 0"/>
            </a:avLst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4179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8D7785-458A-37CC-7921-92D4D41D0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203"/>
            <a:ext cx="10515600" cy="579255"/>
          </a:xfrm>
        </p:spPr>
        <p:txBody>
          <a:bodyPr>
            <a:normAutofit fontScale="90000"/>
          </a:bodyPr>
          <a:lstStyle/>
          <a:p>
            <a:r>
              <a:rPr lang="pt-BR" dirty="0"/>
              <a:t>Corrigindo o problema...................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DEC793-0FB8-EC59-1192-BF3047DA0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4243"/>
            <a:ext cx="10515600" cy="5022720"/>
          </a:xfrm>
        </p:spPr>
        <p:txBody>
          <a:bodyPr>
            <a:normAutofit/>
          </a:bodyPr>
          <a:lstStyle/>
          <a:p>
            <a:r>
              <a:rPr lang="pt-BR" dirty="0"/>
              <a:t>1)Para cada atributo que não faça parte da chave primária da relação, analisar se existe dependência parcial da chave primária. Para identificar a dependência parcial de uma coluna em relação à chave primária, deve-se indagar: </a:t>
            </a:r>
          </a:p>
          <a:p>
            <a:r>
              <a:rPr lang="pt-BR" b="1" dirty="0">
                <a:solidFill>
                  <a:srgbClr val="FF0000"/>
                </a:solidFill>
              </a:rPr>
              <a:t>Para que o valor do atributo seja determinado, quais as partes da chave primária que devem ser conhecidas?</a:t>
            </a:r>
          </a:p>
          <a:p>
            <a:r>
              <a:rPr lang="pt-BR" dirty="0"/>
              <a:t>2)Para cada grupo de atributos que tenham a mesma dependência parcial da chave primária, devem-se criar novas relações (tabelas) que terão como chave primária a chave parcial que estava na relação original e todo o grupo de atributos que depende da mesma chave parcial;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151149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51C477-5E12-780C-F9DF-D381AAABC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Corrigindo o problema...................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BC62412-1B6F-B6A6-100E-2852DBAD27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  <a:p>
            <a:r>
              <a:rPr lang="pt-BR" dirty="0"/>
              <a:t>3) Excluir da relação original o grupo de atributos para o qual foi criada uma nova relação;</a:t>
            </a:r>
          </a:p>
          <a:p>
            <a:endParaRPr lang="pt-BR" dirty="0"/>
          </a:p>
          <a:p>
            <a:r>
              <a:rPr lang="pt-BR" dirty="0"/>
              <a:t>4) Repetir esses procedimentos para cada grupo de atributos que tenha dependência parcial da chave primária da relação original, até que todas as relações somente contenham atributos que dependam de toda a chave primária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270627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426B96-DA41-60DD-B9F4-4735012B5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Resolvendo visualmente/Empregado/Projeto/Alocação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7F654605-6610-E413-29AC-5BFE72F9C2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3110141"/>
              </p:ext>
            </p:extLst>
          </p:nvPr>
        </p:nvGraphicFramePr>
        <p:xfrm>
          <a:off x="1462109" y="2014007"/>
          <a:ext cx="3559596" cy="1718545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811924">
                  <a:extLst>
                    <a:ext uri="{9D8B030D-6E8A-4147-A177-3AD203B41FA5}">
                      <a16:colId xmlns:a16="http://schemas.microsoft.com/office/drawing/2014/main" val="403259831"/>
                    </a:ext>
                  </a:extLst>
                </a:gridCol>
                <a:gridCol w="1747672">
                  <a:extLst>
                    <a:ext uri="{9D8B030D-6E8A-4147-A177-3AD203B41FA5}">
                      <a16:colId xmlns:a16="http://schemas.microsoft.com/office/drawing/2014/main" val="444089604"/>
                    </a:ext>
                  </a:extLst>
                </a:gridCol>
              </a:tblGrid>
              <a:tr h="429238">
                <a:tc>
                  <a:txBody>
                    <a:bodyPr/>
                    <a:lstStyle/>
                    <a:p>
                      <a:pPr marL="74295" marR="61595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1400" b="1" u="sng" dirty="0">
                          <a:solidFill>
                            <a:srgbClr val="FFFFFF"/>
                          </a:solidFill>
                          <a:effectLst/>
                          <a:uFill>
                            <a:solidFill>
                              <a:srgbClr val="FFFFFF"/>
                            </a:solidFill>
                          </a:uFill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CPF_Empregado</a:t>
                      </a:r>
                      <a:r>
                        <a:rPr lang="pt-PT" sz="1400" b="1" spc="-3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PT" sz="14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(PK)</a:t>
                      </a:r>
                      <a:endParaRPr lang="pt-B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105410" marR="93345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14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Nome_Empregado</a:t>
                      </a:r>
                      <a:endParaRPr lang="pt-B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9174655"/>
                  </a:ext>
                </a:extLst>
              </a:tr>
              <a:tr h="430831">
                <a:tc>
                  <a:txBody>
                    <a:bodyPr/>
                    <a:lstStyle/>
                    <a:p>
                      <a:pPr marL="74295" marR="61595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14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123456</a:t>
                      </a:r>
                      <a:endParaRPr lang="pt-B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105410" marR="93345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Ana Maria Gomes</a:t>
                      </a:r>
                      <a:endParaRPr lang="pt-B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4161096"/>
                  </a:ext>
                </a:extLst>
              </a:tr>
              <a:tr h="429238">
                <a:tc>
                  <a:txBody>
                    <a:bodyPr/>
                    <a:lstStyle/>
                    <a:p>
                      <a:pPr marL="74295" marR="61595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654321</a:t>
                      </a:r>
                      <a:endParaRPr lang="pt-B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105410" marR="93345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José</a:t>
                      </a:r>
                      <a:r>
                        <a:rPr lang="pt-PT" sz="1400" spc="-15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PT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</a:t>
                      </a:r>
                      <a:r>
                        <a:rPr lang="pt-PT" sz="1400" spc="-1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PT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Silva</a:t>
                      </a:r>
                      <a:endParaRPr lang="pt-B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6242563"/>
                  </a:ext>
                </a:extLst>
              </a:tr>
              <a:tr h="429238">
                <a:tc>
                  <a:txBody>
                    <a:bodyPr/>
                    <a:lstStyle/>
                    <a:p>
                      <a:pPr marL="74295" marR="61595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789654</a:t>
                      </a:r>
                      <a:endParaRPr lang="pt-B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105410" marR="93345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14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Cláudio</a:t>
                      </a:r>
                      <a:r>
                        <a:rPr lang="pt-PT" sz="1400" spc="-25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PT" sz="14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Alencar</a:t>
                      </a:r>
                      <a:endParaRPr lang="pt-B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7077677"/>
                  </a:ext>
                </a:extLst>
              </a:tr>
            </a:tbl>
          </a:graphicData>
        </a:graphic>
      </p:graphicFrame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116C08FB-5F04-ED21-4406-E57FEB49F4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8440344"/>
              </p:ext>
            </p:extLst>
          </p:nvPr>
        </p:nvGraphicFramePr>
        <p:xfrm>
          <a:off x="7278032" y="2018834"/>
          <a:ext cx="3559596" cy="1713716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658852">
                  <a:extLst>
                    <a:ext uri="{9D8B030D-6E8A-4147-A177-3AD203B41FA5}">
                      <a16:colId xmlns:a16="http://schemas.microsoft.com/office/drawing/2014/main" val="411955290"/>
                    </a:ext>
                  </a:extLst>
                </a:gridCol>
                <a:gridCol w="1900744">
                  <a:extLst>
                    <a:ext uri="{9D8B030D-6E8A-4147-A177-3AD203B41FA5}">
                      <a16:colId xmlns:a16="http://schemas.microsoft.com/office/drawing/2014/main" val="3923226752"/>
                    </a:ext>
                  </a:extLst>
                </a:gridCol>
              </a:tblGrid>
              <a:tr h="428429">
                <a:tc>
                  <a:txBody>
                    <a:bodyPr/>
                    <a:lstStyle/>
                    <a:p>
                      <a:pPr marL="73660" marR="61595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1600" b="1" u="sng" dirty="0">
                          <a:solidFill>
                            <a:srgbClr val="FFFFFF"/>
                          </a:solidFill>
                          <a:effectLst/>
                          <a:uFill>
                            <a:solidFill>
                              <a:srgbClr val="FFFFFF"/>
                            </a:solidFill>
                          </a:uFill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Cod_Projeto</a:t>
                      </a:r>
                      <a:r>
                        <a:rPr lang="pt-PT" sz="1600" b="1" spc="-45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PT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(PK)</a:t>
                      </a:r>
                      <a:endParaRPr lang="pt-B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105410" marR="93345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16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Nome_Projeto</a:t>
                      </a:r>
                      <a:endParaRPr lang="pt-B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460648"/>
                  </a:ext>
                </a:extLst>
              </a:tr>
              <a:tr h="428429">
                <a:tc>
                  <a:txBody>
                    <a:bodyPr/>
                    <a:lstStyle/>
                    <a:p>
                      <a:pPr marL="73660" marR="61595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</a:t>
                      </a:r>
                      <a:endParaRPr lang="pt-B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104140" marR="93345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SoftHouse</a:t>
                      </a:r>
                      <a:endParaRPr lang="pt-B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1428910"/>
                  </a:ext>
                </a:extLst>
              </a:tr>
              <a:tr h="428429">
                <a:tc>
                  <a:txBody>
                    <a:bodyPr/>
                    <a:lstStyle/>
                    <a:p>
                      <a:pPr marL="73660" marR="61595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22</a:t>
                      </a:r>
                      <a:endParaRPr lang="pt-B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104775" marR="93345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HardCore</a:t>
                      </a:r>
                      <a:endParaRPr lang="pt-B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7527308"/>
                  </a:ext>
                </a:extLst>
              </a:tr>
              <a:tr h="428429">
                <a:tc>
                  <a:txBody>
                    <a:bodyPr/>
                    <a:lstStyle/>
                    <a:p>
                      <a:pPr marL="73660" marR="61595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33</a:t>
                      </a:r>
                      <a:endParaRPr lang="pt-B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104775" marR="93345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LinuxP</a:t>
                      </a:r>
                      <a:endParaRPr lang="pt-B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0070505"/>
                  </a:ext>
                </a:extLst>
              </a:tr>
            </a:tbl>
          </a:graphicData>
        </a:graphic>
      </p:graphicFrame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4CCD9355-BCAE-388D-B422-6AEF065532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0502625"/>
              </p:ext>
            </p:extLst>
          </p:nvPr>
        </p:nvGraphicFramePr>
        <p:xfrm>
          <a:off x="2655758" y="4452078"/>
          <a:ext cx="6880484" cy="2040797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2461836">
                  <a:extLst>
                    <a:ext uri="{9D8B030D-6E8A-4147-A177-3AD203B41FA5}">
                      <a16:colId xmlns:a16="http://schemas.microsoft.com/office/drawing/2014/main" val="1801890871"/>
                    </a:ext>
                  </a:extLst>
                </a:gridCol>
                <a:gridCol w="2103636">
                  <a:extLst>
                    <a:ext uri="{9D8B030D-6E8A-4147-A177-3AD203B41FA5}">
                      <a16:colId xmlns:a16="http://schemas.microsoft.com/office/drawing/2014/main" val="734649088"/>
                    </a:ext>
                  </a:extLst>
                </a:gridCol>
                <a:gridCol w="2315012">
                  <a:extLst>
                    <a:ext uri="{9D8B030D-6E8A-4147-A177-3AD203B41FA5}">
                      <a16:colId xmlns:a16="http://schemas.microsoft.com/office/drawing/2014/main" val="2997548649"/>
                    </a:ext>
                  </a:extLst>
                </a:gridCol>
              </a:tblGrid>
              <a:tr h="283480">
                <a:tc>
                  <a:txBody>
                    <a:bodyPr/>
                    <a:lstStyle/>
                    <a:p>
                      <a:pPr marL="105410" marR="9271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1600" b="1" u="sng" dirty="0">
                          <a:solidFill>
                            <a:srgbClr val="FFFFFF"/>
                          </a:solidFill>
                          <a:effectLst/>
                          <a:uFill>
                            <a:solidFill>
                              <a:srgbClr val="FFFFFF"/>
                            </a:solidFill>
                          </a:uFill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CPF_Empregado</a:t>
                      </a:r>
                      <a:r>
                        <a:rPr lang="pt-PT" sz="1600" b="1" spc="-3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PT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(PK)</a:t>
                      </a:r>
                      <a:endParaRPr lang="pt-B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71755" marR="5969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Cod_Projeto</a:t>
                      </a:r>
                      <a:r>
                        <a:rPr lang="pt-PT" sz="1600" b="1" spc="-25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PT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(PK)</a:t>
                      </a:r>
                      <a:endParaRPr lang="pt-B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110490" marR="98425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Horas_Trabalhadas</a:t>
                      </a:r>
                      <a:endParaRPr lang="pt-B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5533494"/>
                  </a:ext>
                </a:extLst>
              </a:tr>
              <a:tr h="555149">
                <a:tc>
                  <a:txBody>
                    <a:bodyPr/>
                    <a:lstStyle/>
                    <a:p>
                      <a:pPr marL="105410" marR="92710" algn="ctr">
                        <a:spcBef>
                          <a:spcPts val="480"/>
                        </a:spcBef>
                        <a:spcAft>
                          <a:spcPts val="0"/>
                        </a:spcAft>
                      </a:pPr>
                      <a:r>
                        <a:rPr lang="pt-PT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123456</a:t>
                      </a:r>
                      <a:endParaRPr lang="pt-B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71755" marR="59690" algn="ctr">
                        <a:spcBef>
                          <a:spcPts val="535"/>
                        </a:spcBef>
                        <a:spcAft>
                          <a:spcPts val="0"/>
                        </a:spcAft>
                      </a:pPr>
                      <a:r>
                        <a:rPr lang="pt-PT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</a:t>
                      </a:r>
                      <a:endParaRPr lang="pt-B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109855" marR="98425" algn="ctr">
                        <a:spcBef>
                          <a:spcPts val="535"/>
                        </a:spcBef>
                        <a:spcAft>
                          <a:spcPts val="0"/>
                        </a:spcAft>
                      </a:pPr>
                      <a:r>
                        <a:rPr lang="pt-PT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40</a:t>
                      </a:r>
                      <a:endParaRPr lang="pt-B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6761412"/>
                  </a:ext>
                </a:extLst>
              </a:tr>
              <a:tr h="601084">
                <a:tc>
                  <a:txBody>
                    <a:bodyPr/>
                    <a:lstStyle/>
                    <a:p>
                      <a:pPr marL="105410" marR="92710" algn="ctr">
                        <a:spcBef>
                          <a:spcPts val="565"/>
                        </a:spcBef>
                        <a:spcAft>
                          <a:spcPts val="0"/>
                        </a:spcAft>
                      </a:pPr>
                      <a:r>
                        <a:rPr lang="pt-PT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654321</a:t>
                      </a:r>
                      <a:endParaRPr lang="pt-B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71755" marR="59690" algn="l">
                        <a:spcBef>
                          <a:spcPts val="625"/>
                        </a:spcBef>
                        <a:spcAft>
                          <a:spcPts val="0"/>
                        </a:spcAft>
                        <a:tabLst>
                          <a:tab pos="527050" algn="ctr"/>
                          <a:tab pos="847725" algn="l"/>
                        </a:tabLst>
                      </a:pPr>
                      <a:r>
                        <a:rPr lang="pt-PT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	                   22	</a:t>
                      </a:r>
                      <a:endParaRPr lang="pt-B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109855" marR="98425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</a:t>
                      </a:r>
                      <a:endParaRPr lang="pt-B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684450"/>
                  </a:ext>
                </a:extLst>
              </a:tr>
              <a:tr h="601084">
                <a:tc>
                  <a:txBody>
                    <a:bodyPr/>
                    <a:lstStyle/>
                    <a:p>
                      <a:pPr marL="105410" marR="92710" algn="ctr">
                        <a:spcBef>
                          <a:spcPts val="565"/>
                        </a:spcBef>
                        <a:spcAft>
                          <a:spcPts val="0"/>
                        </a:spcAft>
                      </a:pPr>
                      <a:r>
                        <a:rPr lang="pt-PT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789654</a:t>
                      </a:r>
                      <a:endParaRPr lang="pt-B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71755" marR="5969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33</a:t>
                      </a:r>
                      <a:endParaRPr lang="pt-B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109855" marR="98425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40</a:t>
                      </a:r>
                      <a:endParaRPr lang="pt-B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3569138"/>
                  </a:ext>
                </a:extLst>
              </a:tr>
            </a:tbl>
          </a:graphicData>
        </a:graphic>
      </p:graphicFrame>
      <p:pic>
        <p:nvPicPr>
          <p:cNvPr id="7" name="Gráfico 6" descr="Contorno de rosto de anjo estrutura de tópicos">
            <a:extLst>
              <a:ext uri="{FF2B5EF4-FFF2-40B4-BE49-F238E27FC236}">
                <a16:creationId xmlns:a16="http://schemas.microsoft.com/office/drawing/2014/main" id="{7475761B-A718-146C-88BF-37A8C7A525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38800" y="29718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6111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16B60A-4FA0-F709-60E0-0AEEB495E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pt-BR" sz="5000" dirty="0"/>
              <a:t>TERCEIRA FORMA NORMAL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957E5C5-A381-868E-6E19-C6E0D1F7187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anchor="t">
            <a:normAutofit/>
          </a:bodyPr>
          <a:lstStyle/>
          <a:p>
            <a:r>
              <a:rPr lang="pt-BR" sz="1800" dirty="0"/>
              <a:t>Uma relação está na terceira forma normal quando duas condições são satisfeitas:</a:t>
            </a:r>
          </a:p>
          <a:p>
            <a:pPr lvl="1"/>
            <a:r>
              <a:rPr lang="pt-BR" sz="1800" b="1" dirty="0"/>
              <a:t>A relação está na segunda forma normal; consequentemente também na primeira.</a:t>
            </a:r>
          </a:p>
          <a:p>
            <a:pPr lvl="1"/>
            <a:r>
              <a:rPr lang="pt-BR" sz="1800" b="1" dirty="0"/>
              <a:t>Não existir </a:t>
            </a:r>
            <a:r>
              <a:rPr lang="pt-BR" sz="1800" b="1" i="1" u="sng" dirty="0"/>
              <a:t>dependência transitiva </a:t>
            </a:r>
            <a:r>
              <a:rPr lang="pt-BR" sz="1800" b="1" dirty="0"/>
              <a:t>na relação, ou seja, nenhum dos atributos não chave depende de outro atributo que também não é chave. </a:t>
            </a:r>
          </a:p>
          <a:p>
            <a:pPr lvl="1"/>
            <a:r>
              <a:rPr lang="pt-BR" sz="1800" b="1" dirty="0"/>
              <a:t>Dependência transitiva = tipo de dependência ocorre quando um campo não-chave não depende diretamente da chave primária da tabela (nem mesmo parcialmente), mas depende de um outro campo não-chave na tabela.</a:t>
            </a:r>
          </a:p>
          <a:p>
            <a:pPr lvl="1"/>
            <a:endParaRPr lang="pt-BR" sz="1800" b="1" dirty="0"/>
          </a:p>
          <a:p>
            <a:endParaRPr lang="pt-BR" sz="1500" dirty="0"/>
          </a:p>
        </p:txBody>
      </p:sp>
      <p:sp>
        <p:nvSpPr>
          <p:cNvPr id="9" name="Espaço Reservado para Conteúdo 8">
            <a:extLst>
              <a:ext uri="{FF2B5EF4-FFF2-40B4-BE49-F238E27FC236}">
                <a16:creationId xmlns:a16="http://schemas.microsoft.com/office/drawing/2014/main" id="{2863189C-5901-BFD4-89CB-852738892F1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537F554-F856-BA0D-F6D9-CFBC8D688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933731"/>
            <a:ext cx="5181600" cy="261959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2729E944-F4A9-19FA-F777-804B9DC378CE}"/>
              </a:ext>
            </a:extLst>
          </p:cNvPr>
          <p:cNvSpPr txBox="1"/>
          <p:nvPr/>
        </p:nvSpPr>
        <p:spPr>
          <a:xfrm>
            <a:off x="6208396" y="4661433"/>
            <a:ext cx="51454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Nome_Vendedor</a:t>
            </a:r>
            <a:r>
              <a:rPr lang="pt-BR" dirty="0"/>
              <a:t> depende funcionalmente do </a:t>
            </a:r>
            <a:r>
              <a:rPr lang="pt-BR" dirty="0" err="1"/>
              <a:t>Cód_Vendedor</a:t>
            </a:r>
            <a:r>
              <a:rPr lang="pt-BR" dirty="0"/>
              <a:t>, que não é chave primária na tabela. Já o campo </a:t>
            </a:r>
            <a:r>
              <a:rPr lang="pt-BR" dirty="0" err="1"/>
              <a:t>Prazo_Entrega</a:t>
            </a:r>
            <a:r>
              <a:rPr lang="pt-BR" dirty="0"/>
              <a:t> depende da PK, </a:t>
            </a:r>
            <a:r>
              <a:rPr lang="pt-BR" dirty="0" err="1"/>
              <a:t>Num_Pedido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590628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0FD53B-1E1B-6DD3-061D-E2B755F7F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TERCEIRA FORMA NORMAL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32934F8-BEDC-789A-EDA6-4256357DC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solidFill>
                  <a:srgbClr val="FF0000"/>
                </a:solidFill>
              </a:rPr>
              <a:t>Ou seja, se todos os atributos dependerem completa e exclusivamente da chave primária. </a:t>
            </a:r>
          </a:p>
          <a:p>
            <a:r>
              <a:rPr lang="pt-BR" dirty="0">
                <a:solidFill>
                  <a:srgbClr val="FF0000"/>
                </a:solidFill>
              </a:rPr>
              <a:t>Ou ainda, se não houver relação de identificação entre os atributos que não façam parte da chave primária (dependência transitiva).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713420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5BAB56-F5EF-E4A2-D299-B9CB25C15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792"/>
            <a:ext cx="10515600" cy="594245"/>
          </a:xfrm>
        </p:spPr>
        <p:txBody>
          <a:bodyPr>
            <a:normAutofit fontScale="90000"/>
          </a:bodyPr>
          <a:lstStyle/>
          <a:p>
            <a:r>
              <a:rPr lang="pt-BR" dirty="0"/>
              <a:t>Outo exemplo.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E36A190-0C51-D79F-24F3-B9C896882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4361"/>
            <a:ext cx="10515600" cy="5202602"/>
          </a:xfrm>
        </p:spPr>
        <p:txBody>
          <a:bodyPr/>
          <a:lstStyle/>
          <a:p>
            <a:r>
              <a:rPr lang="pt-BR" dirty="0"/>
              <a:t>A relação Funcionário. Ela está na 2FN porque não contém chave composta. </a:t>
            </a:r>
          </a:p>
          <a:p>
            <a:r>
              <a:rPr lang="pt-BR" dirty="0"/>
              <a:t>Porém, há uma dependência transitiva na mesma. </a:t>
            </a:r>
          </a:p>
          <a:p>
            <a:r>
              <a:rPr lang="pt-BR" dirty="0"/>
              <a:t>O atributo Salário depende do atributo Cargo (que não faz parte da chave primária).</a:t>
            </a:r>
          </a:p>
          <a:p>
            <a:r>
              <a:rPr lang="pt-BR" dirty="0"/>
              <a:t> Já o atributo Cargo, por sua vez, depende da chave primária </a:t>
            </a:r>
            <a:r>
              <a:rPr lang="pt-BR" dirty="0" err="1"/>
              <a:t>Cod_Empregado</a:t>
            </a:r>
            <a:r>
              <a:rPr lang="pt-BR" dirty="0"/>
              <a:t>. </a:t>
            </a:r>
          </a:p>
          <a:p>
            <a:r>
              <a:rPr lang="pt-BR" dirty="0"/>
              <a:t>Assim, temos: </a:t>
            </a:r>
            <a:r>
              <a:rPr lang="pt-BR" dirty="0" err="1"/>
              <a:t>Cod_Empregado</a:t>
            </a:r>
            <a:r>
              <a:rPr lang="pt-BR" dirty="0"/>
              <a:t> → Cargo → Salário.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582240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2718D3-3440-4E5A-C8C9-02F93314F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Relação Funcionário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5AA5F12F-68D7-1D23-A078-444824F67C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5778224"/>
              </p:ext>
            </p:extLst>
          </p:nvPr>
        </p:nvGraphicFramePr>
        <p:xfrm>
          <a:off x="1948721" y="2293496"/>
          <a:ext cx="8244590" cy="3267854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2263151">
                  <a:extLst>
                    <a:ext uri="{9D8B030D-6E8A-4147-A177-3AD203B41FA5}">
                      <a16:colId xmlns:a16="http://schemas.microsoft.com/office/drawing/2014/main" val="3550854678"/>
                    </a:ext>
                  </a:extLst>
                </a:gridCol>
                <a:gridCol w="2151493">
                  <a:extLst>
                    <a:ext uri="{9D8B030D-6E8A-4147-A177-3AD203B41FA5}">
                      <a16:colId xmlns:a16="http://schemas.microsoft.com/office/drawing/2014/main" val="188607515"/>
                    </a:ext>
                  </a:extLst>
                </a:gridCol>
                <a:gridCol w="1914973">
                  <a:extLst>
                    <a:ext uri="{9D8B030D-6E8A-4147-A177-3AD203B41FA5}">
                      <a16:colId xmlns:a16="http://schemas.microsoft.com/office/drawing/2014/main" val="39331823"/>
                    </a:ext>
                  </a:extLst>
                </a:gridCol>
                <a:gridCol w="1914973">
                  <a:extLst>
                    <a:ext uri="{9D8B030D-6E8A-4147-A177-3AD203B41FA5}">
                      <a16:colId xmlns:a16="http://schemas.microsoft.com/office/drawing/2014/main" val="1737657710"/>
                    </a:ext>
                  </a:extLst>
                </a:gridCol>
              </a:tblGrid>
              <a:tr h="907628">
                <a:tc>
                  <a:txBody>
                    <a:bodyPr/>
                    <a:lstStyle/>
                    <a:p>
                      <a:pPr marL="86360" marR="7366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000" b="1" u="sng">
                          <a:solidFill>
                            <a:srgbClr val="FFFFFF"/>
                          </a:solidFill>
                          <a:effectLst/>
                          <a:uFill>
                            <a:solidFill>
                              <a:srgbClr val="FFFFFF"/>
                            </a:solidFill>
                          </a:uFill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Cod_Empregado</a:t>
                      </a:r>
                      <a:r>
                        <a:rPr lang="pt-PT" sz="2000" b="1" spc="-35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PT" sz="20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(PK)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78740" marR="65405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0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Nome_Empregado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111125" marR="9779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0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Cargo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111125" marR="9779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20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Salário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8361037"/>
                  </a:ext>
                </a:extLst>
              </a:tr>
              <a:tr h="786742">
                <a:tc>
                  <a:txBody>
                    <a:bodyPr/>
                    <a:lstStyle/>
                    <a:p>
                      <a:pPr marL="86360" marR="73660" algn="ctr">
                        <a:spcBef>
                          <a:spcPts val="475"/>
                        </a:spcBef>
                        <a:spcAft>
                          <a:spcPts val="0"/>
                        </a:spcAft>
                      </a:pPr>
                      <a:r>
                        <a:rPr lang="pt-PT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78740" marR="66040" algn="ctr">
                        <a:spcBef>
                          <a:spcPts val="475"/>
                        </a:spcBef>
                        <a:spcAft>
                          <a:spcPts val="0"/>
                        </a:spcAft>
                      </a:pPr>
                      <a:r>
                        <a:rPr lang="pt-PT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Carlos</a:t>
                      </a:r>
                      <a:r>
                        <a:rPr lang="pt-PT" sz="2000" spc="-2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PT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Alves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111125" marR="97790" algn="ctr">
                        <a:spcBef>
                          <a:spcPts val="475"/>
                        </a:spcBef>
                        <a:spcAft>
                          <a:spcPts val="0"/>
                        </a:spcAft>
                      </a:pPr>
                      <a:r>
                        <a:rPr lang="pt-PT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Programador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111125" marR="97790" algn="ctr">
                        <a:spcBef>
                          <a:spcPts val="475"/>
                        </a:spcBef>
                        <a:spcAft>
                          <a:spcPts val="0"/>
                        </a:spcAft>
                      </a:pPr>
                      <a:r>
                        <a:rPr lang="pt-PT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2000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554235"/>
                  </a:ext>
                </a:extLst>
              </a:tr>
              <a:tr h="786742">
                <a:tc>
                  <a:txBody>
                    <a:bodyPr/>
                    <a:lstStyle/>
                    <a:p>
                      <a:pPr marL="86360" marR="73660" algn="ctr">
                        <a:spcBef>
                          <a:spcPts val="475"/>
                        </a:spcBef>
                        <a:spcAft>
                          <a:spcPts val="0"/>
                        </a:spcAft>
                      </a:pPr>
                      <a:r>
                        <a:rPr lang="pt-PT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101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78740" marR="65405" algn="ctr">
                        <a:spcBef>
                          <a:spcPts val="475"/>
                        </a:spcBef>
                        <a:spcAft>
                          <a:spcPts val="0"/>
                        </a:spcAft>
                      </a:pPr>
                      <a:r>
                        <a:rPr lang="pt-PT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José</a:t>
                      </a:r>
                      <a:r>
                        <a:rPr lang="pt-PT" sz="2000" spc="-15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PT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Souza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111125" marR="97155" algn="ctr">
                        <a:spcBef>
                          <a:spcPts val="475"/>
                        </a:spcBef>
                        <a:spcAft>
                          <a:spcPts val="0"/>
                        </a:spcAft>
                      </a:pPr>
                      <a:r>
                        <a:rPr lang="pt-PT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Analista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111125" marR="97790" algn="ctr">
                        <a:spcBef>
                          <a:spcPts val="475"/>
                        </a:spcBef>
                        <a:spcAft>
                          <a:spcPts val="0"/>
                        </a:spcAft>
                      </a:pPr>
                      <a:r>
                        <a:rPr lang="pt-PT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3500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8359215"/>
                  </a:ext>
                </a:extLst>
              </a:tr>
              <a:tr h="786742">
                <a:tc>
                  <a:txBody>
                    <a:bodyPr/>
                    <a:lstStyle/>
                    <a:p>
                      <a:pPr marL="86360" marR="73660" algn="ctr">
                        <a:spcBef>
                          <a:spcPts val="475"/>
                        </a:spcBef>
                        <a:spcAft>
                          <a:spcPts val="0"/>
                        </a:spcAft>
                      </a:pPr>
                      <a:r>
                        <a:rPr lang="pt-PT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102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78740" marR="65405" algn="ctr">
                        <a:spcBef>
                          <a:spcPts val="475"/>
                        </a:spcBef>
                        <a:spcAft>
                          <a:spcPts val="0"/>
                        </a:spcAft>
                      </a:pPr>
                      <a:r>
                        <a:rPr lang="pt-PT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Maria Ramos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111125" marR="97790" algn="ctr">
                        <a:spcBef>
                          <a:spcPts val="475"/>
                        </a:spcBef>
                        <a:spcAft>
                          <a:spcPts val="0"/>
                        </a:spcAft>
                      </a:pPr>
                      <a:r>
                        <a:rPr lang="pt-PT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Programador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111125" marR="97790" algn="ctr">
                        <a:spcBef>
                          <a:spcPts val="475"/>
                        </a:spcBef>
                        <a:spcAft>
                          <a:spcPts val="0"/>
                        </a:spcAft>
                      </a:pPr>
                      <a:r>
                        <a:rPr lang="pt-PT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2000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132458"/>
                  </a:ext>
                </a:extLst>
              </a:tr>
            </a:tbl>
          </a:graphicData>
        </a:graphic>
      </p:graphicFrame>
      <p:sp>
        <p:nvSpPr>
          <p:cNvPr id="5" name="Texto Explicativo: Seta para Baixo 4">
            <a:extLst>
              <a:ext uri="{FF2B5EF4-FFF2-40B4-BE49-F238E27FC236}">
                <a16:creationId xmlns:a16="http://schemas.microsoft.com/office/drawing/2014/main" id="{B8ED3641-6DA8-7155-D757-CB27C44B9E2D}"/>
              </a:ext>
            </a:extLst>
          </p:cNvPr>
          <p:cNvSpPr/>
          <p:nvPr/>
        </p:nvSpPr>
        <p:spPr>
          <a:xfrm>
            <a:off x="7600013" y="794479"/>
            <a:ext cx="2698230" cy="1499017"/>
          </a:xfrm>
          <a:prstGeom prst="downArrow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Salário depende de Cargo(dependência transitiva)</a:t>
            </a:r>
          </a:p>
        </p:txBody>
      </p:sp>
      <p:sp>
        <p:nvSpPr>
          <p:cNvPr id="8" name="Texto Explicativo: Seta para a Esquerda 7">
            <a:extLst>
              <a:ext uri="{FF2B5EF4-FFF2-40B4-BE49-F238E27FC236}">
                <a16:creationId xmlns:a16="http://schemas.microsoft.com/office/drawing/2014/main" id="{E745A3AE-166C-3D6D-FCA1-FBE822E9DE33}"/>
              </a:ext>
            </a:extLst>
          </p:cNvPr>
          <p:cNvSpPr/>
          <p:nvPr/>
        </p:nvSpPr>
        <p:spPr>
          <a:xfrm>
            <a:off x="9934107" y="1636330"/>
            <a:ext cx="1783830" cy="2173039"/>
          </a:xfrm>
          <a:prstGeom prst="leftArrow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Não faz parte de PK</a:t>
            </a:r>
          </a:p>
        </p:txBody>
      </p:sp>
      <p:sp>
        <p:nvSpPr>
          <p:cNvPr id="9" name="Texto Explicativo: Seta para Baixo 8">
            <a:extLst>
              <a:ext uri="{FF2B5EF4-FFF2-40B4-BE49-F238E27FC236}">
                <a16:creationId xmlns:a16="http://schemas.microsoft.com/office/drawing/2014/main" id="{F5DA1138-A8E5-8478-E878-CE9006232438}"/>
              </a:ext>
            </a:extLst>
          </p:cNvPr>
          <p:cNvSpPr/>
          <p:nvPr/>
        </p:nvSpPr>
        <p:spPr>
          <a:xfrm>
            <a:off x="5726243" y="899410"/>
            <a:ext cx="1783830" cy="1194120"/>
          </a:xfrm>
          <a:prstGeom prst="downArrow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Depende de PK</a:t>
            </a:r>
          </a:p>
        </p:txBody>
      </p:sp>
    </p:spTree>
    <p:extLst>
      <p:ext uri="{BB962C8B-B14F-4D97-AF65-F5344CB8AC3E}">
        <p14:creationId xmlns:p14="http://schemas.microsoft.com/office/powerpoint/2010/main" val="16418577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E078CC-3D7B-80F2-A1F0-D0BF56AC0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0194"/>
            <a:ext cx="10515600" cy="609236"/>
          </a:xfrm>
        </p:spPr>
        <p:txBody>
          <a:bodyPr>
            <a:normAutofit fontScale="90000"/>
          </a:bodyPr>
          <a:lstStyle/>
          <a:p>
            <a:r>
              <a:rPr lang="pt-BR" dirty="0"/>
              <a:t>Resolvendo o problema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F1094B-AD6C-A6FE-0FE5-CB5A639715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9272"/>
            <a:ext cx="10515600" cy="5067691"/>
          </a:xfrm>
        </p:spPr>
        <p:txBody>
          <a:bodyPr/>
          <a:lstStyle/>
          <a:p>
            <a:r>
              <a:rPr lang="pt-BR" dirty="0"/>
              <a:t>Para passarmos uma entidade da 2FN para a 3FN, devemos eliminar as dependências transitivas. </a:t>
            </a:r>
          </a:p>
          <a:p>
            <a:r>
              <a:rPr lang="pt-BR" dirty="0"/>
              <a:t>E como fazer isso?</a:t>
            </a:r>
          </a:p>
          <a:p>
            <a:endParaRPr lang="pt-BR" dirty="0"/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EF2A587D-5EE2-4521-5F3D-8BD9440E98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4264294"/>
              </p:ext>
            </p:extLst>
          </p:nvPr>
        </p:nvGraphicFramePr>
        <p:xfrm>
          <a:off x="1225981" y="2854447"/>
          <a:ext cx="3630832" cy="1282837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861332">
                  <a:extLst>
                    <a:ext uri="{9D8B030D-6E8A-4147-A177-3AD203B41FA5}">
                      <a16:colId xmlns:a16="http://schemas.microsoft.com/office/drawing/2014/main" val="464484176"/>
                    </a:ext>
                  </a:extLst>
                </a:gridCol>
                <a:gridCol w="1769500">
                  <a:extLst>
                    <a:ext uri="{9D8B030D-6E8A-4147-A177-3AD203B41FA5}">
                      <a16:colId xmlns:a16="http://schemas.microsoft.com/office/drawing/2014/main" val="1326156258"/>
                    </a:ext>
                  </a:extLst>
                </a:gridCol>
              </a:tblGrid>
              <a:tr h="473059">
                <a:tc>
                  <a:txBody>
                    <a:bodyPr/>
                    <a:lstStyle/>
                    <a:p>
                      <a:pPr marL="86360" marR="7366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1800" b="1" u="sng" dirty="0">
                          <a:solidFill>
                            <a:srgbClr val="FFFFFF"/>
                          </a:solidFill>
                          <a:effectLst/>
                          <a:uFill>
                            <a:solidFill>
                              <a:srgbClr val="FFFFFF"/>
                            </a:solidFill>
                          </a:uFill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Cargo</a:t>
                      </a:r>
                      <a:r>
                        <a:rPr lang="pt-PT" sz="1800" b="1" spc="-15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PT" sz="18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(PK)</a:t>
                      </a:r>
                      <a:endParaRPr lang="pt-B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78740" marR="65405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18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Salário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421643"/>
                  </a:ext>
                </a:extLst>
              </a:tr>
              <a:tr h="404889">
                <a:tc>
                  <a:txBody>
                    <a:bodyPr/>
                    <a:lstStyle/>
                    <a:p>
                      <a:pPr marL="85725" marR="73660" algn="ctr">
                        <a:spcBef>
                          <a:spcPts val="400"/>
                        </a:spcBef>
                        <a:spcAft>
                          <a:spcPts val="0"/>
                        </a:spcAft>
                      </a:pPr>
                      <a:r>
                        <a:rPr lang="pt-PT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Programador</a:t>
                      </a:r>
                      <a:endParaRPr lang="pt-B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78740" marR="66040" algn="ctr">
                        <a:spcBef>
                          <a:spcPts val="400"/>
                        </a:spcBef>
                        <a:spcAft>
                          <a:spcPts val="0"/>
                        </a:spcAft>
                      </a:pPr>
                      <a:r>
                        <a:rPr lang="pt-PT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2000</a:t>
                      </a:r>
                      <a:endParaRPr lang="pt-B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6350459"/>
                  </a:ext>
                </a:extLst>
              </a:tr>
              <a:tr h="404889">
                <a:tc>
                  <a:txBody>
                    <a:bodyPr/>
                    <a:lstStyle/>
                    <a:p>
                      <a:pPr marL="86360" marR="73025" algn="ctr">
                        <a:spcBef>
                          <a:spcPts val="400"/>
                        </a:spcBef>
                        <a:spcAft>
                          <a:spcPts val="0"/>
                        </a:spcAft>
                      </a:pPr>
                      <a:r>
                        <a:rPr lang="pt-PT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Analista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78740" marR="66040" algn="ctr">
                        <a:spcBef>
                          <a:spcPts val="400"/>
                        </a:spcBef>
                        <a:spcAft>
                          <a:spcPts val="0"/>
                        </a:spcAft>
                      </a:pPr>
                      <a:r>
                        <a:rPr lang="pt-PT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3500</a:t>
                      </a:r>
                      <a:endParaRPr lang="pt-B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461667"/>
                  </a:ext>
                </a:extLst>
              </a:tr>
            </a:tbl>
          </a:graphicData>
        </a:graphic>
      </p:graphicFrame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6E72B413-5B8A-6CB0-F432-14DD166BD9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2485878"/>
              </p:ext>
            </p:extLst>
          </p:nvPr>
        </p:nvGraphicFramePr>
        <p:xfrm>
          <a:off x="6095999" y="2678234"/>
          <a:ext cx="4870019" cy="2358461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836407">
                  <a:extLst>
                    <a:ext uri="{9D8B030D-6E8A-4147-A177-3AD203B41FA5}">
                      <a16:colId xmlns:a16="http://schemas.microsoft.com/office/drawing/2014/main" val="3454032699"/>
                    </a:ext>
                  </a:extLst>
                </a:gridCol>
                <a:gridCol w="1569207">
                  <a:extLst>
                    <a:ext uri="{9D8B030D-6E8A-4147-A177-3AD203B41FA5}">
                      <a16:colId xmlns:a16="http://schemas.microsoft.com/office/drawing/2014/main" val="2848388593"/>
                    </a:ext>
                  </a:extLst>
                </a:gridCol>
                <a:gridCol w="1464405">
                  <a:extLst>
                    <a:ext uri="{9D8B030D-6E8A-4147-A177-3AD203B41FA5}">
                      <a16:colId xmlns:a16="http://schemas.microsoft.com/office/drawing/2014/main" val="2908168472"/>
                    </a:ext>
                  </a:extLst>
                </a:gridCol>
              </a:tblGrid>
              <a:tr h="601099">
                <a:tc>
                  <a:txBody>
                    <a:bodyPr/>
                    <a:lstStyle/>
                    <a:p>
                      <a:pPr marL="105410" marR="9271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1400" b="1" u="sng">
                          <a:solidFill>
                            <a:srgbClr val="FFFFFF"/>
                          </a:solidFill>
                          <a:effectLst/>
                          <a:uFill>
                            <a:solidFill>
                              <a:srgbClr val="FFFFFF"/>
                            </a:solidFill>
                          </a:uFill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Cod_Empregado</a:t>
                      </a:r>
                      <a:r>
                        <a:rPr lang="pt-PT" sz="1400" b="1" spc="-35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PT" sz="14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(PK)</a:t>
                      </a:r>
                      <a:endParaRPr lang="pt-B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71755" marR="5969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14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Nome_Empregado</a:t>
                      </a:r>
                      <a:endParaRPr lang="pt-B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160655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14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Cargo</a:t>
                      </a:r>
                      <a:endParaRPr lang="pt-B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7502153"/>
                  </a:ext>
                </a:extLst>
              </a:tr>
              <a:tr h="555164">
                <a:tc>
                  <a:txBody>
                    <a:bodyPr/>
                    <a:lstStyle/>
                    <a:p>
                      <a:pPr marL="105410" marR="92710" algn="ctr">
                        <a:spcBef>
                          <a:spcPts val="535"/>
                        </a:spcBef>
                        <a:spcAft>
                          <a:spcPts val="0"/>
                        </a:spcAft>
                      </a:pPr>
                      <a:r>
                        <a:rPr lang="pt-PT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pt-B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71755" marR="59690" algn="ctr">
                        <a:spcBef>
                          <a:spcPts val="535"/>
                        </a:spcBef>
                        <a:spcAft>
                          <a:spcPts val="0"/>
                        </a:spcAft>
                      </a:pPr>
                      <a:r>
                        <a:rPr lang="pt-PT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Carlos</a:t>
                      </a:r>
                      <a:r>
                        <a:rPr lang="pt-PT" sz="1400" spc="-2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PT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Alves</a:t>
                      </a:r>
                      <a:endParaRPr lang="pt-B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160655" algn="ctr">
                        <a:spcBef>
                          <a:spcPts val="535"/>
                        </a:spcBef>
                        <a:spcAft>
                          <a:spcPts val="0"/>
                        </a:spcAft>
                      </a:pPr>
                      <a:r>
                        <a:rPr lang="pt-PT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Programador</a:t>
                      </a:r>
                      <a:endParaRPr lang="pt-B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6488467"/>
                  </a:ext>
                </a:extLst>
              </a:tr>
              <a:tr h="601099">
                <a:tc>
                  <a:txBody>
                    <a:bodyPr/>
                    <a:lstStyle/>
                    <a:p>
                      <a:pPr marL="105410" marR="9271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14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101</a:t>
                      </a:r>
                      <a:endParaRPr lang="pt-B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71755" marR="5969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José</a:t>
                      </a:r>
                      <a:r>
                        <a:rPr lang="pt-PT" sz="1400" spc="-15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PT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Souza</a:t>
                      </a:r>
                      <a:endParaRPr lang="pt-B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16002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Analista</a:t>
                      </a:r>
                      <a:endParaRPr lang="pt-B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3909122"/>
                  </a:ext>
                </a:extLst>
              </a:tr>
              <a:tr h="601099">
                <a:tc>
                  <a:txBody>
                    <a:bodyPr/>
                    <a:lstStyle/>
                    <a:p>
                      <a:pPr marL="105410" marR="9271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102</a:t>
                      </a:r>
                      <a:endParaRPr lang="pt-B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71755" marR="5969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Maria Ramos</a:t>
                      </a:r>
                      <a:endParaRPr lang="pt-B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160655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14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Programador</a:t>
                      </a:r>
                      <a:endParaRPr lang="pt-B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7703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91053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763B5C-7D53-0E70-461B-1152FAF5F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QUARTA FORMA NORMAL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D182DC-A89E-8F2B-25F2-11250C259F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>
                <a:solidFill>
                  <a:srgbClr val="FF0000"/>
                </a:solidFill>
              </a:rPr>
              <a:t>Uma relação está na Quarta Forma Normal (4FN) se não possuir dois ou mais atributos </a:t>
            </a:r>
            <a:r>
              <a:rPr lang="pt-BR" b="1" dirty="0" err="1">
                <a:solidFill>
                  <a:srgbClr val="FF0000"/>
                </a:solidFill>
              </a:rPr>
              <a:t>multi-valorados</a:t>
            </a:r>
            <a:r>
              <a:rPr lang="pt-BR" b="1" dirty="0">
                <a:solidFill>
                  <a:srgbClr val="FF0000"/>
                </a:solidFill>
              </a:rPr>
              <a:t> independentes. </a:t>
            </a:r>
          </a:p>
          <a:p>
            <a:r>
              <a:rPr lang="pt-BR" dirty="0"/>
              <a:t>Em outras palavras, se não possuir casos de </a:t>
            </a:r>
            <a:r>
              <a:rPr lang="pt-BR" dirty="0" err="1"/>
              <a:t>multi-dependência</a:t>
            </a:r>
            <a:r>
              <a:rPr lang="pt-BR" dirty="0"/>
              <a:t> funcional. </a:t>
            </a:r>
          </a:p>
          <a:p>
            <a:r>
              <a:rPr lang="pt-BR" dirty="0"/>
              <a:t>Mas o que é mesmo </a:t>
            </a:r>
            <a:r>
              <a:rPr lang="pt-BR" dirty="0" err="1"/>
              <a:t>multi-dependência</a:t>
            </a:r>
            <a:r>
              <a:rPr lang="pt-BR" dirty="0"/>
              <a:t> funcional? </a:t>
            </a:r>
          </a:p>
          <a:p>
            <a:r>
              <a:rPr lang="pt-BR" dirty="0"/>
              <a:t>Se cada valor de um Atributo A permite descobrir um conjunto de possíveis valores de um outro Atributo B, dizemos que A determina </a:t>
            </a:r>
            <a:r>
              <a:rPr lang="pt-BR" dirty="0" err="1"/>
              <a:t>multi-funcionalmente</a:t>
            </a:r>
            <a:r>
              <a:rPr lang="pt-BR" dirty="0"/>
              <a:t> B (A → → B). </a:t>
            </a:r>
          </a:p>
        </p:txBody>
      </p:sp>
    </p:spTree>
    <p:extLst>
      <p:ext uri="{BB962C8B-B14F-4D97-AF65-F5344CB8AC3E}">
        <p14:creationId xmlns:p14="http://schemas.microsoft.com/office/powerpoint/2010/main" val="20941348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3A641B-75C3-D64B-BB7A-A279AC7C9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Melhorando no visual........................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2CEF459-0364-E59C-CB06-8C038C05BF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Relação </a:t>
            </a:r>
            <a:r>
              <a:rPr lang="pt-BR" dirty="0" err="1"/>
              <a:t>Alocação_Professor</a:t>
            </a:r>
            <a:r>
              <a:rPr lang="pt-BR" dirty="0"/>
              <a:t>(slide seguinte). </a:t>
            </a:r>
          </a:p>
          <a:p>
            <a:r>
              <a:rPr lang="pt-BR" dirty="0"/>
              <a:t>Nela temos as seguintes </a:t>
            </a:r>
            <a:r>
              <a:rPr lang="pt-BR" dirty="0" err="1"/>
              <a:t>multi-dependências</a:t>
            </a:r>
            <a:r>
              <a:rPr lang="pt-BR" dirty="0"/>
              <a:t> funcionais: </a:t>
            </a:r>
          </a:p>
          <a:p>
            <a:r>
              <a:rPr lang="pt-BR" dirty="0" err="1"/>
              <a:t>Nome_Prof</a:t>
            </a:r>
            <a:r>
              <a:rPr lang="pt-BR" dirty="0"/>
              <a:t> → → </a:t>
            </a:r>
            <a:r>
              <a:rPr lang="pt-BR" dirty="0" err="1"/>
              <a:t>Sigla_Disciplina</a:t>
            </a:r>
            <a:r>
              <a:rPr lang="pt-BR" dirty="0"/>
              <a:t> (ou seja, a partir do nome do professor podemos saber as disciplina que ele ministra) e </a:t>
            </a:r>
            <a:r>
              <a:rPr lang="pt-BR" dirty="0" err="1"/>
              <a:t>Nome_Prof</a:t>
            </a:r>
            <a:r>
              <a:rPr lang="pt-BR" dirty="0"/>
              <a:t> → → Orientando (ou seja, a partir do nome do professor é possível saber os alunos que ele orienta).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295340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9245D1-26F4-9B3B-0E3B-DAED3B572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Relação </a:t>
            </a:r>
            <a:r>
              <a:rPr lang="pt-BR" dirty="0" err="1"/>
              <a:t>Alocação_Professor</a:t>
            </a:r>
            <a:endParaRPr lang="pt-BR" dirty="0"/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C828E215-81BA-C875-28C1-D816EA06E8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8523681"/>
              </p:ext>
            </p:extLst>
          </p:nvPr>
        </p:nvGraphicFramePr>
        <p:xfrm>
          <a:off x="2668249" y="2038662"/>
          <a:ext cx="6520721" cy="3627619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2269649">
                  <a:extLst>
                    <a:ext uri="{9D8B030D-6E8A-4147-A177-3AD203B41FA5}">
                      <a16:colId xmlns:a16="http://schemas.microsoft.com/office/drawing/2014/main" val="2250896796"/>
                    </a:ext>
                  </a:extLst>
                </a:gridCol>
                <a:gridCol w="2117951">
                  <a:extLst>
                    <a:ext uri="{9D8B030D-6E8A-4147-A177-3AD203B41FA5}">
                      <a16:colId xmlns:a16="http://schemas.microsoft.com/office/drawing/2014/main" val="4105971232"/>
                    </a:ext>
                  </a:extLst>
                </a:gridCol>
                <a:gridCol w="2133121">
                  <a:extLst>
                    <a:ext uri="{9D8B030D-6E8A-4147-A177-3AD203B41FA5}">
                      <a16:colId xmlns:a16="http://schemas.microsoft.com/office/drawing/2014/main" val="836964972"/>
                    </a:ext>
                  </a:extLst>
                </a:gridCol>
              </a:tblGrid>
              <a:tr h="612403">
                <a:tc>
                  <a:txBody>
                    <a:bodyPr/>
                    <a:lstStyle/>
                    <a:p>
                      <a:pPr marL="236220" algn="l">
                        <a:spcBef>
                          <a:spcPts val="625"/>
                        </a:spcBef>
                      </a:pPr>
                      <a:r>
                        <a:rPr lang="pt-PT" sz="1800" b="1" u="sng">
                          <a:solidFill>
                            <a:srgbClr val="FFFFFF"/>
                          </a:solidFill>
                          <a:effectLst/>
                          <a:uFill>
                            <a:solidFill>
                              <a:srgbClr val="FFFFFF"/>
                            </a:solidFill>
                          </a:uFill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Nome_Prof</a:t>
                      </a:r>
                      <a:r>
                        <a:rPr lang="pt-PT" sz="1800" b="1" spc="-1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PT" sz="18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(PK)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6360" marR="7366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1800" b="1" u="sng">
                          <a:solidFill>
                            <a:srgbClr val="FFFFFF"/>
                          </a:solidFill>
                          <a:effectLst/>
                          <a:uFill>
                            <a:solidFill>
                              <a:srgbClr val="FFFFFF"/>
                            </a:solidFill>
                          </a:uFill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Sigla_Disciplina</a:t>
                      </a:r>
                      <a:r>
                        <a:rPr lang="pt-PT" sz="1800" b="1" spc="-5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PT" sz="18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(PK)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6055" marR="17272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1800" b="1" u="sng">
                          <a:solidFill>
                            <a:srgbClr val="FFFFFF"/>
                          </a:solidFill>
                          <a:effectLst/>
                          <a:uFill>
                            <a:solidFill>
                              <a:srgbClr val="FFFFFF"/>
                            </a:solidFill>
                          </a:uFill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Orientando</a:t>
                      </a:r>
                      <a:r>
                        <a:rPr lang="pt-PT" sz="1800" b="1" spc="-2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PT" sz="18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(PK)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8750916"/>
                  </a:ext>
                </a:extLst>
              </a:tr>
              <a:tr h="565604">
                <a:tc>
                  <a:txBody>
                    <a:bodyPr/>
                    <a:lstStyle/>
                    <a:p>
                      <a:pPr marL="221615" algn="l">
                        <a:spcBef>
                          <a:spcPts val="535"/>
                        </a:spcBef>
                        <a:spcAft>
                          <a:spcPts val="0"/>
                        </a:spcAft>
                      </a:pPr>
                      <a:r>
                        <a:rPr lang="pt-PT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André</a:t>
                      </a:r>
                      <a:r>
                        <a:rPr lang="pt-PT" sz="1800" spc="-15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PT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Fernandes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6360" marR="73660" algn="ctr">
                        <a:spcBef>
                          <a:spcPts val="535"/>
                        </a:spcBef>
                        <a:spcAft>
                          <a:spcPts val="0"/>
                        </a:spcAft>
                      </a:pPr>
                      <a:r>
                        <a:rPr lang="pt-PT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BD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5420" marR="172720" algn="ctr">
                        <a:spcBef>
                          <a:spcPts val="535"/>
                        </a:spcBef>
                        <a:spcAft>
                          <a:spcPts val="0"/>
                        </a:spcAft>
                      </a:pPr>
                      <a:r>
                        <a:rPr lang="pt-PT" sz="1800" spc="-5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Tadeu</a:t>
                      </a:r>
                      <a:r>
                        <a:rPr lang="pt-PT" sz="1800" spc="-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PT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Batista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3275724"/>
                  </a:ext>
                </a:extLst>
              </a:tr>
              <a:tr h="612403">
                <a:tc>
                  <a:txBody>
                    <a:bodyPr/>
                    <a:lstStyle/>
                    <a:p>
                      <a:pPr marL="221615" algn="l">
                        <a:spcBef>
                          <a:spcPts val="625"/>
                        </a:spcBef>
                      </a:pPr>
                      <a:r>
                        <a:rPr lang="pt-PT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André</a:t>
                      </a:r>
                      <a:r>
                        <a:rPr lang="pt-PT" sz="1800" spc="-15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PT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Fernandes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6360" marR="7366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ES</a:t>
                      </a:r>
                      <a:endParaRPr lang="pt-B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5420" marR="17272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1800" spc="-5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Tadeu</a:t>
                      </a:r>
                      <a:r>
                        <a:rPr lang="pt-PT" sz="1800" spc="-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PT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Batista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449833"/>
                  </a:ext>
                </a:extLst>
              </a:tr>
              <a:tr h="612403">
                <a:tc>
                  <a:txBody>
                    <a:bodyPr/>
                    <a:lstStyle/>
                    <a:p>
                      <a:pPr marL="292735" algn="l">
                        <a:spcBef>
                          <a:spcPts val="625"/>
                        </a:spcBef>
                      </a:pPr>
                      <a:r>
                        <a:rPr lang="pt-PT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Jorge</a:t>
                      </a:r>
                      <a:r>
                        <a:rPr lang="pt-PT" sz="1800" spc="-15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PT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Macedo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7366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IP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5420" marR="17272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Otto</a:t>
                      </a:r>
                      <a:r>
                        <a:rPr lang="pt-PT" sz="1800" spc="-3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PT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Melo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9781805"/>
                  </a:ext>
                </a:extLst>
              </a:tr>
              <a:tr h="612403">
                <a:tc>
                  <a:txBody>
                    <a:bodyPr/>
                    <a:lstStyle/>
                    <a:p>
                      <a:pPr marL="292735" algn="l">
                        <a:spcBef>
                          <a:spcPts val="625"/>
                        </a:spcBef>
                      </a:pPr>
                      <a:r>
                        <a:rPr lang="pt-PT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Jorge</a:t>
                      </a:r>
                      <a:r>
                        <a:rPr lang="pt-PT" sz="1800" spc="-15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PT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Macedo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7366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IP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6055" marR="17272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Paulo</a:t>
                      </a:r>
                      <a:r>
                        <a:rPr lang="pt-PT" sz="1800" spc="-2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PT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Gouveia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7329397"/>
                  </a:ext>
                </a:extLst>
              </a:tr>
              <a:tr h="612403">
                <a:tc>
                  <a:txBody>
                    <a:bodyPr/>
                    <a:lstStyle/>
                    <a:p>
                      <a:pPr marL="252095" algn="l">
                        <a:spcBef>
                          <a:spcPts val="625"/>
                        </a:spcBef>
                      </a:pPr>
                      <a:r>
                        <a:rPr lang="pt-PT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Márcia</a:t>
                      </a:r>
                      <a:r>
                        <a:rPr lang="pt-PT" sz="1800" spc="-1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PT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Gadelha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7366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6055" marR="17272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Jonas</a:t>
                      </a:r>
                      <a:r>
                        <a:rPr lang="pt-PT" sz="1800" spc="-15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PT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Bastos</a:t>
                      </a:r>
                      <a:endParaRPr lang="pt-B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983017"/>
                  </a:ext>
                </a:extLst>
              </a:tr>
            </a:tbl>
          </a:graphicData>
        </a:graphic>
      </p:graphicFrame>
      <p:sp>
        <p:nvSpPr>
          <p:cNvPr id="3" name="Colchete Direito 2">
            <a:extLst>
              <a:ext uri="{FF2B5EF4-FFF2-40B4-BE49-F238E27FC236}">
                <a16:creationId xmlns:a16="http://schemas.microsoft.com/office/drawing/2014/main" id="{D2AAB275-F3A2-7E8F-DA18-3910C00141BC}"/>
              </a:ext>
            </a:extLst>
          </p:cNvPr>
          <p:cNvSpPr/>
          <p:nvPr/>
        </p:nvSpPr>
        <p:spPr>
          <a:xfrm>
            <a:off x="9188970" y="2782957"/>
            <a:ext cx="334781" cy="848139"/>
          </a:xfrm>
          <a:prstGeom prst="rightBracket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olchete Esquerdo 4">
            <a:extLst>
              <a:ext uri="{FF2B5EF4-FFF2-40B4-BE49-F238E27FC236}">
                <a16:creationId xmlns:a16="http://schemas.microsoft.com/office/drawing/2014/main" id="{15310D47-094E-17C5-60D3-B80045526DEE}"/>
              </a:ext>
            </a:extLst>
          </p:cNvPr>
          <p:cNvSpPr/>
          <p:nvPr/>
        </p:nvSpPr>
        <p:spPr>
          <a:xfrm>
            <a:off x="5473148" y="3988904"/>
            <a:ext cx="304800" cy="662609"/>
          </a:xfrm>
          <a:prstGeom prst="leftBracket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02771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6F19F9-B715-47D7-2137-45C17604D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Obs........................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AEAEDB9-4754-4DC7-FD2C-C39E1C3B95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Observe que as disciplinas que o professor leciona devem ser independentes dos alunos que ele orienta. </a:t>
            </a:r>
          </a:p>
          <a:p>
            <a:r>
              <a:rPr lang="pt-BR" dirty="0"/>
              <a:t>Se a relação acima significasse que o professor orienta determinado aluno em uma determinada disciplina, a relação estaria correta e não necessitaria ser normalizada. </a:t>
            </a:r>
          </a:p>
          <a:p>
            <a:r>
              <a:rPr lang="pt-BR" dirty="0"/>
              <a:t>Porém, estamos considerando </a:t>
            </a:r>
            <a:r>
              <a:rPr lang="pt-BR" dirty="0" err="1"/>
              <a:t>multi-dependências</a:t>
            </a:r>
            <a:r>
              <a:rPr lang="pt-BR" dirty="0"/>
              <a:t> funcionais entre atributos independentes.</a:t>
            </a:r>
          </a:p>
        </p:txBody>
      </p:sp>
    </p:spTree>
    <p:extLst>
      <p:ext uri="{BB962C8B-B14F-4D97-AF65-F5344CB8AC3E}">
        <p14:creationId xmlns:p14="http://schemas.microsoft.com/office/powerpoint/2010/main" val="1046992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A371FD-5F50-A822-91F5-46B118A29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Obs........................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F02F018-3AA4-2C9A-8BCE-7C14A51517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Relações que não estão na 4FN podem apresentar problemas de inconsistências devido à duplicidade dos dados. </a:t>
            </a:r>
          </a:p>
          <a:p>
            <a:r>
              <a:rPr lang="pt-BR" dirty="0"/>
              <a:t>Por exemplo, na Tabela anterior, o professor “André Fernandes” só tem um orientando “Tadeu Batista”, mas ministra duas disciplinas. ,</a:t>
            </a:r>
          </a:p>
        </p:txBody>
      </p:sp>
    </p:spTree>
    <p:extLst>
      <p:ext uri="{BB962C8B-B14F-4D97-AF65-F5344CB8AC3E}">
        <p14:creationId xmlns:p14="http://schemas.microsoft.com/office/powerpoint/2010/main" val="19746337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667908-DB3D-34C3-24E9-6F59813F5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Obs........................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6B7FAFA-0346-7130-BB14-3ECF42DD5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Devido a esse fato, o nome do orientando precisou ser duplicado sem necessidade. </a:t>
            </a:r>
          </a:p>
          <a:p>
            <a:r>
              <a:rPr lang="pt-BR" dirty="0"/>
              <a:t>O mesmo ocorreu com o professor “Jorge Macedo” que só ministra uma disciplina “IP” e possui dois orientandos (houve duplicação da sigla da disciplina).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593826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26636A-1A48-BE9A-4F10-E84C4EBC9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Resolvendo a situação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6212C6-2605-D08B-8A4C-1D7B32CBD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Para Normalizar para a Quarta Forma Normal, você deve retirar da relação o atributo </a:t>
            </a:r>
            <a:r>
              <a:rPr lang="pt-BR" b="1" dirty="0" err="1">
                <a:solidFill>
                  <a:srgbClr val="FF0000"/>
                </a:solidFill>
              </a:rPr>
              <a:t>multi-valorado</a:t>
            </a:r>
            <a:r>
              <a:rPr lang="pt-BR" dirty="0"/>
              <a:t> e criar uma nova relação, tendo-o como parte da chave, a fim de separar as dependências. </a:t>
            </a:r>
          </a:p>
          <a:p>
            <a:r>
              <a:rPr lang="pt-BR" dirty="0"/>
              <a:t>Ou seja, deve-se usar o mesmo procedimento feito para passar uma relação para a 1FN, visto anteriormente. </a:t>
            </a:r>
          </a:p>
          <a:p>
            <a:r>
              <a:rPr lang="pt-BR" dirty="0"/>
              <a:t>Uma observação importante é que, para se normalizar em 4FN, a entidade tem que estar (obrigatoriamente) na 3FN. </a:t>
            </a:r>
          </a:p>
          <a:p>
            <a:r>
              <a:rPr lang="pt-BR" dirty="0"/>
              <a:t> resumindo....</a:t>
            </a:r>
          </a:p>
          <a:p>
            <a:r>
              <a:rPr lang="pt-BR" dirty="0"/>
              <a:t>1FN   2FN   3FN    4FN</a:t>
            </a:r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233A1EAE-E789-A334-8ADE-ED0235E7D658}"/>
              </a:ext>
            </a:extLst>
          </p:cNvPr>
          <p:cNvCxnSpPr/>
          <p:nvPr/>
        </p:nvCxnSpPr>
        <p:spPr>
          <a:xfrm>
            <a:off x="1179443" y="6003235"/>
            <a:ext cx="323353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87059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0AA3C3-327E-8F97-8487-37EF528BB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Ficando assim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024069FE-99F6-BDD7-3DEE-B3722701E7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4952813"/>
              </p:ext>
            </p:extLst>
          </p:nvPr>
        </p:nvGraphicFramePr>
        <p:xfrm>
          <a:off x="1045817" y="1893853"/>
          <a:ext cx="3764722" cy="1843261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947443">
                  <a:extLst>
                    <a:ext uri="{9D8B030D-6E8A-4147-A177-3AD203B41FA5}">
                      <a16:colId xmlns:a16="http://schemas.microsoft.com/office/drawing/2014/main" val="1733551105"/>
                    </a:ext>
                  </a:extLst>
                </a:gridCol>
                <a:gridCol w="1817279">
                  <a:extLst>
                    <a:ext uri="{9D8B030D-6E8A-4147-A177-3AD203B41FA5}">
                      <a16:colId xmlns:a16="http://schemas.microsoft.com/office/drawing/2014/main" val="4179059868"/>
                    </a:ext>
                  </a:extLst>
                </a:gridCol>
              </a:tblGrid>
              <a:tr h="374374">
                <a:tc>
                  <a:txBody>
                    <a:bodyPr/>
                    <a:lstStyle/>
                    <a:p>
                      <a:pPr marL="105410" marR="9271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1600" b="1" u="sng">
                          <a:solidFill>
                            <a:srgbClr val="FFFFFF"/>
                          </a:solidFill>
                          <a:effectLst/>
                          <a:uFill>
                            <a:solidFill>
                              <a:srgbClr val="FFFFFF"/>
                            </a:solidFill>
                          </a:uFill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Nome_Prof</a:t>
                      </a:r>
                      <a:r>
                        <a:rPr lang="pt-PT" sz="1600" b="1" spc="-1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PT" sz="16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(PK)</a:t>
                      </a:r>
                      <a:endParaRPr lang="pt-B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86360" marR="7366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1600" b="1" u="sng">
                          <a:solidFill>
                            <a:srgbClr val="FFFFFF"/>
                          </a:solidFill>
                          <a:effectLst/>
                          <a:uFill>
                            <a:solidFill>
                              <a:srgbClr val="FFFFFF"/>
                            </a:solidFill>
                          </a:uFill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Orientando</a:t>
                      </a:r>
                      <a:r>
                        <a:rPr lang="pt-PT" sz="1600" b="1" spc="-2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PT" sz="16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(PK)</a:t>
                      </a:r>
                      <a:endParaRPr lang="pt-B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0411902"/>
                  </a:ext>
                </a:extLst>
              </a:tr>
              <a:tr h="345765">
                <a:tc>
                  <a:txBody>
                    <a:bodyPr/>
                    <a:lstStyle/>
                    <a:p>
                      <a:pPr marL="105410" marR="92710" algn="ctr">
                        <a:spcBef>
                          <a:spcPts val="535"/>
                        </a:spcBef>
                        <a:spcAft>
                          <a:spcPts val="0"/>
                        </a:spcAft>
                      </a:pPr>
                      <a:r>
                        <a:rPr lang="pt-PT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André</a:t>
                      </a:r>
                      <a:r>
                        <a:rPr lang="pt-PT" sz="1600" spc="-15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PT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Fernandes</a:t>
                      </a:r>
                      <a:endParaRPr lang="pt-B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86360" marR="73660" algn="ctr">
                        <a:spcBef>
                          <a:spcPts val="535"/>
                        </a:spcBef>
                        <a:spcAft>
                          <a:spcPts val="0"/>
                        </a:spcAft>
                      </a:pPr>
                      <a:r>
                        <a:rPr lang="pt-PT" sz="1600" spc="-5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Tadeu</a:t>
                      </a:r>
                      <a:r>
                        <a:rPr lang="pt-PT" sz="1600" spc="-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PT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Batista</a:t>
                      </a:r>
                      <a:endParaRPr lang="pt-B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8402178"/>
                  </a:ext>
                </a:extLst>
              </a:tr>
              <a:tr h="374374">
                <a:tc>
                  <a:txBody>
                    <a:bodyPr/>
                    <a:lstStyle/>
                    <a:p>
                      <a:pPr marL="105410" marR="9271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Jorge</a:t>
                      </a:r>
                      <a:r>
                        <a:rPr lang="pt-PT" sz="1600" spc="-15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PT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Macedo</a:t>
                      </a:r>
                      <a:endParaRPr lang="pt-B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86360" marR="7366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Otto</a:t>
                      </a:r>
                      <a:r>
                        <a:rPr lang="pt-PT" sz="1600" spc="-3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PT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Melo</a:t>
                      </a:r>
                      <a:endParaRPr lang="pt-B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3044857"/>
                  </a:ext>
                </a:extLst>
              </a:tr>
              <a:tr h="374374">
                <a:tc>
                  <a:txBody>
                    <a:bodyPr/>
                    <a:lstStyle/>
                    <a:p>
                      <a:pPr marL="105410" marR="9271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Jorge</a:t>
                      </a:r>
                      <a:r>
                        <a:rPr lang="pt-PT" sz="1600" spc="-15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PT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Macedo</a:t>
                      </a:r>
                      <a:endParaRPr lang="pt-B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86360" marR="7366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Paulo</a:t>
                      </a:r>
                      <a:r>
                        <a:rPr lang="pt-PT" sz="1600" spc="-2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PT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Gouveia</a:t>
                      </a:r>
                      <a:endParaRPr lang="pt-B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6554850"/>
                  </a:ext>
                </a:extLst>
              </a:tr>
              <a:tr h="374374">
                <a:tc>
                  <a:txBody>
                    <a:bodyPr/>
                    <a:lstStyle/>
                    <a:p>
                      <a:pPr marL="105410" marR="9271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Márcia</a:t>
                      </a:r>
                      <a:r>
                        <a:rPr lang="pt-PT" sz="1600" spc="-1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PT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Gadelha</a:t>
                      </a:r>
                      <a:endParaRPr lang="pt-B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86360" marR="7366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Jonas</a:t>
                      </a:r>
                      <a:r>
                        <a:rPr lang="pt-PT" sz="1600" spc="-15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PT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Bastos</a:t>
                      </a:r>
                      <a:endParaRPr lang="pt-B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094998"/>
                  </a:ext>
                </a:extLst>
              </a:tr>
            </a:tbl>
          </a:graphicData>
        </a:graphic>
      </p:graphicFrame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6BFD05FE-3E77-0997-46BE-18940799D2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1303429"/>
              </p:ext>
            </p:extLst>
          </p:nvPr>
        </p:nvGraphicFramePr>
        <p:xfrm>
          <a:off x="5870712" y="1893853"/>
          <a:ext cx="4386469" cy="1723991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2269065">
                  <a:extLst>
                    <a:ext uri="{9D8B030D-6E8A-4147-A177-3AD203B41FA5}">
                      <a16:colId xmlns:a16="http://schemas.microsoft.com/office/drawing/2014/main" val="3494477583"/>
                    </a:ext>
                  </a:extLst>
                </a:gridCol>
                <a:gridCol w="2117404">
                  <a:extLst>
                    <a:ext uri="{9D8B030D-6E8A-4147-A177-3AD203B41FA5}">
                      <a16:colId xmlns:a16="http://schemas.microsoft.com/office/drawing/2014/main" val="3235737310"/>
                    </a:ext>
                  </a:extLst>
                </a:gridCol>
              </a:tblGrid>
              <a:tr h="350150">
                <a:tc>
                  <a:txBody>
                    <a:bodyPr/>
                    <a:lstStyle/>
                    <a:p>
                      <a:pPr marL="105410" marR="9271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1800" b="1" u="sng" dirty="0" err="1">
                          <a:solidFill>
                            <a:srgbClr val="FFFFFF"/>
                          </a:solidFill>
                          <a:effectLst/>
                          <a:uFill>
                            <a:solidFill>
                              <a:srgbClr val="FFFFFF"/>
                            </a:solidFill>
                          </a:uFill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Nome_Prof</a:t>
                      </a:r>
                      <a:r>
                        <a:rPr lang="pt-PT" sz="1800" b="1" spc="-1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PT" sz="18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(PK)</a:t>
                      </a:r>
                      <a:endParaRPr lang="pt-B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86360" marR="7366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1800" b="1" u="sng">
                          <a:solidFill>
                            <a:srgbClr val="FFFFFF"/>
                          </a:solidFill>
                          <a:effectLst/>
                          <a:uFill>
                            <a:solidFill>
                              <a:srgbClr val="FFFFFF"/>
                            </a:solidFill>
                          </a:uFill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Sigla_Disciplina</a:t>
                      </a:r>
                      <a:r>
                        <a:rPr lang="pt-PT" sz="1800" b="1" spc="-5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PT" sz="18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(PK)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5948087"/>
                  </a:ext>
                </a:extLst>
              </a:tr>
              <a:tr h="323391">
                <a:tc>
                  <a:txBody>
                    <a:bodyPr/>
                    <a:lstStyle/>
                    <a:p>
                      <a:pPr marL="105410" marR="92710" algn="ctr">
                        <a:spcBef>
                          <a:spcPts val="535"/>
                        </a:spcBef>
                        <a:spcAft>
                          <a:spcPts val="0"/>
                        </a:spcAft>
                      </a:pPr>
                      <a:r>
                        <a:rPr lang="pt-PT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André</a:t>
                      </a:r>
                      <a:r>
                        <a:rPr lang="pt-PT" sz="1800" spc="-15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PT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Fernandes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86360" marR="73660" algn="ctr">
                        <a:spcBef>
                          <a:spcPts val="535"/>
                        </a:spcBef>
                        <a:spcAft>
                          <a:spcPts val="0"/>
                        </a:spcAft>
                      </a:pPr>
                      <a:r>
                        <a:rPr lang="pt-PT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BD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9871694"/>
                  </a:ext>
                </a:extLst>
              </a:tr>
              <a:tr h="350150">
                <a:tc>
                  <a:txBody>
                    <a:bodyPr/>
                    <a:lstStyle/>
                    <a:p>
                      <a:pPr marL="105410" marR="9271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André</a:t>
                      </a:r>
                      <a:r>
                        <a:rPr lang="pt-PT" sz="1800" spc="-15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PT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Fernandes</a:t>
                      </a:r>
                      <a:endParaRPr lang="pt-B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7366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ES</a:t>
                      </a:r>
                      <a:endParaRPr lang="pt-B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474399"/>
                  </a:ext>
                </a:extLst>
              </a:tr>
              <a:tr h="350150">
                <a:tc>
                  <a:txBody>
                    <a:bodyPr/>
                    <a:lstStyle/>
                    <a:p>
                      <a:pPr marL="104775" marR="9271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Jorge</a:t>
                      </a:r>
                      <a:r>
                        <a:rPr lang="pt-PT" sz="1800" spc="-15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PT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Macedo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7366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IP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4658252"/>
                  </a:ext>
                </a:extLst>
              </a:tr>
              <a:tr h="350150">
                <a:tc>
                  <a:txBody>
                    <a:bodyPr/>
                    <a:lstStyle/>
                    <a:p>
                      <a:pPr marL="104775" marR="9271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Márcia</a:t>
                      </a:r>
                      <a:r>
                        <a:rPr lang="pt-PT" sz="1800" spc="-1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PT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Gadelha</a:t>
                      </a:r>
                      <a:endParaRPr lang="pt-B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7366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</a:t>
                      </a:r>
                      <a:endParaRPr lang="pt-B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18615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50692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278AD5-F29A-9882-5C8D-3A66598EA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QUINTA FORMA NORMAL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E423E9-5666-CECD-9B90-2AD43108C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Resumidamente dizemos que uma tabela está na Quinta Forma Normal </a:t>
            </a:r>
            <a:r>
              <a:rPr lang="pt-BR" b="1" dirty="0">
                <a:solidFill>
                  <a:srgbClr val="FF0000"/>
                </a:solidFill>
              </a:rPr>
              <a:t>quando não há mais possibilidade de desmembrar a tabela em tabelas menores que a original sem perda de informação. </a:t>
            </a:r>
          </a:p>
          <a:p>
            <a:r>
              <a:rPr lang="pt-BR" dirty="0"/>
              <a:t>Esta regra deixa o banco com muitas tabelas e isso pode acabar interferindo no desempenho.</a:t>
            </a:r>
          </a:p>
        </p:txBody>
      </p:sp>
    </p:spTree>
    <p:extLst>
      <p:ext uri="{BB962C8B-B14F-4D97-AF65-F5344CB8AC3E}">
        <p14:creationId xmlns:p14="http://schemas.microsoft.com/office/powerpoint/2010/main" val="15745852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DA2105-B2C4-3D51-6CEF-35CA565A6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9505"/>
            <a:ext cx="10515600" cy="603063"/>
          </a:xfrm>
        </p:spPr>
        <p:txBody>
          <a:bodyPr>
            <a:normAutofit fontScale="90000"/>
          </a:bodyPr>
          <a:lstStyle/>
          <a:p>
            <a:r>
              <a:rPr lang="pt-BR" dirty="0"/>
              <a:t>ROTEIRO PARA A NORMALIZAÇÃO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9BB8D5A-F8EB-276E-B6DE-D5EA75A77A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7812"/>
            <a:ext cx="10515600" cy="4859151"/>
          </a:xfrm>
        </p:spPr>
        <p:txBody>
          <a:bodyPr>
            <a:normAutofit fontScale="92500" lnSpcReduction="10000"/>
          </a:bodyPr>
          <a:lstStyle/>
          <a:p>
            <a:endParaRPr lang="pt-BR" dirty="0"/>
          </a:p>
          <a:p>
            <a:r>
              <a:rPr lang="pt-BR" dirty="0"/>
              <a:t>Elimine os atributos repetidos (se houver), de modo a obter um modelo na 1FN;</a:t>
            </a:r>
          </a:p>
          <a:p>
            <a:endParaRPr lang="pt-BR" dirty="0"/>
          </a:p>
          <a:p>
            <a:r>
              <a:rPr lang="pt-BR" dirty="0"/>
              <a:t>Elimine as dependências parciais da chave primária em suas relações (se houver) para obter o modelo na 2FN;</a:t>
            </a:r>
          </a:p>
          <a:p>
            <a:endParaRPr lang="pt-BR" dirty="0"/>
          </a:p>
          <a:p>
            <a:r>
              <a:rPr lang="pt-BR" dirty="0"/>
              <a:t>Elimine as dependências transitivas nas tabelas (se houverem), obtendo um esquema na 3FN;</a:t>
            </a:r>
          </a:p>
          <a:p>
            <a:endParaRPr lang="pt-BR" dirty="0"/>
          </a:p>
          <a:p>
            <a:r>
              <a:rPr lang="pt-BR" dirty="0"/>
              <a:t>Avalie se vale a pena aplicar mais algum tipo adicional de normalização 4FN, 5FN.</a:t>
            </a:r>
          </a:p>
        </p:txBody>
      </p:sp>
    </p:spTree>
    <p:extLst>
      <p:ext uri="{BB962C8B-B14F-4D97-AF65-F5344CB8AC3E}">
        <p14:creationId xmlns:p14="http://schemas.microsoft.com/office/powerpoint/2010/main" val="4053386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A9CD69-3AED-A706-8E7B-358503EAB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5014"/>
            <a:ext cx="10515600" cy="536023"/>
          </a:xfrm>
        </p:spPr>
        <p:txBody>
          <a:bodyPr>
            <a:normAutofit fontScale="90000"/>
          </a:bodyPr>
          <a:lstStyle/>
          <a:p>
            <a:r>
              <a:rPr lang="pt-BR" dirty="0"/>
              <a:t>Exercícios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B3E1083-4086-F5C6-5D4C-045CEEF19C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1037"/>
            <a:ext cx="10515600" cy="5495926"/>
          </a:xfrm>
        </p:spPr>
        <p:txBody>
          <a:bodyPr>
            <a:normAutofit/>
          </a:bodyPr>
          <a:lstStyle/>
          <a:p>
            <a:r>
              <a:rPr lang="pt-BR" sz="2000" dirty="0"/>
              <a:t>A tabela abaixo representa os pedidos de produtos de software para uma loja e não obedece nenhuma das formas normais vistas (1FN, 2FN e 3FN). Indique os passos para deixá-la em cada uma dessas formas normais.</a:t>
            </a:r>
          </a:p>
          <a:p>
            <a:endParaRPr lang="pt-BR" sz="2000" dirty="0"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D9F28F1B-E7E9-E990-2F65-B7E21E1258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7537895"/>
              </p:ext>
            </p:extLst>
          </p:nvPr>
        </p:nvGraphicFramePr>
        <p:xfrm>
          <a:off x="1736036" y="2173357"/>
          <a:ext cx="9037981" cy="4003607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963034">
                  <a:extLst>
                    <a:ext uri="{9D8B030D-6E8A-4147-A177-3AD203B41FA5}">
                      <a16:colId xmlns:a16="http://schemas.microsoft.com/office/drawing/2014/main" val="1600227103"/>
                    </a:ext>
                  </a:extLst>
                </a:gridCol>
                <a:gridCol w="956977">
                  <a:extLst>
                    <a:ext uri="{9D8B030D-6E8A-4147-A177-3AD203B41FA5}">
                      <a16:colId xmlns:a16="http://schemas.microsoft.com/office/drawing/2014/main" val="1553448282"/>
                    </a:ext>
                  </a:extLst>
                </a:gridCol>
                <a:gridCol w="1336134">
                  <a:extLst>
                    <a:ext uri="{9D8B030D-6E8A-4147-A177-3AD203B41FA5}">
                      <a16:colId xmlns:a16="http://schemas.microsoft.com/office/drawing/2014/main" val="2882675204"/>
                    </a:ext>
                  </a:extLst>
                </a:gridCol>
                <a:gridCol w="1410027">
                  <a:extLst>
                    <a:ext uri="{9D8B030D-6E8A-4147-A177-3AD203B41FA5}">
                      <a16:colId xmlns:a16="http://schemas.microsoft.com/office/drawing/2014/main" val="2998052209"/>
                    </a:ext>
                  </a:extLst>
                </a:gridCol>
                <a:gridCol w="1380954">
                  <a:extLst>
                    <a:ext uri="{9D8B030D-6E8A-4147-A177-3AD203B41FA5}">
                      <a16:colId xmlns:a16="http://schemas.microsoft.com/office/drawing/2014/main" val="2884556002"/>
                    </a:ext>
                  </a:extLst>
                </a:gridCol>
                <a:gridCol w="1293735">
                  <a:extLst>
                    <a:ext uri="{9D8B030D-6E8A-4147-A177-3AD203B41FA5}">
                      <a16:colId xmlns:a16="http://schemas.microsoft.com/office/drawing/2014/main" val="2282682363"/>
                    </a:ext>
                  </a:extLst>
                </a:gridCol>
                <a:gridCol w="701379">
                  <a:extLst>
                    <a:ext uri="{9D8B030D-6E8A-4147-A177-3AD203B41FA5}">
                      <a16:colId xmlns:a16="http://schemas.microsoft.com/office/drawing/2014/main" val="3991212388"/>
                    </a:ext>
                  </a:extLst>
                </a:gridCol>
                <a:gridCol w="995741">
                  <a:extLst>
                    <a:ext uri="{9D8B030D-6E8A-4147-A177-3AD203B41FA5}">
                      <a16:colId xmlns:a16="http://schemas.microsoft.com/office/drawing/2014/main" val="3849676357"/>
                    </a:ext>
                  </a:extLst>
                </a:gridCol>
              </a:tblGrid>
              <a:tr h="1481886">
                <a:tc>
                  <a:txBody>
                    <a:bodyPr/>
                    <a:lstStyle/>
                    <a:p>
                      <a:pPr algn="l">
                        <a:spcBef>
                          <a:spcPts val="55"/>
                        </a:spcBef>
                      </a:pPr>
                      <a:r>
                        <a:rPr lang="pt-PT" sz="1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87630" marR="74295" indent="20955" algn="just">
                        <a:lnSpc>
                          <a:spcPct val="126000"/>
                        </a:lnSpc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1800" b="1" u="sng">
                          <a:solidFill>
                            <a:srgbClr val="FFFFFF"/>
                          </a:solidFill>
                          <a:effectLst/>
                          <a:uFill>
                            <a:solidFill>
                              <a:srgbClr val="FFFFFF"/>
                            </a:solidFill>
                          </a:uFill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Num_</a:t>
                      </a:r>
                      <a:r>
                        <a:rPr lang="pt-PT" sz="1800" b="1" spc="-195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PT" sz="1800" b="1" u="sng" spc="-5">
                          <a:solidFill>
                            <a:srgbClr val="FFFFFF"/>
                          </a:solidFill>
                          <a:effectLst/>
                          <a:uFill>
                            <a:solidFill>
                              <a:srgbClr val="FFFFFF"/>
                            </a:solidFill>
                          </a:uFill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Pedido</a:t>
                      </a:r>
                      <a:r>
                        <a:rPr lang="pt-PT" sz="1800" b="1" spc="-195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PT" sz="18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(PK)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6E5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5"/>
                        </a:spcBef>
                      </a:pPr>
                      <a:r>
                        <a:rPr lang="pt-PT" sz="1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139065" marR="116840" indent="-8890" algn="just">
                        <a:lnSpc>
                          <a:spcPct val="126000"/>
                        </a:lnSpc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1800" b="1" u="sng">
                          <a:solidFill>
                            <a:srgbClr val="FFFFFF"/>
                          </a:solidFill>
                          <a:effectLst/>
                          <a:uFill>
                            <a:solidFill>
                              <a:srgbClr val="FFFFFF"/>
                            </a:solidFill>
                          </a:uFill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Cod_</a:t>
                      </a:r>
                      <a:r>
                        <a:rPr lang="pt-PT" sz="1800" b="1" spc="-195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PT" sz="1800" b="1" u="sng">
                          <a:solidFill>
                            <a:srgbClr val="FFFFFF"/>
                          </a:solidFill>
                          <a:effectLst/>
                          <a:uFill>
                            <a:solidFill>
                              <a:srgbClr val="FFFFFF"/>
                            </a:solidFill>
                          </a:uFill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Prod</a:t>
                      </a:r>
                      <a:r>
                        <a:rPr lang="pt-PT" sz="1800" b="1" spc="-195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PT" sz="18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(PK)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6E5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25"/>
                        </a:spcBef>
                      </a:pPr>
                      <a:r>
                        <a:rPr lang="pt-PT" sz="1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spcBef>
                          <a:spcPts val="50"/>
                        </a:spcBef>
                      </a:pPr>
                      <a:r>
                        <a:rPr lang="pt-PT" sz="1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85090" marR="73025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18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Nm_Prod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6E5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25"/>
                        </a:spcBef>
                      </a:pPr>
                      <a:r>
                        <a:rPr lang="pt-PT" sz="1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spcBef>
                          <a:spcPts val="50"/>
                        </a:spcBef>
                      </a:pPr>
                      <a:r>
                        <a:rPr lang="pt-PT" sz="1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79375" marR="69215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18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Data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6E5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25"/>
                        </a:spcBef>
                      </a:pPr>
                      <a:r>
                        <a:rPr lang="pt-PT" sz="1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89535" marR="73025" indent="157480" algn="l">
                        <a:lnSpc>
                          <a:spcPct val="126000"/>
                        </a:lnSpc>
                        <a:spcBef>
                          <a:spcPts val="630"/>
                        </a:spcBef>
                        <a:spcAft>
                          <a:spcPts val="0"/>
                        </a:spcAft>
                      </a:pPr>
                      <a:r>
                        <a:rPr lang="pt-PT" sz="18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Nm_</a:t>
                      </a:r>
                      <a:r>
                        <a:rPr lang="pt-PT" sz="1800" b="1" spc="5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PT" sz="1800" b="1" spc="-5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Fornecedor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6E5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25"/>
                        </a:spcBef>
                      </a:pPr>
                      <a:r>
                        <a:rPr lang="pt-PT" sz="1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176530" marR="71120" indent="-89535" algn="l">
                        <a:lnSpc>
                          <a:spcPct val="126000"/>
                        </a:lnSpc>
                        <a:spcBef>
                          <a:spcPts val="630"/>
                        </a:spcBef>
                        <a:spcAft>
                          <a:spcPts val="0"/>
                        </a:spcAft>
                      </a:pPr>
                      <a:r>
                        <a:rPr lang="pt-PT" sz="1800" b="1" spc="-5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Endereço_</a:t>
                      </a:r>
                      <a:r>
                        <a:rPr lang="pt-PT" sz="1800" b="1" spc="-19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PT" sz="18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Fornec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6E5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25"/>
                        </a:spcBef>
                      </a:pPr>
                      <a:r>
                        <a:rPr lang="pt-PT" sz="1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spcBef>
                          <a:spcPts val="50"/>
                        </a:spcBef>
                      </a:pPr>
                      <a:r>
                        <a:rPr lang="pt-PT" sz="1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78105" marR="7112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pt-PT" sz="18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Qtd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6E5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25"/>
                        </a:spcBef>
                      </a:pPr>
                      <a:r>
                        <a:rPr lang="pt-PT" sz="1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142240" marR="78740" indent="-46355" algn="l">
                        <a:lnSpc>
                          <a:spcPct val="126000"/>
                        </a:lnSpc>
                        <a:spcBef>
                          <a:spcPts val="630"/>
                        </a:spcBef>
                        <a:spcAft>
                          <a:spcPts val="0"/>
                        </a:spcAft>
                      </a:pPr>
                      <a:r>
                        <a:rPr lang="pt-PT" sz="1800" b="1" spc="-5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Preço_</a:t>
                      </a:r>
                      <a:r>
                        <a:rPr lang="pt-PT" sz="1800" b="1" spc="-19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PT" sz="18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6E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5641937"/>
                  </a:ext>
                </a:extLst>
              </a:tr>
              <a:tr h="480985">
                <a:tc>
                  <a:txBody>
                    <a:bodyPr/>
                    <a:lstStyle/>
                    <a:p>
                      <a:pPr algn="l">
                        <a:spcBef>
                          <a:spcPts val="625"/>
                        </a:spcBef>
                      </a:pPr>
                      <a:r>
                        <a:rPr lang="pt-PT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D4BD"/>
                    </a:solidFill>
                  </a:tcPr>
                </a:tc>
                <a:tc>
                  <a:txBody>
                    <a:bodyPr/>
                    <a:lstStyle/>
                    <a:p>
                      <a:pPr marL="150495" marR="138430" algn="ctr">
                        <a:spcBef>
                          <a:spcPts val="580"/>
                        </a:spcBef>
                        <a:spcAft>
                          <a:spcPts val="0"/>
                        </a:spcAft>
                      </a:pPr>
                      <a:r>
                        <a:rPr lang="pt-PT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001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D4BD"/>
                    </a:solidFill>
                  </a:tcPr>
                </a:tc>
                <a:tc>
                  <a:txBody>
                    <a:bodyPr/>
                    <a:lstStyle/>
                    <a:p>
                      <a:pPr marL="85090" marR="73660" algn="ctr">
                        <a:spcBef>
                          <a:spcPts val="580"/>
                        </a:spcBef>
                        <a:spcAft>
                          <a:spcPts val="0"/>
                        </a:spcAft>
                      </a:pPr>
                      <a:r>
                        <a:rPr lang="pt-PT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Photoshop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D4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25"/>
                        </a:spcBef>
                      </a:pPr>
                      <a:r>
                        <a:rPr lang="pt-PT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D4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25"/>
                        </a:spcBef>
                      </a:pPr>
                      <a:r>
                        <a:rPr lang="pt-PT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D4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25"/>
                        </a:spcBef>
                      </a:pPr>
                      <a:r>
                        <a:rPr lang="pt-PT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D4BD"/>
                    </a:solidFill>
                  </a:tcPr>
                </a:tc>
                <a:tc>
                  <a:txBody>
                    <a:bodyPr/>
                    <a:lstStyle/>
                    <a:p>
                      <a:pPr marL="78105" marR="70485" algn="ctr">
                        <a:spcBef>
                          <a:spcPts val="580"/>
                        </a:spcBef>
                        <a:spcAft>
                          <a:spcPts val="0"/>
                        </a:spcAft>
                      </a:pPr>
                      <a:r>
                        <a:rPr lang="pt-PT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02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D4BD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78740" algn="ctr">
                        <a:spcBef>
                          <a:spcPts val="580"/>
                        </a:spcBef>
                        <a:spcAft>
                          <a:spcPts val="0"/>
                        </a:spcAft>
                      </a:pPr>
                      <a:r>
                        <a:rPr lang="pt-PT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500,00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D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6153660"/>
                  </a:ext>
                </a:extLst>
              </a:tr>
              <a:tr h="351635">
                <a:tc>
                  <a:txBody>
                    <a:bodyPr/>
                    <a:lstStyle/>
                    <a:p>
                      <a:pPr marL="152400" marR="140335" algn="ctr">
                        <a:spcBef>
                          <a:spcPts val="65"/>
                        </a:spcBef>
                        <a:spcAft>
                          <a:spcPts val="0"/>
                        </a:spcAft>
                      </a:pPr>
                      <a:r>
                        <a:rPr lang="pt-PT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111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D4BD"/>
                    </a:solidFill>
                  </a:tcPr>
                </a:tc>
                <a:tc>
                  <a:txBody>
                    <a:bodyPr/>
                    <a:lstStyle/>
                    <a:p>
                      <a:pPr marL="150495" marR="138430" algn="ctr">
                        <a:spcBef>
                          <a:spcPts val="65"/>
                        </a:spcBef>
                        <a:spcAft>
                          <a:spcPts val="0"/>
                        </a:spcAft>
                      </a:pPr>
                      <a:r>
                        <a:rPr lang="pt-PT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002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D4BD"/>
                    </a:solidFill>
                  </a:tcPr>
                </a:tc>
                <a:tc>
                  <a:txBody>
                    <a:bodyPr/>
                    <a:lstStyle/>
                    <a:p>
                      <a:pPr marL="85090" marR="73660" algn="ctr">
                        <a:spcBef>
                          <a:spcPts val="65"/>
                        </a:spcBef>
                        <a:spcAft>
                          <a:spcPts val="0"/>
                        </a:spcAft>
                      </a:pPr>
                      <a:r>
                        <a:rPr lang="pt-PT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Coreldraw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D4BD"/>
                    </a:solidFill>
                  </a:tcPr>
                </a:tc>
                <a:tc>
                  <a:txBody>
                    <a:bodyPr/>
                    <a:lstStyle/>
                    <a:p>
                      <a:pPr marL="80010" marR="69215" algn="ctr">
                        <a:spcBef>
                          <a:spcPts val="65"/>
                        </a:spcBef>
                        <a:spcAft>
                          <a:spcPts val="0"/>
                        </a:spcAft>
                      </a:pPr>
                      <a:r>
                        <a:rPr lang="pt-PT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10/02/2010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D4BD"/>
                    </a:solidFill>
                  </a:tcPr>
                </a:tc>
                <a:tc>
                  <a:txBody>
                    <a:bodyPr/>
                    <a:lstStyle/>
                    <a:p>
                      <a:pPr marR="167640" algn="r">
                        <a:spcBef>
                          <a:spcPts val="65"/>
                        </a:spcBef>
                        <a:spcAft>
                          <a:spcPts val="0"/>
                        </a:spcAft>
                      </a:pPr>
                      <a:r>
                        <a:rPr lang="pt-PT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InfoSoft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D4BD"/>
                    </a:solidFill>
                  </a:tcPr>
                </a:tc>
                <a:tc>
                  <a:txBody>
                    <a:bodyPr/>
                    <a:lstStyle/>
                    <a:p>
                      <a:pPr marR="98425" algn="r">
                        <a:spcBef>
                          <a:spcPts val="65"/>
                        </a:spcBef>
                        <a:spcAft>
                          <a:spcPts val="0"/>
                        </a:spcAft>
                      </a:pPr>
                      <a:r>
                        <a:rPr lang="pt-PT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R.</a:t>
                      </a:r>
                      <a:r>
                        <a:rPr lang="pt-PT" sz="1800" spc="-35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PT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Flor,</a:t>
                      </a:r>
                      <a:r>
                        <a:rPr lang="pt-PT" sz="1800" spc="-25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PT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25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D4BD"/>
                    </a:solidFill>
                  </a:tcPr>
                </a:tc>
                <a:tc>
                  <a:txBody>
                    <a:bodyPr/>
                    <a:lstStyle/>
                    <a:p>
                      <a:pPr marL="78105" marR="70485" algn="ctr">
                        <a:spcBef>
                          <a:spcPts val="65"/>
                        </a:spcBef>
                        <a:spcAft>
                          <a:spcPts val="0"/>
                        </a:spcAft>
                      </a:pPr>
                      <a:r>
                        <a:rPr lang="pt-PT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03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D4BD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78740" algn="ctr">
                        <a:spcBef>
                          <a:spcPts val="70"/>
                        </a:spcBef>
                        <a:spcAft>
                          <a:spcPts val="0"/>
                        </a:spcAft>
                      </a:pPr>
                      <a:r>
                        <a:rPr lang="pt-PT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350,00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D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249799"/>
                  </a:ext>
                </a:extLst>
              </a:tr>
              <a:tr h="423217">
                <a:tc>
                  <a:txBody>
                    <a:bodyPr/>
                    <a:lstStyle/>
                    <a:p>
                      <a:pPr algn="l">
                        <a:spcBef>
                          <a:spcPts val="625"/>
                        </a:spcBef>
                      </a:pPr>
                      <a:r>
                        <a:rPr lang="pt-PT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4BD"/>
                    </a:solidFill>
                  </a:tcPr>
                </a:tc>
                <a:tc>
                  <a:txBody>
                    <a:bodyPr/>
                    <a:lstStyle/>
                    <a:p>
                      <a:pPr marL="150495" marR="138430" algn="ctr">
                        <a:spcBef>
                          <a:spcPts val="65"/>
                        </a:spcBef>
                        <a:spcAft>
                          <a:spcPts val="0"/>
                        </a:spcAft>
                      </a:pPr>
                      <a:r>
                        <a:rPr lang="pt-PT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003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4BD"/>
                    </a:solidFill>
                  </a:tcPr>
                </a:tc>
                <a:tc>
                  <a:txBody>
                    <a:bodyPr/>
                    <a:lstStyle/>
                    <a:p>
                      <a:pPr marL="85090" marR="73660" algn="ctr">
                        <a:spcBef>
                          <a:spcPts val="65"/>
                        </a:spcBef>
                        <a:spcAft>
                          <a:spcPts val="0"/>
                        </a:spcAft>
                      </a:pPr>
                      <a:r>
                        <a:rPr lang="pt-PT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Flash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4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25"/>
                        </a:spcBef>
                      </a:pPr>
                      <a:r>
                        <a:rPr lang="pt-PT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4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25"/>
                        </a:spcBef>
                      </a:pPr>
                      <a:r>
                        <a:rPr lang="pt-PT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4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25"/>
                        </a:spcBef>
                      </a:pPr>
                      <a:r>
                        <a:rPr lang="pt-PT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4BD"/>
                    </a:solidFill>
                  </a:tcPr>
                </a:tc>
                <a:tc>
                  <a:txBody>
                    <a:bodyPr/>
                    <a:lstStyle/>
                    <a:p>
                      <a:pPr marL="78105" marR="70485" algn="ctr">
                        <a:spcBef>
                          <a:spcPts val="65"/>
                        </a:spcBef>
                        <a:spcAft>
                          <a:spcPts val="0"/>
                        </a:spcAft>
                      </a:pPr>
                      <a:r>
                        <a:rPr lang="pt-PT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02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4BD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78740" algn="ctr">
                        <a:spcBef>
                          <a:spcPts val="70"/>
                        </a:spcBef>
                        <a:spcAft>
                          <a:spcPts val="0"/>
                        </a:spcAft>
                      </a:pPr>
                      <a:r>
                        <a:rPr lang="pt-PT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100,00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0810898"/>
                  </a:ext>
                </a:extLst>
              </a:tr>
              <a:tr h="486009">
                <a:tc>
                  <a:txBody>
                    <a:bodyPr/>
                    <a:lstStyle/>
                    <a:p>
                      <a:pPr algn="l">
                        <a:spcBef>
                          <a:spcPts val="625"/>
                        </a:spcBef>
                      </a:pPr>
                      <a:r>
                        <a:rPr lang="pt-PT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9F3EA"/>
                    </a:solidFill>
                  </a:tcPr>
                </a:tc>
                <a:tc>
                  <a:txBody>
                    <a:bodyPr/>
                    <a:lstStyle/>
                    <a:p>
                      <a:pPr marL="150495" marR="138430" algn="ctr">
                        <a:spcBef>
                          <a:spcPts val="605"/>
                        </a:spcBef>
                        <a:spcAft>
                          <a:spcPts val="0"/>
                        </a:spcAft>
                      </a:pPr>
                      <a:r>
                        <a:rPr lang="pt-PT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002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9F3EA"/>
                    </a:solidFill>
                  </a:tcPr>
                </a:tc>
                <a:tc>
                  <a:txBody>
                    <a:bodyPr/>
                    <a:lstStyle/>
                    <a:p>
                      <a:pPr marL="85090" marR="73660" algn="ctr">
                        <a:spcBef>
                          <a:spcPts val="605"/>
                        </a:spcBef>
                        <a:spcAft>
                          <a:spcPts val="0"/>
                        </a:spcAft>
                      </a:pPr>
                      <a:r>
                        <a:rPr lang="pt-PT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Coreldraw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9F3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25"/>
                        </a:spcBef>
                      </a:pPr>
                      <a:r>
                        <a:rPr lang="pt-PT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9F3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25"/>
                        </a:spcBef>
                      </a:pPr>
                      <a:r>
                        <a:rPr lang="pt-PT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9F3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25"/>
                        </a:spcBef>
                      </a:pPr>
                      <a:r>
                        <a:rPr lang="pt-PT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9F3EA"/>
                    </a:solidFill>
                  </a:tcPr>
                </a:tc>
                <a:tc>
                  <a:txBody>
                    <a:bodyPr/>
                    <a:lstStyle/>
                    <a:p>
                      <a:pPr marL="78105" marR="70485" algn="ctr">
                        <a:spcBef>
                          <a:spcPts val="605"/>
                        </a:spcBef>
                        <a:spcAft>
                          <a:spcPts val="0"/>
                        </a:spcAft>
                      </a:pPr>
                      <a:r>
                        <a:rPr lang="pt-PT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03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9F3EA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78740" algn="ctr">
                        <a:spcBef>
                          <a:spcPts val="605"/>
                        </a:spcBef>
                        <a:spcAft>
                          <a:spcPts val="0"/>
                        </a:spcAft>
                      </a:pPr>
                      <a:r>
                        <a:rPr lang="pt-PT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350,00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9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3688404"/>
                  </a:ext>
                </a:extLst>
              </a:tr>
              <a:tr h="351635">
                <a:tc>
                  <a:txBody>
                    <a:bodyPr/>
                    <a:lstStyle/>
                    <a:p>
                      <a:pPr marL="152400" marR="140335" algn="ctr">
                        <a:spcBef>
                          <a:spcPts val="65"/>
                        </a:spcBef>
                        <a:spcAft>
                          <a:spcPts val="0"/>
                        </a:spcAft>
                      </a:pPr>
                      <a:r>
                        <a:rPr lang="pt-PT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222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3EA"/>
                    </a:solidFill>
                  </a:tcPr>
                </a:tc>
                <a:tc>
                  <a:txBody>
                    <a:bodyPr/>
                    <a:lstStyle/>
                    <a:p>
                      <a:pPr marL="150495" marR="138430" algn="ctr">
                        <a:spcBef>
                          <a:spcPts val="65"/>
                        </a:spcBef>
                        <a:spcAft>
                          <a:spcPts val="0"/>
                        </a:spcAft>
                      </a:pPr>
                      <a:r>
                        <a:rPr lang="pt-PT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003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3EA"/>
                    </a:solidFill>
                  </a:tcPr>
                </a:tc>
                <a:tc>
                  <a:txBody>
                    <a:bodyPr/>
                    <a:lstStyle/>
                    <a:p>
                      <a:pPr marL="85090" marR="73660" algn="ctr">
                        <a:spcBef>
                          <a:spcPts val="65"/>
                        </a:spcBef>
                        <a:spcAft>
                          <a:spcPts val="0"/>
                        </a:spcAft>
                      </a:pPr>
                      <a:r>
                        <a:rPr lang="pt-PT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Flash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3EA"/>
                    </a:solidFill>
                  </a:tcPr>
                </a:tc>
                <a:tc>
                  <a:txBody>
                    <a:bodyPr/>
                    <a:lstStyle/>
                    <a:p>
                      <a:pPr marL="80010" marR="69215" algn="ctr">
                        <a:spcBef>
                          <a:spcPts val="65"/>
                        </a:spcBef>
                        <a:spcAft>
                          <a:spcPts val="0"/>
                        </a:spcAft>
                      </a:pPr>
                      <a:r>
                        <a:rPr lang="pt-PT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23/03/2010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3EA"/>
                    </a:solidFill>
                  </a:tcPr>
                </a:tc>
                <a:tc>
                  <a:txBody>
                    <a:bodyPr/>
                    <a:lstStyle/>
                    <a:p>
                      <a:pPr marR="173990" algn="r">
                        <a:spcBef>
                          <a:spcPts val="65"/>
                        </a:spcBef>
                        <a:spcAft>
                          <a:spcPts val="0"/>
                        </a:spcAft>
                      </a:pPr>
                      <a:r>
                        <a:rPr lang="pt-PT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BRSofts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3EA"/>
                    </a:solidFill>
                  </a:tcPr>
                </a:tc>
                <a:tc>
                  <a:txBody>
                    <a:bodyPr/>
                    <a:lstStyle/>
                    <a:p>
                      <a:pPr marR="97790" algn="r">
                        <a:spcBef>
                          <a:spcPts val="65"/>
                        </a:spcBef>
                        <a:spcAft>
                          <a:spcPts val="0"/>
                        </a:spcAft>
                      </a:pPr>
                      <a:r>
                        <a:rPr lang="pt-PT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Av.</a:t>
                      </a:r>
                      <a:r>
                        <a:rPr lang="pt-PT" sz="1800" spc="-35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PT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Itu,</a:t>
                      </a:r>
                      <a:r>
                        <a:rPr lang="pt-PT" sz="1800" spc="-25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PT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33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3EA"/>
                    </a:solidFill>
                  </a:tcPr>
                </a:tc>
                <a:tc>
                  <a:txBody>
                    <a:bodyPr/>
                    <a:lstStyle/>
                    <a:p>
                      <a:pPr marL="78105" marR="70485" algn="ctr">
                        <a:spcBef>
                          <a:spcPts val="65"/>
                        </a:spcBef>
                        <a:spcAft>
                          <a:spcPts val="0"/>
                        </a:spcAft>
                      </a:pPr>
                      <a:r>
                        <a:rPr lang="pt-PT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05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3EA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78740" algn="ctr">
                        <a:spcBef>
                          <a:spcPts val="70"/>
                        </a:spcBef>
                        <a:spcAft>
                          <a:spcPts val="0"/>
                        </a:spcAft>
                      </a:pPr>
                      <a:r>
                        <a:rPr lang="pt-PT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100,00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3020394"/>
                  </a:ext>
                </a:extLst>
              </a:tr>
              <a:tr h="428240">
                <a:tc>
                  <a:txBody>
                    <a:bodyPr/>
                    <a:lstStyle/>
                    <a:p>
                      <a:pPr algn="l">
                        <a:spcBef>
                          <a:spcPts val="625"/>
                        </a:spcBef>
                      </a:pPr>
                      <a:r>
                        <a:rPr lang="pt-PT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EA"/>
                    </a:solidFill>
                  </a:tcPr>
                </a:tc>
                <a:tc>
                  <a:txBody>
                    <a:bodyPr/>
                    <a:lstStyle/>
                    <a:p>
                      <a:pPr marL="150495" marR="138430" algn="ctr">
                        <a:spcBef>
                          <a:spcPts val="65"/>
                        </a:spcBef>
                        <a:spcAft>
                          <a:spcPts val="0"/>
                        </a:spcAft>
                      </a:pPr>
                      <a:r>
                        <a:rPr lang="pt-PT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005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EA"/>
                    </a:solidFill>
                  </a:tcPr>
                </a:tc>
                <a:tc>
                  <a:txBody>
                    <a:bodyPr/>
                    <a:lstStyle/>
                    <a:p>
                      <a:pPr marL="85090" marR="73660" algn="ctr">
                        <a:spcBef>
                          <a:spcPts val="65"/>
                        </a:spcBef>
                        <a:spcAft>
                          <a:spcPts val="0"/>
                        </a:spcAft>
                      </a:pPr>
                      <a:r>
                        <a:rPr lang="pt-PT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ABC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25"/>
                        </a:spcBef>
                      </a:pPr>
                      <a:r>
                        <a:rPr lang="pt-PT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25"/>
                        </a:spcBef>
                      </a:pPr>
                      <a:r>
                        <a:rPr lang="pt-PT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25"/>
                        </a:spcBef>
                      </a:pPr>
                      <a:r>
                        <a:rPr lang="pt-PT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EA"/>
                    </a:solidFill>
                  </a:tcPr>
                </a:tc>
                <a:tc>
                  <a:txBody>
                    <a:bodyPr/>
                    <a:lstStyle/>
                    <a:p>
                      <a:pPr marL="78105" marR="70485" algn="ctr">
                        <a:spcBef>
                          <a:spcPts val="65"/>
                        </a:spcBef>
                        <a:spcAft>
                          <a:spcPts val="0"/>
                        </a:spcAft>
                      </a:pPr>
                      <a:r>
                        <a:rPr lang="pt-PT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EA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78740" algn="ctr">
                        <a:spcBef>
                          <a:spcPts val="70"/>
                        </a:spcBef>
                        <a:spcAft>
                          <a:spcPts val="0"/>
                        </a:spcAft>
                      </a:pPr>
                      <a:r>
                        <a:rPr lang="pt-PT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200,00</a:t>
                      </a:r>
                      <a:endParaRPr lang="pt-B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89142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64256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0C705-E42C-EC4C-3144-EF64AD374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8023"/>
            <a:ext cx="10515600" cy="483014"/>
          </a:xfrm>
        </p:spPr>
        <p:txBody>
          <a:bodyPr>
            <a:normAutofit fontScale="90000"/>
          </a:bodyPr>
          <a:lstStyle/>
          <a:p>
            <a:r>
              <a:rPr lang="pt-BR" dirty="0"/>
              <a:t>Exercícios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ABE920-DE34-9193-42FA-AA7B4A3322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1037"/>
            <a:ext cx="10515600" cy="5495926"/>
          </a:xfrm>
        </p:spPr>
        <p:txBody>
          <a:bodyPr>
            <a:normAutofit fontScale="77500" lnSpcReduction="20000"/>
          </a:bodyPr>
          <a:lstStyle/>
          <a:p>
            <a:r>
              <a:rPr lang="pt-BR" dirty="0"/>
              <a:t>I) Faça a Normalização, pelo menos até a 3FN, das relações a seguir. Atributos entre chaves indicam atributos multivalorados. Atributos sublinhados indicam as chaves primárias.</a:t>
            </a:r>
          </a:p>
          <a:p>
            <a:r>
              <a:rPr lang="pt-BR" dirty="0"/>
              <a:t>a) </a:t>
            </a:r>
            <a:r>
              <a:rPr lang="pt-BR" dirty="0" err="1"/>
              <a:t>Tabela_Oficina</a:t>
            </a:r>
            <a:r>
              <a:rPr lang="pt-BR" dirty="0"/>
              <a:t> (</a:t>
            </a:r>
            <a:r>
              <a:rPr lang="pt-BR" dirty="0" err="1"/>
              <a:t>cod_cliente</a:t>
            </a:r>
            <a:r>
              <a:rPr lang="pt-BR" dirty="0"/>
              <a:t>, nome, </a:t>
            </a:r>
            <a:r>
              <a:rPr lang="pt-BR" dirty="0" err="1"/>
              <a:t>endereco</a:t>
            </a:r>
            <a:r>
              <a:rPr lang="pt-BR" dirty="0"/>
              <a:t>, </a:t>
            </a:r>
            <a:r>
              <a:rPr lang="pt-BR" dirty="0" err="1"/>
              <a:t>cod_carro</a:t>
            </a:r>
            <a:r>
              <a:rPr lang="pt-BR" dirty="0"/>
              <a:t>, modelo, ano_ </a:t>
            </a:r>
            <a:r>
              <a:rPr lang="pt-BR" dirty="0" err="1"/>
              <a:t>fabricacao</a:t>
            </a:r>
            <a:r>
              <a:rPr lang="pt-BR" dirty="0"/>
              <a:t>, {</a:t>
            </a:r>
            <a:r>
              <a:rPr lang="pt-BR" dirty="0" err="1"/>
              <a:t>cod_servico</a:t>
            </a:r>
            <a:r>
              <a:rPr lang="pt-BR" dirty="0"/>
              <a:t>, </a:t>
            </a:r>
            <a:r>
              <a:rPr lang="pt-BR" dirty="0" err="1"/>
              <a:t>descricao</a:t>
            </a:r>
            <a:r>
              <a:rPr lang="pt-BR" dirty="0"/>
              <a:t>}, </a:t>
            </a:r>
            <a:r>
              <a:rPr lang="pt-BR" dirty="0" err="1"/>
              <a:t>data_servico,valor_servico</a:t>
            </a:r>
            <a:r>
              <a:rPr lang="pt-BR" dirty="0"/>
              <a:t>,{</a:t>
            </a:r>
            <a:r>
              <a:rPr lang="pt-BR" dirty="0" err="1"/>
              <a:t>cod_produto</a:t>
            </a:r>
            <a:r>
              <a:rPr lang="pt-BR" dirty="0"/>
              <a:t>, </a:t>
            </a:r>
            <a:r>
              <a:rPr lang="pt-BR" dirty="0" err="1"/>
              <a:t>nome_produto</a:t>
            </a:r>
            <a:r>
              <a:rPr lang="pt-BR" dirty="0"/>
              <a:t>})</a:t>
            </a:r>
          </a:p>
          <a:p>
            <a:r>
              <a:rPr lang="pt-BR" dirty="0"/>
              <a:t>b) </a:t>
            </a:r>
            <a:r>
              <a:rPr lang="pt-BR" dirty="0" err="1"/>
              <a:t>Tabela_Hospital</a:t>
            </a:r>
            <a:r>
              <a:rPr lang="pt-BR" dirty="0"/>
              <a:t> (</a:t>
            </a:r>
            <a:r>
              <a:rPr lang="pt-BR" dirty="0" err="1"/>
              <a:t>cod_paciente</a:t>
            </a:r>
            <a:r>
              <a:rPr lang="pt-BR" dirty="0"/>
              <a:t>, nome, </a:t>
            </a:r>
            <a:r>
              <a:rPr lang="pt-BR" dirty="0" err="1"/>
              <a:t>tel</a:t>
            </a:r>
            <a:r>
              <a:rPr lang="pt-BR" dirty="0"/>
              <a:t>, </a:t>
            </a:r>
            <a:r>
              <a:rPr lang="pt-BR" dirty="0" err="1"/>
              <a:t>endereco</a:t>
            </a:r>
            <a:r>
              <a:rPr lang="pt-BR" dirty="0"/>
              <a:t>, </a:t>
            </a:r>
            <a:r>
              <a:rPr lang="pt-BR" dirty="0" err="1"/>
              <a:t>crm</a:t>
            </a:r>
            <a:r>
              <a:rPr lang="pt-BR" dirty="0"/>
              <a:t>, </a:t>
            </a:r>
            <a:r>
              <a:rPr lang="pt-BR" dirty="0" err="1"/>
              <a:t>nome_med</a:t>
            </a:r>
            <a:r>
              <a:rPr lang="pt-BR" dirty="0"/>
              <a:t>, </a:t>
            </a:r>
            <a:r>
              <a:rPr lang="pt-BR" dirty="0" err="1"/>
              <a:t>tel_med</a:t>
            </a:r>
            <a:r>
              <a:rPr lang="pt-BR" dirty="0"/>
              <a:t>, </a:t>
            </a:r>
            <a:r>
              <a:rPr lang="pt-BR" dirty="0" err="1"/>
              <a:t>endereco_med</a:t>
            </a:r>
            <a:r>
              <a:rPr lang="pt-BR" dirty="0"/>
              <a:t>, </a:t>
            </a:r>
            <a:r>
              <a:rPr lang="pt-BR" dirty="0" err="1"/>
              <a:t>cod_especialidade</a:t>
            </a:r>
            <a:r>
              <a:rPr lang="pt-BR" dirty="0"/>
              <a:t>, </a:t>
            </a:r>
            <a:r>
              <a:rPr lang="pt-BR" dirty="0" err="1"/>
              <a:t>nome_espec</a:t>
            </a:r>
            <a:r>
              <a:rPr lang="pt-BR" dirty="0"/>
              <a:t>, </a:t>
            </a:r>
            <a:r>
              <a:rPr lang="pt-BR" dirty="0" err="1"/>
              <a:t>data_consulta</a:t>
            </a:r>
            <a:r>
              <a:rPr lang="pt-BR" dirty="0"/>
              <a:t>, diagnostico)</a:t>
            </a:r>
          </a:p>
          <a:p>
            <a:r>
              <a:rPr lang="pt-BR" dirty="0"/>
              <a:t>c) </a:t>
            </a:r>
            <a:r>
              <a:rPr lang="pt-BR" dirty="0" err="1"/>
              <a:t>Tabela_Locadora</a:t>
            </a:r>
            <a:r>
              <a:rPr lang="pt-BR" dirty="0"/>
              <a:t> (</a:t>
            </a:r>
            <a:r>
              <a:rPr lang="pt-BR" dirty="0" err="1"/>
              <a:t>cod_cliente</a:t>
            </a:r>
            <a:r>
              <a:rPr lang="pt-BR" dirty="0"/>
              <a:t>, nome, </a:t>
            </a:r>
            <a:r>
              <a:rPr lang="pt-BR" dirty="0" err="1"/>
              <a:t>tel</a:t>
            </a:r>
            <a:r>
              <a:rPr lang="pt-BR" dirty="0"/>
              <a:t>, {</a:t>
            </a:r>
            <a:r>
              <a:rPr lang="pt-BR" dirty="0" err="1"/>
              <a:t>cod_fita</a:t>
            </a:r>
            <a:r>
              <a:rPr lang="pt-BR" dirty="0"/>
              <a:t>, </a:t>
            </a:r>
            <a:r>
              <a:rPr lang="pt-BR" dirty="0" err="1"/>
              <a:t>nome_filme</a:t>
            </a:r>
            <a:r>
              <a:rPr lang="pt-BR" dirty="0"/>
              <a:t>, </a:t>
            </a:r>
            <a:r>
              <a:rPr lang="pt-BR" dirty="0" err="1"/>
              <a:t>duracao</a:t>
            </a:r>
            <a:r>
              <a:rPr lang="pt-BR" dirty="0"/>
              <a:t>, </a:t>
            </a:r>
            <a:r>
              <a:rPr lang="pt-BR" dirty="0" err="1"/>
              <a:t>cod</a:t>
            </a:r>
            <a:r>
              <a:rPr lang="pt-BR" dirty="0"/>
              <a:t>_ </a:t>
            </a:r>
            <a:r>
              <a:rPr lang="pt-BR" dirty="0" err="1"/>
              <a:t>genero</a:t>
            </a:r>
            <a:r>
              <a:rPr lang="pt-BR" dirty="0"/>
              <a:t>, </a:t>
            </a:r>
            <a:r>
              <a:rPr lang="pt-BR" dirty="0" err="1"/>
              <a:t>descricao</a:t>
            </a:r>
            <a:r>
              <a:rPr lang="pt-BR" dirty="0"/>
              <a:t>}, </a:t>
            </a:r>
            <a:r>
              <a:rPr lang="pt-BR" dirty="0" err="1"/>
              <a:t>data_locacao</a:t>
            </a:r>
            <a:r>
              <a:rPr lang="pt-BR" dirty="0"/>
              <a:t>, </a:t>
            </a:r>
            <a:r>
              <a:rPr lang="pt-BR" dirty="0" err="1"/>
              <a:t>data_devolucao</a:t>
            </a:r>
            <a:r>
              <a:rPr lang="pt-BR" dirty="0"/>
              <a:t>, valor)</a:t>
            </a:r>
          </a:p>
          <a:p>
            <a:r>
              <a:rPr lang="pt-BR" dirty="0"/>
              <a:t>d) </a:t>
            </a:r>
            <a:r>
              <a:rPr lang="pt-BR" dirty="0" err="1"/>
              <a:t>Tabela_Estoque</a:t>
            </a:r>
            <a:r>
              <a:rPr lang="pt-BR" dirty="0"/>
              <a:t> (</a:t>
            </a:r>
            <a:r>
              <a:rPr lang="pt-BR" dirty="0" err="1"/>
              <a:t>cod_peca</a:t>
            </a:r>
            <a:r>
              <a:rPr lang="pt-BR" dirty="0"/>
              <a:t>, </a:t>
            </a:r>
            <a:r>
              <a:rPr lang="pt-BR" dirty="0" err="1"/>
              <a:t>descricao</a:t>
            </a:r>
            <a:r>
              <a:rPr lang="pt-BR" dirty="0"/>
              <a:t>, </a:t>
            </a:r>
            <a:r>
              <a:rPr lang="pt-BR" dirty="0" err="1"/>
              <a:t>quantidade_comprada</a:t>
            </a:r>
            <a:r>
              <a:rPr lang="pt-BR" dirty="0"/>
              <a:t>, {</a:t>
            </a:r>
            <a:r>
              <a:rPr lang="pt-BR" dirty="0" err="1"/>
              <a:t>cod_fornecedor</a:t>
            </a:r>
            <a:r>
              <a:rPr lang="pt-BR" dirty="0"/>
              <a:t>, nome, telefone})</a:t>
            </a:r>
          </a:p>
          <a:p>
            <a:r>
              <a:rPr lang="pt-BR" dirty="0"/>
              <a:t>e) </a:t>
            </a:r>
            <a:r>
              <a:rPr lang="pt-BR" dirty="0" err="1"/>
              <a:t>Tabela_Biblioteca</a:t>
            </a:r>
            <a:r>
              <a:rPr lang="pt-BR" dirty="0"/>
              <a:t> (</a:t>
            </a:r>
            <a:r>
              <a:rPr lang="pt-BR" dirty="0" err="1"/>
              <a:t>cod_aluno</a:t>
            </a:r>
            <a:r>
              <a:rPr lang="pt-BR" dirty="0"/>
              <a:t>, nome, telefone, </a:t>
            </a:r>
            <a:r>
              <a:rPr lang="pt-BR" dirty="0" err="1"/>
              <a:t>end</a:t>
            </a:r>
            <a:r>
              <a:rPr lang="pt-BR" dirty="0"/>
              <a:t>, {</a:t>
            </a:r>
            <a:r>
              <a:rPr lang="pt-BR" dirty="0" err="1"/>
              <a:t>cod_livro</a:t>
            </a:r>
            <a:r>
              <a:rPr lang="pt-BR" dirty="0"/>
              <a:t>, titulo, editora, volume, </a:t>
            </a:r>
            <a:r>
              <a:rPr lang="pt-BR" dirty="0" err="1"/>
              <a:t>cod_autor</a:t>
            </a:r>
            <a:r>
              <a:rPr lang="pt-BR" dirty="0"/>
              <a:t>, nome, </a:t>
            </a:r>
            <a:r>
              <a:rPr lang="pt-BR" dirty="0" err="1"/>
              <a:t>genero</a:t>
            </a:r>
            <a:r>
              <a:rPr lang="pt-BR" dirty="0"/>
              <a:t>}, </a:t>
            </a:r>
            <a:r>
              <a:rPr lang="pt-BR" dirty="0" err="1"/>
              <a:t>data_emprestimo</a:t>
            </a:r>
            <a:r>
              <a:rPr lang="pt-BR" dirty="0"/>
              <a:t>, </a:t>
            </a:r>
            <a:r>
              <a:rPr lang="pt-BR" dirty="0" err="1"/>
              <a:t>data_devolucao</a:t>
            </a:r>
            <a:r>
              <a:rPr lang="pt-BR" dirty="0"/>
              <a:t>)</a:t>
            </a:r>
          </a:p>
          <a:p>
            <a:r>
              <a:rPr lang="pt-BR" dirty="0"/>
              <a:t>f) </a:t>
            </a:r>
            <a:r>
              <a:rPr lang="pt-BR" dirty="0" err="1"/>
              <a:t>Tabela_Matricula</a:t>
            </a:r>
            <a:r>
              <a:rPr lang="pt-BR" dirty="0"/>
              <a:t> (</a:t>
            </a:r>
            <a:r>
              <a:rPr lang="pt-BR" dirty="0" err="1"/>
              <a:t>cod_aluno</a:t>
            </a:r>
            <a:r>
              <a:rPr lang="pt-BR" dirty="0"/>
              <a:t>, </a:t>
            </a:r>
            <a:r>
              <a:rPr lang="pt-BR" dirty="0" err="1"/>
              <a:t>cod_turma</a:t>
            </a:r>
            <a:r>
              <a:rPr lang="pt-BR" dirty="0"/>
              <a:t>, </a:t>
            </a:r>
            <a:r>
              <a:rPr lang="pt-BR" dirty="0" err="1"/>
              <a:t>cod_disciplina</a:t>
            </a:r>
            <a:r>
              <a:rPr lang="pt-BR" dirty="0"/>
              <a:t>, </a:t>
            </a:r>
            <a:r>
              <a:rPr lang="pt-BR" dirty="0" err="1"/>
              <a:t>nome_disciplina</a:t>
            </a:r>
            <a:r>
              <a:rPr lang="pt-BR" dirty="0"/>
              <a:t>, </a:t>
            </a:r>
            <a:r>
              <a:rPr lang="pt-BR" dirty="0" err="1"/>
              <a:t>nome_aluno</a:t>
            </a:r>
            <a:r>
              <a:rPr lang="pt-BR" dirty="0"/>
              <a:t>, </a:t>
            </a:r>
            <a:r>
              <a:rPr lang="pt-BR" dirty="0" err="1"/>
              <a:t>cod_localnascaluno</a:t>
            </a:r>
            <a:r>
              <a:rPr lang="pt-BR" dirty="0"/>
              <a:t>, </a:t>
            </a:r>
            <a:r>
              <a:rPr lang="pt-BR" dirty="0" err="1"/>
              <a:t>nome_localnascaluno</a:t>
            </a:r>
            <a:r>
              <a:rPr lang="pt-BR" dirty="0"/>
              <a:t>)</a:t>
            </a:r>
          </a:p>
          <a:p>
            <a:r>
              <a:rPr lang="pt-BR" dirty="0"/>
              <a:t>g) </a:t>
            </a:r>
            <a:r>
              <a:rPr lang="pt-BR" dirty="0" err="1"/>
              <a:t>Tabela_Consulta</a:t>
            </a:r>
            <a:r>
              <a:rPr lang="pt-BR" dirty="0"/>
              <a:t> (</a:t>
            </a:r>
            <a:r>
              <a:rPr lang="pt-BR" dirty="0" err="1"/>
              <a:t>cod_medico</a:t>
            </a:r>
            <a:r>
              <a:rPr lang="pt-BR" dirty="0"/>
              <a:t>, </a:t>
            </a:r>
            <a:r>
              <a:rPr lang="pt-BR" dirty="0" err="1"/>
              <a:t>nome_med</a:t>
            </a:r>
            <a:r>
              <a:rPr lang="pt-BR" dirty="0"/>
              <a:t>, </a:t>
            </a:r>
            <a:r>
              <a:rPr lang="pt-BR" dirty="0" err="1"/>
              <a:t>crm</a:t>
            </a:r>
            <a:r>
              <a:rPr lang="pt-BR" dirty="0"/>
              <a:t>, fone, </a:t>
            </a:r>
            <a:r>
              <a:rPr lang="pt-BR" dirty="0" err="1"/>
              <a:t>cod_paciente</a:t>
            </a:r>
            <a:r>
              <a:rPr lang="pt-BR" dirty="0"/>
              <a:t>, nome_ </a:t>
            </a:r>
            <a:r>
              <a:rPr lang="pt-BR" dirty="0" err="1"/>
              <a:t>pac</a:t>
            </a:r>
            <a:r>
              <a:rPr lang="pt-BR" dirty="0"/>
              <a:t>, </a:t>
            </a:r>
            <a:r>
              <a:rPr lang="pt-BR" dirty="0" err="1"/>
              <a:t>fone_pac</a:t>
            </a:r>
            <a:r>
              <a:rPr lang="pt-BR" dirty="0"/>
              <a:t>, </a:t>
            </a:r>
            <a:r>
              <a:rPr lang="pt-BR" dirty="0" err="1"/>
              <a:t>end_pac</a:t>
            </a:r>
            <a:r>
              <a:rPr lang="pt-BR" dirty="0"/>
              <a:t>, </a:t>
            </a:r>
            <a:r>
              <a:rPr lang="pt-BR" dirty="0" err="1"/>
              <a:t>dt_consulta</a:t>
            </a:r>
            <a:r>
              <a:rPr lang="pt-BR" dirty="0"/>
              <a:t>, diagnostico)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552017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D3D7A2-61CA-C8EC-82C1-0B762A105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109"/>
            <a:ext cx="10515600" cy="5996854"/>
          </a:xfrm>
        </p:spPr>
        <p:txBody>
          <a:bodyPr>
            <a:normAutofit fontScale="55000" lnSpcReduction="20000"/>
          </a:bodyPr>
          <a:lstStyle/>
          <a:p>
            <a:r>
              <a:rPr lang="pt-BR" dirty="0"/>
              <a:t>a) </a:t>
            </a:r>
            <a:r>
              <a:rPr lang="pt-BR" dirty="0" err="1"/>
              <a:t>Tabela_Oficina</a:t>
            </a:r>
            <a:endParaRPr lang="pt-BR" dirty="0"/>
          </a:p>
          <a:p>
            <a:r>
              <a:rPr lang="pt-BR" dirty="0"/>
              <a:t>Original: (</a:t>
            </a:r>
            <a:r>
              <a:rPr lang="pt-BR" dirty="0" err="1"/>
              <a:t>cod_cliente</a:t>
            </a:r>
            <a:r>
              <a:rPr lang="pt-BR" dirty="0"/>
              <a:t>, nome, </a:t>
            </a:r>
            <a:r>
              <a:rPr lang="pt-BR" dirty="0" err="1"/>
              <a:t>endereco</a:t>
            </a:r>
            <a:r>
              <a:rPr lang="pt-BR" dirty="0"/>
              <a:t>, </a:t>
            </a:r>
            <a:r>
              <a:rPr lang="pt-BR" dirty="0" err="1"/>
              <a:t>cod_carro</a:t>
            </a:r>
            <a:r>
              <a:rPr lang="pt-BR" dirty="0"/>
              <a:t>, modelo, </a:t>
            </a:r>
            <a:r>
              <a:rPr lang="pt-BR" dirty="0" err="1"/>
              <a:t>ano_fabricacao</a:t>
            </a:r>
            <a:r>
              <a:rPr lang="pt-BR" dirty="0"/>
              <a:t>, {</a:t>
            </a:r>
            <a:r>
              <a:rPr lang="pt-BR" dirty="0" err="1"/>
              <a:t>cod_servico</a:t>
            </a:r>
            <a:r>
              <a:rPr lang="pt-BR" dirty="0"/>
              <a:t>, </a:t>
            </a:r>
            <a:r>
              <a:rPr lang="pt-BR" dirty="0" err="1"/>
              <a:t>descricao</a:t>
            </a:r>
            <a:r>
              <a:rPr lang="pt-BR" dirty="0"/>
              <a:t>}, </a:t>
            </a:r>
            <a:r>
              <a:rPr lang="pt-BR" dirty="0" err="1"/>
              <a:t>data_servico</a:t>
            </a:r>
            <a:r>
              <a:rPr lang="pt-BR" dirty="0"/>
              <a:t>, </a:t>
            </a:r>
            <a:r>
              <a:rPr lang="pt-BR" dirty="0" err="1"/>
              <a:t>valor_servico</a:t>
            </a:r>
            <a:r>
              <a:rPr lang="pt-BR" dirty="0"/>
              <a:t>, {</a:t>
            </a:r>
            <a:r>
              <a:rPr lang="pt-BR" dirty="0" err="1"/>
              <a:t>cod_produto</a:t>
            </a:r>
            <a:r>
              <a:rPr lang="pt-BR" dirty="0"/>
              <a:t>, </a:t>
            </a:r>
            <a:r>
              <a:rPr lang="pt-BR" dirty="0" err="1"/>
              <a:t>nome_produto</a:t>
            </a:r>
            <a:r>
              <a:rPr lang="pt-BR" dirty="0"/>
              <a:t>})</a:t>
            </a:r>
          </a:p>
          <a:p>
            <a:r>
              <a:rPr lang="pt-BR" dirty="0"/>
              <a:t>1FN – Eliminar multivalorados:</a:t>
            </a:r>
          </a:p>
          <a:p>
            <a:r>
              <a:rPr lang="pt-BR" dirty="0"/>
              <a:t>Cliente (</a:t>
            </a:r>
            <a:r>
              <a:rPr lang="pt-BR" dirty="0" err="1"/>
              <a:t>cod_cliente</a:t>
            </a:r>
            <a:r>
              <a:rPr lang="pt-BR" dirty="0"/>
              <a:t> PK, nome, </a:t>
            </a:r>
            <a:r>
              <a:rPr lang="pt-BR" dirty="0" err="1"/>
              <a:t>endereco</a:t>
            </a:r>
            <a:r>
              <a:rPr lang="pt-BR" dirty="0"/>
              <a:t>)</a:t>
            </a:r>
          </a:p>
          <a:p>
            <a:r>
              <a:rPr lang="pt-BR" dirty="0"/>
              <a:t>Carro (</a:t>
            </a:r>
            <a:r>
              <a:rPr lang="pt-BR" dirty="0" err="1"/>
              <a:t>cod_carro</a:t>
            </a:r>
            <a:r>
              <a:rPr lang="pt-BR" dirty="0"/>
              <a:t> PK, modelo, </a:t>
            </a:r>
            <a:r>
              <a:rPr lang="pt-BR" dirty="0" err="1"/>
              <a:t>ano_fabricacao</a:t>
            </a:r>
            <a:r>
              <a:rPr lang="pt-BR" dirty="0"/>
              <a:t>, </a:t>
            </a:r>
            <a:r>
              <a:rPr lang="pt-BR" dirty="0" err="1"/>
              <a:t>cod_cliente</a:t>
            </a:r>
            <a:r>
              <a:rPr lang="pt-BR" dirty="0"/>
              <a:t> FK)</a:t>
            </a:r>
          </a:p>
          <a:p>
            <a:r>
              <a:rPr lang="pt-BR" dirty="0" err="1"/>
              <a:t>Servico</a:t>
            </a:r>
            <a:r>
              <a:rPr lang="pt-BR" dirty="0"/>
              <a:t> (</a:t>
            </a:r>
            <a:r>
              <a:rPr lang="pt-BR" dirty="0" err="1"/>
              <a:t>cod_servico</a:t>
            </a:r>
            <a:r>
              <a:rPr lang="pt-BR" dirty="0"/>
              <a:t> PK, </a:t>
            </a:r>
            <a:r>
              <a:rPr lang="pt-BR" dirty="0" err="1"/>
              <a:t>descricao</a:t>
            </a:r>
            <a:r>
              <a:rPr lang="pt-BR" dirty="0"/>
              <a:t>, </a:t>
            </a:r>
            <a:r>
              <a:rPr lang="pt-BR" dirty="0" err="1"/>
              <a:t>valor_servico</a:t>
            </a:r>
            <a:r>
              <a:rPr lang="pt-BR" dirty="0"/>
              <a:t>)</a:t>
            </a:r>
          </a:p>
          <a:p>
            <a:r>
              <a:rPr lang="pt-BR" dirty="0"/>
              <a:t>Produto (</a:t>
            </a:r>
            <a:r>
              <a:rPr lang="pt-BR" dirty="0" err="1"/>
              <a:t>cod_produto</a:t>
            </a:r>
            <a:r>
              <a:rPr lang="pt-BR" dirty="0"/>
              <a:t> PK, </a:t>
            </a:r>
            <a:r>
              <a:rPr lang="pt-BR" dirty="0" err="1"/>
              <a:t>nome_produto</a:t>
            </a:r>
            <a:r>
              <a:rPr lang="pt-BR" dirty="0"/>
              <a:t>)</a:t>
            </a:r>
          </a:p>
          <a:p>
            <a:r>
              <a:rPr lang="pt-BR" dirty="0" err="1"/>
              <a:t>Oficina_Servico</a:t>
            </a:r>
            <a:r>
              <a:rPr lang="pt-BR" dirty="0"/>
              <a:t> (</a:t>
            </a:r>
            <a:r>
              <a:rPr lang="pt-BR" dirty="0" err="1"/>
              <a:t>cod_cliente</a:t>
            </a:r>
            <a:r>
              <a:rPr lang="pt-BR" dirty="0"/>
              <a:t> PK, </a:t>
            </a:r>
            <a:r>
              <a:rPr lang="pt-BR" dirty="0" err="1"/>
              <a:t>cod_carro</a:t>
            </a:r>
            <a:r>
              <a:rPr lang="pt-BR" dirty="0"/>
              <a:t> PK, </a:t>
            </a:r>
            <a:r>
              <a:rPr lang="pt-BR" dirty="0" err="1"/>
              <a:t>cod_servico</a:t>
            </a:r>
            <a:r>
              <a:rPr lang="pt-BR" dirty="0"/>
              <a:t> PK, </a:t>
            </a:r>
            <a:r>
              <a:rPr lang="pt-BR" dirty="0" err="1"/>
              <a:t>data_servico</a:t>
            </a:r>
            <a:r>
              <a:rPr lang="pt-BR" dirty="0"/>
              <a:t>)</a:t>
            </a:r>
          </a:p>
          <a:p>
            <a:r>
              <a:rPr lang="pt-BR" dirty="0" err="1"/>
              <a:t>Oficina_Produto</a:t>
            </a:r>
            <a:r>
              <a:rPr lang="pt-BR" dirty="0"/>
              <a:t> (</a:t>
            </a:r>
            <a:r>
              <a:rPr lang="pt-BR" dirty="0" err="1"/>
              <a:t>cod_cliente</a:t>
            </a:r>
            <a:r>
              <a:rPr lang="pt-BR" dirty="0"/>
              <a:t> PK, </a:t>
            </a:r>
            <a:r>
              <a:rPr lang="pt-BR" dirty="0" err="1"/>
              <a:t>cod_carro</a:t>
            </a:r>
            <a:r>
              <a:rPr lang="pt-BR" dirty="0"/>
              <a:t> PK, </a:t>
            </a:r>
            <a:r>
              <a:rPr lang="pt-BR" dirty="0" err="1"/>
              <a:t>cod_produto</a:t>
            </a:r>
            <a:r>
              <a:rPr lang="pt-BR" dirty="0"/>
              <a:t> PK)</a:t>
            </a:r>
          </a:p>
          <a:p>
            <a:r>
              <a:rPr lang="pt-BR" dirty="0"/>
              <a:t>2FN – Eliminar dependências parciais:</a:t>
            </a:r>
          </a:p>
          <a:p>
            <a:r>
              <a:rPr lang="pt-BR" dirty="0"/>
              <a:t>Cliente (</a:t>
            </a:r>
            <a:r>
              <a:rPr lang="pt-BR" dirty="0" err="1"/>
              <a:t>cod_cliente</a:t>
            </a:r>
            <a:r>
              <a:rPr lang="pt-BR" dirty="0"/>
              <a:t> PK, nome, </a:t>
            </a:r>
            <a:r>
              <a:rPr lang="pt-BR" dirty="0" err="1"/>
              <a:t>endereco</a:t>
            </a:r>
            <a:r>
              <a:rPr lang="pt-BR" dirty="0"/>
              <a:t>)</a:t>
            </a:r>
          </a:p>
          <a:p>
            <a:r>
              <a:rPr lang="pt-BR" dirty="0"/>
              <a:t>Carro (</a:t>
            </a:r>
            <a:r>
              <a:rPr lang="pt-BR" dirty="0" err="1"/>
              <a:t>cod_carro</a:t>
            </a:r>
            <a:r>
              <a:rPr lang="pt-BR" dirty="0"/>
              <a:t> PK, modelo, </a:t>
            </a:r>
            <a:r>
              <a:rPr lang="pt-BR" dirty="0" err="1"/>
              <a:t>ano_fabricacao</a:t>
            </a:r>
            <a:r>
              <a:rPr lang="pt-BR" dirty="0"/>
              <a:t>, </a:t>
            </a:r>
            <a:r>
              <a:rPr lang="pt-BR" dirty="0" err="1"/>
              <a:t>cod_cliente</a:t>
            </a:r>
            <a:r>
              <a:rPr lang="pt-BR" dirty="0"/>
              <a:t> FK)</a:t>
            </a:r>
          </a:p>
          <a:p>
            <a:r>
              <a:rPr lang="pt-BR" dirty="0" err="1"/>
              <a:t>Servico</a:t>
            </a:r>
            <a:r>
              <a:rPr lang="pt-BR" dirty="0"/>
              <a:t> (</a:t>
            </a:r>
            <a:r>
              <a:rPr lang="pt-BR" dirty="0" err="1"/>
              <a:t>cod_servico</a:t>
            </a:r>
            <a:r>
              <a:rPr lang="pt-BR" dirty="0"/>
              <a:t> PK, </a:t>
            </a:r>
            <a:r>
              <a:rPr lang="pt-BR" dirty="0" err="1"/>
              <a:t>descricao</a:t>
            </a:r>
            <a:r>
              <a:rPr lang="pt-BR" dirty="0"/>
              <a:t>, </a:t>
            </a:r>
            <a:r>
              <a:rPr lang="pt-BR" dirty="0" err="1"/>
              <a:t>valor_servico</a:t>
            </a:r>
            <a:r>
              <a:rPr lang="pt-BR" dirty="0"/>
              <a:t>)</a:t>
            </a:r>
          </a:p>
          <a:p>
            <a:r>
              <a:rPr lang="pt-BR" dirty="0"/>
              <a:t>Produto (</a:t>
            </a:r>
            <a:r>
              <a:rPr lang="pt-BR" dirty="0" err="1"/>
              <a:t>cod_produto</a:t>
            </a:r>
            <a:r>
              <a:rPr lang="pt-BR" dirty="0"/>
              <a:t> PK, </a:t>
            </a:r>
            <a:r>
              <a:rPr lang="pt-BR" dirty="0" err="1"/>
              <a:t>nome_produto</a:t>
            </a:r>
            <a:r>
              <a:rPr lang="pt-BR" dirty="0"/>
              <a:t>)</a:t>
            </a:r>
          </a:p>
          <a:p>
            <a:r>
              <a:rPr lang="pt-BR" dirty="0" err="1"/>
              <a:t>Carro_Servico</a:t>
            </a:r>
            <a:r>
              <a:rPr lang="pt-BR" dirty="0"/>
              <a:t> (</a:t>
            </a:r>
            <a:r>
              <a:rPr lang="pt-BR" dirty="0" err="1"/>
              <a:t>cod_carro</a:t>
            </a:r>
            <a:r>
              <a:rPr lang="pt-BR" dirty="0"/>
              <a:t> PK, </a:t>
            </a:r>
            <a:r>
              <a:rPr lang="pt-BR" dirty="0" err="1"/>
              <a:t>cod_servico</a:t>
            </a:r>
            <a:r>
              <a:rPr lang="pt-BR" dirty="0"/>
              <a:t> PK, </a:t>
            </a:r>
            <a:r>
              <a:rPr lang="pt-BR" dirty="0" err="1"/>
              <a:t>data_servico</a:t>
            </a:r>
            <a:r>
              <a:rPr lang="pt-BR" dirty="0"/>
              <a:t>)</a:t>
            </a:r>
          </a:p>
          <a:p>
            <a:r>
              <a:rPr lang="pt-BR" dirty="0" err="1"/>
              <a:t>Carro_Produto</a:t>
            </a:r>
            <a:r>
              <a:rPr lang="pt-BR" dirty="0"/>
              <a:t> (</a:t>
            </a:r>
            <a:r>
              <a:rPr lang="pt-BR" dirty="0" err="1"/>
              <a:t>cod_carro</a:t>
            </a:r>
            <a:r>
              <a:rPr lang="pt-BR" dirty="0"/>
              <a:t> PK, </a:t>
            </a:r>
            <a:r>
              <a:rPr lang="pt-BR" dirty="0" err="1"/>
              <a:t>cod_produto</a:t>
            </a:r>
            <a:r>
              <a:rPr lang="pt-BR" dirty="0"/>
              <a:t> PK)</a:t>
            </a:r>
          </a:p>
          <a:p>
            <a:r>
              <a:rPr lang="pt-BR" dirty="0"/>
              <a:t>3FN – Eliminar dependências transitivas:</a:t>
            </a:r>
            <a:br>
              <a:rPr lang="pt-BR" dirty="0"/>
            </a:br>
            <a:r>
              <a:rPr lang="pt-BR" dirty="0"/>
              <a:t>Já não há dependências transitivas (</a:t>
            </a:r>
            <a:r>
              <a:rPr lang="pt-BR" dirty="0" err="1"/>
              <a:t>valor_servico</a:t>
            </a:r>
            <a:r>
              <a:rPr lang="pt-BR" dirty="0"/>
              <a:t> depende de </a:t>
            </a:r>
            <a:r>
              <a:rPr lang="pt-BR" dirty="0" err="1"/>
              <a:t>cod_servico</a:t>
            </a:r>
            <a:r>
              <a:rPr lang="pt-BR" dirty="0"/>
              <a:t>; </a:t>
            </a:r>
            <a:r>
              <a:rPr lang="pt-BR" dirty="0" err="1"/>
              <a:t>nome_produto</a:t>
            </a:r>
            <a:r>
              <a:rPr lang="pt-BR" dirty="0"/>
              <a:t> depende de </a:t>
            </a:r>
            <a:r>
              <a:rPr lang="pt-BR" dirty="0" err="1"/>
              <a:t>cod_produto</a:t>
            </a:r>
            <a:r>
              <a:rPr lang="pt-BR" dirty="0"/>
              <a:t>). Estrutura final igual à 2FN.</a:t>
            </a:r>
          </a:p>
          <a:p>
            <a:br>
              <a:rPr lang="pt-BR" dirty="0"/>
            </a:b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084349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CFBD35E-4F8C-D986-B3E2-D4DA1AE7BE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2618"/>
            <a:ext cx="10515600" cy="5664345"/>
          </a:xfrm>
        </p:spPr>
        <p:txBody>
          <a:bodyPr>
            <a:normAutofit fontScale="55000" lnSpcReduction="20000"/>
          </a:bodyPr>
          <a:lstStyle/>
          <a:p>
            <a:r>
              <a:rPr lang="pt-BR" dirty="0"/>
              <a:t>b) </a:t>
            </a:r>
            <a:r>
              <a:rPr lang="pt-BR" dirty="0" err="1"/>
              <a:t>Tabela_Hospital</a:t>
            </a:r>
            <a:endParaRPr lang="pt-BR" dirty="0"/>
          </a:p>
          <a:p>
            <a:r>
              <a:rPr lang="pt-BR" dirty="0"/>
              <a:t>Original: (</a:t>
            </a:r>
            <a:r>
              <a:rPr lang="pt-BR" dirty="0" err="1"/>
              <a:t>cod_paciente</a:t>
            </a:r>
            <a:r>
              <a:rPr lang="pt-BR" dirty="0"/>
              <a:t>, nome, </a:t>
            </a:r>
            <a:r>
              <a:rPr lang="pt-BR" dirty="0" err="1"/>
              <a:t>tel</a:t>
            </a:r>
            <a:r>
              <a:rPr lang="pt-BR" dirty="0"/>
              <a:t>, </a:t>
            </a:r>
            <a:r>
              <a:rPr lang="pt-BR" dirty="0" err="1"/>
              <a:t>endereco</a:t>
            </a:r>
            <a:r>
              <a:rPr lang="pt-BR" dirty="0"/>
              <a:t>, </a:t>
            </a:r>
            <a:r>
              <a:rPr lang="pt-BR" dirty="0" err="1"/>
              <a:t>crm</a:t>
            </a:r>
            <a:r>
              <a:rPr lang="pt-BR" dirty="0"/>
              <a:t>, </a:t>
            </a:r>
            <a:r>
              <a:rPr lang="pt-BR" dirty="0" err="1"/>
              <a:t>nome_med</a:t>
            </a:r>
            <a:r>
              <a:rPr lang="pt-BR" dirty="0"/>
              <a:t>, </a:t>
            </a:r>
            <a:r>
              <a:rPr lang="pt-BR" dirty="0" err="1"/>
              <a:t>tel_med</a:t>
            </a:r>
            <a:r>
              <a:rPr lang="pt-BR" dirty="0"/>
              <a:t>, </a:t>
            </a:r>
            <a:r>
              <a:rPr lang="pt-BR" dirty="0" err="1"/>
              <a:t>endereco_med</a:t>
            </a:r>
            <a:r>
              <a:rPr lang="pt-BR" dirty="0"/>
              <a:t>, </a:t>
            </a:r>
            <a:r>
              <a:rPr lang="pt-BR" dirty="0" err="1"/>
              <a:t>cod_especialidade</a:t>
            </a:r>
            <a:r>
              <a:rPr lang="pt-BR" dirty="0"/>
              <a:t>, </a:t>
            </a:r>
            <a:r>
              <a:rPr lang="pt-BR" dirty="0" err="1"/>
              <a:t>nome_espec</a:t>
            </a:r>
            <a:r>
              <a:rPr lang="pt-BR" dirty="0"/>
              <a:t>, </a:t>
            </a:r>
            <a:r>
              <a:rPr lang="pt-BR" dirty="0" err="1"/>
              <a:t>data_consulta</a:t>
            </a:r>
            <a:r>
              <a:rPr lang="pt-BR" dirty="0"/>
              <a:t>, diagnostico)</a:t>
            </a:r>
          </a:p>
          <a:p>
            <a:r>
              <a:rPr lang="pt-BR" dirty="0"/>
              <a:t>1FN – Já está atômica (sem multivalorados aparentes).</a:t>
            </a:r>
          </a:p>
          <a:p>
            <a:r>
              <a:rPr lang="pt-BR" dirty="0"/>
              <a:t>2FN – Chave composta? Vamos assumir chave (</a:t>
            </a:r>
            <a:r>
              <a:rPr lang="pt-BR" dirty="0" err="1"/>
              <a:t>cod_paciente</a:t>
            </a:r>
            <a:r>
              <a:rPr lang="pt-BR" dirty="0"/>
              <a:t>, </a:t>
            </a:r>
            <a:r>
              <a:rPr lang="pt-BR" dirty="0" err="1"/>
              <a:t>crm</a:t>
            </a:r>
            <a:r>
              <a:rPr lang="pt-BR" dirty="0"/>
              <a:t>, </a:t>
            </a:r>
            <a:r>
              <a:rPr lang="pt-BR" dirty="0" err="1"/>
              <a:t>data_consulta</a:t>
            </a:r>
            <a:r>
              <a:rPr lang="pt-BR" dirty="0"/>
              <a:t>). Dependências parciais:</a:t>
            </a:r>
          </a:p>
          <a:p>
            <a:r>
              <a:rPr lang="pt-BR" dirty="0"/>
              <a:t>nome, </a:t>
            </a:r>
            <a:r>
              <a:rPr lang="pt-BR" dirty="0" err="1"/>
              <a:t>tel</a:t>
            </a:r>
            <a:r>
              <a:rPr lang="pt-BR" dirty="0"/>
              <a:t>, </a:t>
            </a:r>
            <a:r>
              <a:rPr lang="pt-BR" dirty="0" err="1"/>
              <a:t>endereco</a:t>
            </a:r>
            <a:r>
              <a:rPr lang="pt-BR" dirty="0"/>
              <a:t> dependem de </a:t>
            </a:r>
            <a:r>
              <a:rPr lang="pt-BR" dirty="0" err="1"/>
              <a:t>cod_paciente</a:t>
            </a:r>
            <a:endParaRPr lang="pt-BR" dirty="0"/>
          </a:p>
          <a:p>
            <a:r>
              <a:rPr lang="pt-BR" dirty="0" err="1"/>
              <a:t>nome_med</a:t>
            </a:r>
            <a:r>
              <a:rPr lang="pt-BR" dirty="0"/>
              <a:t>, </a:t>
            </a:r>
            <a:r>
              <a:rPr lang="pt-BR" dirty="0" err="1"/>
              <a:t>tel_med</a:t>
            </a:r>
            <a:r>
              <a:rPr lang="pt-BR" dirty="0"/>
              <a:t>, </a:t>
            </a:r>
            <a:r>
              <a:rPr lang="pt-BR" dirty="0" err="1"/>
              <a:t>endereco_med</a:t>
            </a:r>
            <a:r>
              <a:rPr lang="pt-BR" dirty="0"/>
              <a:t> dependem de </a:t>
            </a:r>
            <a:r>
              <a:rPr lang="pt-BR" dirty="0" err="1"/>
              <a:t>crm</a:t>
            </a:r>
            <a:endParaRPr lang="pt-BR" dirty="0"/>
          </a:p>
          <a:p>
            <a:r>
              <a:rPr lang="pt-BR" dirty="0" err="1"/>
              <a:t>nome_espec</a:t>
            </a:r>
            <a:r>
              <a:rPr lang="pt-BR" dirty="0"/>
              <a:t> depende de </a:t>
            </a:r>
            <a:r>
              <a:rPr lang="pt-BR" dirty="0" err="1"/>
              <a:t>cod_especialidade</a:t>
            </a:r>
            <a:endParaRPr lang="pt-BR" dirty="0"/>
          </a:p>
          <a:p>
            <a:r>
              <a:rPr lang="pt-BR" dirty="0"/>
              <a:t>diagnostico depende da chave completa</a:t>
            </a:r>
          </a:p>
          <a:p>
            <a:r>
              <a:rPr lang="pt-BR" dirty="0"/>
              <a:t>2FN:</a:t>
            </a:r>
          </a:p>
          <a:p>
            <a:r>
              <a:rPr lang="pt-BR" dirty="0"/>
              <a:t>Paciente (</a:t>
            </a:r>
            <a:r>
              <a:rPr lang="pt-BR" dirty="0" err="1"/>
              <a:t>cod_paciente</a:t>
            </a:r>
            <a:r>
              <a:rPr lang="pt-BR" dirty="0"/>
              <a:t> PK, nome, </a:t>
            </a:r>
            <a:r>
              <a:rPr lang="pt-BR" dirty="0" err="1"/>
              <a:t>tel</a:t>
            </a:r>
            <a:r>
              <a:rPr lang="pt-BR" dirty="0"/>
              <a:t>, </a:t>
            </a:r>
            <a:r>
              <a:rPr lang="pt-BR" dirty="0" err="1"/>
              <a:t>endereco</a:t>
            </a:r>
            <a:r>
              <a:rPr lang="pt-BR" dirty="0"/>
              <a:t>)</a:t>
            </a:r>
          </a:p>
          <a:p>
            <a:r>
              <a:rPr lang="pt-BR" dirty="0"/>
              <a:t>Medico (</a:t>
            </a:r>
            <a:r>
              <a:rPr lang="pt-BR" dirty="0" err="1"/>
              <a:t>crm</a:t>
            </a:r>
            <a:r>
              <a:rPr lang="pt-BR" dirty="0"/>
              <a:t> PK, </a:t>
            </a:r>
            <a:r>
              <a:rPr lang="pt-BR" dirty="0" err="1"/>
              <a:t>nome_med</a:t>
            </a:r>
            <a:r>
              <a:rPr lang="pt-BR" dirty="0"/>
              <a:t>, </a:t>
            </a:r>
            <a:r>
              <a:rPr lang="pt-BR" dirty="0" err="1"/>
              <a:t>tel_med</a:t>
            </a:r>
            <a:r>
              <a:rPr lang="pt-BR" dirty="0"/>
              <a:t>, </a:t>
            </a:r>
            <a:r>
              <a:rPr lang="pt-BR" dirty="0" err="1"/>
              <a:t>endereco_med</a:t>
            </a:r>
            <a:r>
              <a:rPr lang="pt-BR" dirty="0"/>
              <a:t>, </a:t>
            </a:r>
            <a:r>
              <a:rPr lang="pt-BR" dirty="0" err="1"/>
              <a:t>cod_especialidade</a:t>
            </a:r>
            <a:r>
              <a:rPr lang="pt-BR" dirty="0"/>
              <a:t> FK)</a:t>
            </a:r>
          </a:p>
          <a:p>
            <a:r>
              <a:rPr lang="pt-BR" dirty="0"/>
              <a:t>Especialidade (</a:t>
            </a:r>
            <a:r>
              <a:rPr lang="pt-BR" dirty="0" err="1"/>
              <a:t>cod_especialidade</a:t>
            </a:r>
            <a:r>
              <a:rPr lang="pt-BR" dirty="0"/>
              <a:t> PK, </a:t>
            </a:r>
            <a:r>
              <a:rPr lang="pt-BR" dirty="0" err="1"/>
              <a:t>nome_espec</a:t>
            </a:r>
            <a:r>
              <a:rPr lang="pt-BR" dirty="0"/>
              <a:t>)</a:t>
            </a:r>
          </a:p>
          <a:p>
            <a:r>
              <a:rPr lang="pt-BR" dirty="0"/>
              <a:t>Consulta (</a:t>
            </a:r>
            <a:r>
              <a:rPr lang="pt-BR" dirty="0" err="1"/>
              <a:t>cod_paciente</a:t>
            </a:r>
            <a:r>
              <a:rPr lang="pt-BR" dirty="0"/>
              <a:t> PK, </a:t>
            </a:r>
            <a:r>
              <a:rPr lang="pt-BR" dirty="0" err="1"/>
              <a:t>crm</a:t>
            </a:r>
            <a:r>
              <a:rPr lang="pt-BR" dirty="0"/>
              <a:t> PK, </a:t>
            </a:r>
            <a:r>
              <a:rPr lang="pt-BR" dirty="0" err="1"/>
              <a:t>data_consulta</a:t>
            </a:r>
            <a:r>
              <a:rPr lang="pt-BR" dirty="0"/>
              <a:t> PK, diagnostico)</a:t>
            </a:r>
          </a:p>
          <a:p>
            <a:r>
              <a:rPr lang="pt-BR" dirty="0"/>
              <a:t>3FN – Eliminar transitivas:</a:t>
            </a:r>
            <a:br>
              <a:rPr lang="pt-BR" dirty="0"/>
            </a:br>
            <a:r>
              <a:rPr lang="pt-BR" dirty="0"/>
              <a:t>Em Medico, </a:t>
            </a:r>
            <a:r>
              <a:rPr lang="pt-BR" dirty="0" err="1"/>
              <a:t>nome_espec</a:t>
            </a:r>
            <a:r>
              <a:rPr lang="pt-BR" dirty="0"/>
              <a:t> depende de </a:t>
            </a:r>
            <a:r>
              <a:rPr lang="pt-BR" dirty="0" err="1"/>
              <a:t>cod_especialidade</a:t>
            </a:r>
            <a:r>
              <a:rPr lang="pt-BR" dirty="0"/>
              <a:t> (não chave) → já separado.</a:t>
            </a:r>
            <a:br>
              <a:rPr lang="pt-BR" dirty="0"/>
            </a:br>
            <a:r>
              <a:rPr lang="pt-BR" dirty="0"/>
              <a:t>Estrutura final igual à 2FN.</a:t>
            </a:r>
          </a:p>
          <a:p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77218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5D875B-3B29-8271-9293-5D8ADB4A7A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98764"/>
            <a:ext cx="10515600" cy="5678199"/>
          </a:xfrm>
        </p:spPr>
        <p:txBody>
          <a:bodyPr>
            <a:normAutofit fontScale="85000" lnSpcReduction="20000"/>
          </a:bodyPr>
          <a:lstStyle/>
          <a:p>
            <a:r>
              <a:rPr lang="pt-BR" dirty="0"/>
              <a:t>c) </a:t>
            </a:r>
            <a:r>
              <a:rPr lang="pt-BR" dirty="0" err="1"/>
              <a:t>Tabela_Locadora</a:t>
            </a:r>
            <a:endParaRPr lang="pt-BR" dirty="0"/>
          </a:p>
          <a:p>
            <a:r>
              <a:rPr lang="pt-BR" dirty="0"/>
              <a:t>Original: (</a:t>
            </a:r>
            <a:r>
              <a:rPr lang="pt-BR" dirty="0" err="1"/>
              <a:t>cod_cliente</a:t>
            </a:r>
            <a:r>
              <a:rPr lang="pt-BR" dirty="0"/>
              <a:t>, nome, </a:t>
            </a:r>
            <a:r>
              <a:rPr lang="pt-BR" dirty="0" err="1"/>
              <a:t>tel</a:t>
            </a:r>
            <a:r>
              <a:rPr lang="pt-BR" dirty="0"/>
              <a:t>, {</a:t>
            </a:r>
            <a:r>
              <a:rPr lang="pt-BR" dirty="0" err="1"/>
              <a:t>cod_fita</a:t>
            </a:r>
            <a:r>
              <a:rPr lang="pt-BR" dirty="0"/>
              <a:t>, </a:t>
            </a:r>
            <a:r>
              <a:rPr lang="pt-BR" dirty="0" err="1"/>
              <a:t>nome_filme</a:t>
            </a:r>
            <a:r>
              <a:rPr lang="pt-BR" dirty="0"/>
              <a:t>, </a:t>
            </a:r>
            <a:r>
              <a:rPr lang="pt-BR" dirty="0" err="1"/>
              <a:t>duracao</a:t>
            </a:r>
            <a:r>
              <a:rPr lang="pt-BR" dirty="0"/>
              <a:t>, </a:t>
            </a:r>
            <a:r>
              <a:rPr lang="pt-BR" dirty="0" err="1"/>
              <a:t>cod_genero</a:t>
            </a:r>
            <a:r>
              <a:rPr lang="pt-BR" dirty="0"/>
              <a:t>, </a:t>
            </a:r>
            <a:r>
              <a:rPr lang="pt-BR" dirty="0" err="1"/>
              <a:t>descricao</a:t>
            </a:r>
            <a:r>
              <a:rPr lang="pt-BR" dirty="0"/>
              <a:t>}, </a:t>
            </a:r>
            <a:r>
              <a:rPr lang="pt-BR" dirty="0" err="1"/>
              <a:t>data_locacao</a:t>
            </a:r>
            <a:r>
              <a:rPr lang="pt-BR" dirty="0"/>
              <a:t>, </a:t>
            </a:r>
            <a:r>
              <a:rPr lang="pt-BR" dirty="0" err="1"/>
              <a:t>data_devolucao</a:t>
            </a:r>
            <a:r>
              <a:rPr lang="pt-BR" dirty="0"/>
              <a:t>, valor)</a:t>
            </a:r>
          </a:p>
          <a:p>
            <a:r>
              <a:rPr lang="pt-BR" dirty="0"/>
              <a:t>1FN:</a:t>
            </a:r>
          </a:p>
          <a:p>
            <a:r>
              <a:rPr lang="pt-BR" dirty="0"/>
              <a:t>Cliente (</a:t>
            </a:r>
            <a:r>
              <a:rPr lang="pt-BR" dirty="0" err="1"/>
              <a:t>cod_cliente</a:t>
            </a:r>
            <a:r>
              <a:rPr lang="pt-BR" dirty="0"/>
              <a:t> PK, nome, </a:t>
            </a:r>
            <a:r>
              <a:rPr lang="pt-BR" dirty="0" err="1"/>
              <a:t>tel</a:t>
            </a:r>
            <a:r>
              <a:rPr lang="pt-BR" dirty="0"/>
              <a:t>)</a:t>
            </a:r>
          </a:p>
          <a:p>
            <a:r>
              <a:rPr lang="pt-BR" dirty="0"/>
              <a:t>Filme (</a:t>
            </a:r>
            <a:r>
              <a:rPr lang="pt-BR" dirty="0" err="1"/>
              <a:t>cod_fita</a:t>
            </a:r>
            <a:r>
              <a:rPr lang="pt-BR" dirty="0"/>
              <a:t> PK, </a:t>
            </a:r>
            <a:r>
              <a:rPr lang="pt-BR" dirty="0" err="1"/>
              <a:t>nome_filme</a:t>
            </a:r>
            <a:r>
              <a:rPr lang="pt-BR" dirty="0"/>
              <a:t>, </a:t>
            </a:r>
            <a:r>
              <a:rPr lang="pt-BR" dirty="0" err="1"/>
              <a:t>duracao</a:t>
            </a:r>
            <a:r>
              <a:rPr lang="pt-BR" dirty="0"/>
              <a:t>, </a:t>
            </a:r>
            <a:r>
              <a:rPr lang="pt-BR" dirty="0" err="1"/>
              <a:t>cod_genero</a:t>
            </a:r>
            <a:r>
              <a:rPr lang="pt-BR" dirty="0"/>
              <a:t> FK)</a:t>
            </a:r>
          </a:p>
          <a:p>
            <a:r>
              <a:rPr lang="pt-BR" dirty="0" err="1"/>
              <a:t>Genero</a:t>
            </a:r>
            <a:r>
              <a:rPr lang="pt-BR" dirty="0"/>
              <a:t> (</a:t>
            </a:r>
            <a:r>
              <a:rPr lang="pt-BR" dirty="0" err="1"/>
              <a:t>cod_genero</a:t>
            </a:r>
            <a:r>
              <a:rPr lang="pt-BR" dirty="0"/>
              <a:t> PK, </a:t>
            </a:r>
            <a:r>
              <a:rPr lang="pt-BR" dirty="0" err="1"/>
              <a:t>descricao</a:t>
            </a:r>
            <a:r>
              <a:rPr lang="pt-BR" dirty="0"/>
              <a:t>)</a:t>
            </a:r>
          </a:p>
          <a:p>
            <a:r>
              <a:rPr lang="pt-BR" dirty="0" err="1"/>
              <a:t>Locacao</a:t>
            </a:r>
            <a:r>
              <a:rPr lang="pt-BR" dirty="0"/>
              <a:t> (</a:t>
            </a:r>
            <a:r>
              <a:rPr lang="pt-BR" dirty="0" err="1"/>
              <a:t>cod_cliente</a:t>
            </a:r>
            <a:r>
              <a:rPr lang="pt-BR" dirty="0"/>
              <a:t> PK, </a:t>
            </a:r>
            <a:r>
              <a:rPr lang="pt-BR" dirty="0" err="1"/>
              <a:t>cod_fita</a:t>
            </a:r>
            <a:r>
              <a:rPr lang="pt-BR" dirty="0"/>
              <a:t> PK, </a:t>
            </a:r>
            <a:r>
              <a:rPr lang="pt-BR" dirty="0" err="1"/>
              <a:t>data_locacao</a:t>
            </a:r>
            <a:r>
              <a:rPr lang="pt-BR" dirty="0"/>
              <a:t>, </a:t>
            </a:r>
            <a:r>
              <a:rPr lang="pt-BR" dirty="0" err="1"/>
              <a:t>data_devolucao</a:t>
            </a:r>
            <a:r>
              <a:rPr lang="pt-BR" dirty="0"/>
              <a:t>, valor)</a:t>
            </a:r>
          </a:p>
          <a:p>
            <a:r>
              <a:rPr lang="pt-BR" dirty="0"/>
              <a:t>2FN:</a:t>
            </a:r>
            <a:br>
              <a:rPr lang="pt-BR" dirty="0"/>
            </a:br>
            <a:r>
              <a:rPr lang="pt-BR" dirty="0"/>
              <a:t>Chave de </a:t>
            </a:r>
            <a:r>
              <a:rPr lang="pt-BR" dirty="0" err="1"/>
              <a:t>Locacao</a:t>
            </a:r>
            <a:r>
              <a:rPr lang="pt-BR" dirty="0"/>
              <a:t> é (</a:t>
            </a:r>
            <a:r>
              <a:rPr lang="pt-BR" dirty="0" err="1"/>
              <a:t>cod_cliente</a:t>
            </a:r>
            <a:r>
              <a:rPr lang="pt-BR" dirty="0"/>
              <a:t>, </a:t>
            </a:r>
            <a:r>
              <a:rPr lang="pt-BR" dirty="0" err="1"/>
              <a:t>cod_fita</a:t>
            </a:r>
            <a:r>
              <a:rPr lang="pt-BR" dirty="0"/>
              <a:t>, </a:t>
            </a:r>
            <a:r>
              <a:rPr lang="pt-BR" dirty="0" err="1"/>
              <a:t>data_locacao</a:t>
            </a:r>
            <a:r>
              <a:rPr lang="pt-BR" dirty="0"/>
              <a:t>). Todos os atributos dependem da chave completa → já está na 2FN.</a:t>
            </a:r>
          </a:p>
          <a:p>
            <a:r>
              <a:rPr lang="pt-BR" dirty="0"/>
              <a:t>3FN:</a:t>
            </a:r>
            <a:br>
              <a:rPr lang="pt-BR" dirty="0"/>
            </a:br>
            <a:r>
              <a:rPr lang="pt-BR" dirty="0"/>
              <a:t>Em Filme, </a:t>
            </a:r>
            <a:r>
              <a:rPr lang="pt-BR" dirty="0" err="1"/>
              <a:t>cod_genero</a:t>
            </a:r>
            <a:r>
              <a:rPr lang="pt-BR" dirty="0"/>
              <a:t> → </a:t>
            </a:r>
            <a:r>
              <a:rPr lang="pt-BR" dirty="0" err="1"/>
              <a:t>descricao</a:t>
            </a:r>
            <a:r>
              <a:rPr lang="pt-BR" dirty="0"/>
              <a:t> é transitiva? Não, </a:t>
            </a:r>
            <a:r>
              <a:rPr lang="pt-BR" dirty="0" err="1"/>
              <a:t>descricao</a:t>
            </a:r>
            <a:r>
              <a:rPr lang="pt-BR" dirty="0"/>
              <a:t> está em </a:t>
            </a:r>
            <a:r>
              <a:rPr lang="pt-BR" dirty="0" err="1"/>
              <a:t>Genero</a:t>
            </a:r>
            <a:r>
              <a:rPr lang="pt-BR" dirty="0"/>
              <a:t>.</a:t>
            </a:r>
            <a:br>
              <a:rPr lang="pt-BR" dirty="0"/>
            </a:br>
            <a:r>
              <a:rPr lang="pt-BR" dirty="0"/>
              <a:t>Em </a:t>
            </a:r>
            <a:r>
              <a:rPr lang="pt-BR" dirty="0" err="1"/>
              <a:t>Locacao</a:t>
            </a:r>
            <a:r>
              <a:rPr lang="pt-BR" dirty="0"/>
              <a:t>, valor depende da chave? Sim.</a:t>
            </a:r>
            <a:br>
              <a:rPr lang="pt-BR" dirty="0"/>
            </a:br>
            <a:r>
              <a:rPr lang="pt-BR" dirty="0"/>
              <a:t>Estrutura final igual à 2FN.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008131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BB58E7C-679C-054E-FC63-64F9C03ABA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71055"/>
            <a:ext cx="10515600" cy="5705908"/>
          </a:xfrm>
        </p:spPr>
        <p:txBody>
          <a:bodyPr>
            <a:normAutofit fontScale="92500" lnSpcReduction="10000"/>
          </a:bodyPr>
          <a:lstStyle/>
          <a:p>
            <a:r>
              <a:rPr lang="pt-BR" dirty="0"/>
              <a:t>d) </a:t>
            </a:r>
            <a:r>
              <a:rPr lang="pt-BR" dirty="0" err="1"/>
              <a:t>Tabela_Estoque</a:t>
            </a:r>
            <a:endParaRPr lang="pt-BR" dirty="0"/>
          </a:p>
          <a:p>
            <a:r>
              <a:rPr lang="pt-BR" dirty="0"/>
              <a:t>Original: (</a:t>
            </a:r>
            <a:r>
              <a:rPr lang="pt-BR" dirty="0" err="1"/>
              <a:t>cod_peca</a:t>
            </a:r>
            <a:r>
              <a:rPr lang="pt-BR" dirty="0"/>
              <a:t>, </a:t>
            </a:r>
            <a:r>
              <a:rPr lang="pt-BR" dirty="0" err="1"/>
              <a:t>descricao</a:t>
            </a:r>
            <a:r>
              <a:rPr lang="pt-BR" dirty="0"/>
              <a:t>, </a:t>
            </a:r>
            <a:r>
              <a:rPr lang="pt-BR" dirty="0" err="1"/>
              <a:t>quantidade_comprada</a:t>
            </a:r>
            <a:r>
              <a:rPr lang="pt-BR" dirty="0"/>
              <a:t>, {</a:t>
            </a:r>
            <a:r>
              <a:rPr lang="pt-BR" dirty="0" err="1"/>
              <a:t>cod_fornecedor</a:t>
            </a:r>
            <a:r>
              <a:rPr lang="pt-BR" dirty="0"/>
              <a:t>, nome, telefone})</a:t>
            </a:r>
          </a:p>
          <a:p>
            <a:r>
              <a:rPr lang="pt-BR" dirty="0"/>
              <a:t>1FN:</a:t>
            </a:r>
          </a:p>
          <a:p>
            <a:r>
              <a:rPr lang="pt-BR" dirty="0"/>
              <a:t>Peca (</a:t>
            </a:r>
            <a:r>
              <a:rPr lang="pt-BR" dirty="0" err="1"/>
              <a:t>cod_peca</a:t>
            </a:r>
            <a:r>
              <a:rPr lang="pt-BR" dirty="0"/>
              <a:t> PK, </a:t>
            </a:r>
            <a:r>
              <a:rPr lang="pt-BR" dirty="0" err="1"/>
              <a:t>descricao</a:t>
            </a:r>
            <a:r>
              <a:rPr lang="pt-BR" dirty="0"/>
              <a:t>, </a:t>
            </a:r>
            <a:r>
              <a:rPr lang="pt-BR" dirty="0" err="1"/>
              <a:t>quantidade_comprada</a:t>
            </a:r>
            <a:r>
              <a:rPr lang="pt-BR" dirty="0"/>
              <a:t>)</a:t>
            </a:r>
          </a:p>
          <a:p>
            <a:r>
              <a:rPr lang="pt-BR" dirty="0"/>
              <a:t>Fornecedor (</a:t>
            </a:r>
            <a:r>
              <a:rPr lang="pt-BR" dirty="0" err="1"/>
              <a:t>cod_fornecedor</a:t>
            </a:r>
            <a:r>
              <a:rPr lang="pt-BR" dirty="0"/>
              <a:t> PK, nome, telefone)</a:t>
            </a:r>
          </a:p>
          <a:p>
            <a:r>
              <a:rPr lang="pt-BR" dirty="0" err="1"/>
              <a:t>Peca_Fornecedor</a:t>
            </a:r>
            <a:r>
              <a:rPr lang="pt-BR" dirty="0"/>
              <a:t> (</a:t>
            </a:r>
            <a:r>
              <a:rPr lang="pt-BR" dirty="0" err="1"/>
              <a:t>cod_peca</a:t>
            </a:r>
            <a:r>
              <a:rPr lang="pt-BR" dirty="0"/>
              <a:t> PK, </a:t>
            </a:r>
            <a:r>
              <a:rPr lang="pt-BR" dirty="0" err="1"/>
              <a:t>cod_fornecedor</a:t>
            </a:r>
            <a:r>
              <a:rPr lang="pt-BR" dirty="0"/>
              <a:t> PK)</a:t>
            </a:r>
          </a:p>
          <a:p>
            <a:r>
              <a:rPr lang="pt-BR" dirty="0"/>
              <a:t>2FN:</a:t>
            </a:r>
            <a:br>
              <a:rPr lang="pt-BR" dirty="0"/>
            </a:br>
            <a:r>
              <a:rPr lang="pt-BR" dirty="0"/>
              <a:t>Chave de </a:t>
            </a:r>
            <a:r>
              <a:rPr lang="pt-BR" dirty="0" err="1"/>
              <a:t>Peca_Fornecedor</a:t>
            </a:r>
            <a:r>
              <a:rPr lang="pt-BR" dirty="0"/>
              <a:t> é composta → já está na 2FN.</a:t>
            </a:r>
          </a:p>
          <a:p>
            <a:r>
              <a:rPr lang="pt-BR" dirty="0"/>
              <a:t>3FN:</a:t>
            </a:r>
            <a:br>
              <a:rPr lang="pt-BR" dirty="0"/>
            </a:br>
            <a:r>
              <a:rPr lang="pt-BR" dirty="0"/>
              <a:t>Em Fornecedor, nome e telefone dependem de </a:t>
            </a:r>
            <a:r>
              <a:rPr lang="pt-BR" dirty="0" err="1"/>
              <a:t>cod_fornecedor</a:t>
            </a:r>
            <a:r>
              <a:rPr lang="pt-BR" dirty="0"/>
              <a:t> → OK.</a:t>
            </a:r>
            <a:br>
              <a:rPr lang="pt-BR" dirty="0"/>
            </a:br>
            <a:r>
              <a:rPr lang="pt-BR" dirty="0"/>
              <a:t>Estrutura final igual à 2FN.</a:t>
            </a:r>
          </a:p>
          <a:p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167146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80485BA-DF72-39D4-F666-A1D5B72FA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4909"/>
            <a:ext cx="10515600" cy="5692054"/>
          </a:xfrm>
        </p:spPr>
        <p:txBody>
          <a:bodyPr>
            <a:normAutofit fontScale="47500" lnSpcReduction="20000"/>
          </a:bodyPr>
          <a:lstStyle/>
          <a:p>
            <a:r>
              <a:rPr lang="pt-BR" dirty="0"/>
              <a:t>e) </a:t>
            </a:r>
            <a:r>
              <a:rPr lang="pt-BR" dirty="0" err="1"/>
              <a:t>Tabela_Biblioteca</a:t>
            </a:r>
            <a:endParaRPr lang="pt-BR" dirty="0"/>
          </a:p>
          <a:p>
            <a:r>
              <a:rPr lang="pt-BR" dirty="0"/>
              <a:t>Original: (</a:t>
            </a:r>
            <a:r>
              <a:rPr lang="pt-BR" dirty="0" err="1"/>
              <a:t>cod_aluno</a:t>
            </a:r>
            <a:r>
              <a:rPr lang="pt-BR" dirty="0"/>
              <a:t>, nome, telefone, </a:t>
            </a:r>
            <a:r>
              <a:rPr lang="pt-BR" dirty="0" err="1"/>
              <a:t>end</a:t>
            </a:r>
            <a:r>
              <a:rPr lang="pt-BR" dirty="0"/>
              <a:t>, {</a:t>
            </a:r>
            <a:r>
              <a:rPr lang="pt-BR" dirty="0" err="1"/>
              <a:t>cod_livro</a:t>
            </a:r>
            <a:r>
              <a:rPr lang="pt-BR" dirty="0"/>
              <a:t>, titulo, editora, volume, </a:t>
            </a:r>
            <a:r>
              <a:rPr lang="pt-BR" dirty="0" err="1"/>
              <a:t>cod_autor</a:t>
            </a:r>
            <a:r>
              <a:rPr lang="pt-BR" dirty="0"/>
              <a:t>, nome, </a:t>
            </a:r>
            <a:r>
              <a:rPr lang="pt-BR" dirty="0" err="1"/>
              <a:t>genero</a:t>
            </a:r>
            <a:r>
              <a:rPr lang="pt-BR" dirty="0"/>
              <a:t>}, </a:t>
            </a:r>
            <a:r>
              <a:rPr lang="pt-BR" dirty="0" err="1"/>
              <a:t>data_emprestimo</a:t>
            </a:r>
            <a:r>
              <a:rPr lang="pt-BR" dirty="0"/>
              <a:t>, </a:t>
            </a:r>
            <a:r>
              <a:rPr lang="pt-BR" dirty="0" err="1"/>
              <a:t>data_devolucao</a:t>
            </a:r>
            <a:r>
              <a:rPr lang="pt-BR" dirty="0"/>
              <a:t>)</a:t>
            </a:r>
          </a:p>
          <a:p>
            <a:r>
              <a:rPr lang="pt-BR" dirty="0"/>
              <a:t>1FN:</a:t>
            </a:r>
          </a:p>
          <a:p>
            <a:r>
              <a:rPr lang="pt-BR" dirty="0"/>
              <a:t>Aluno (</a:t>
            </a:r>
            <a:r>
              <a:rPr lang="pt-BR" dirty="0" err="1"/>
              <a:t>cod_aluno</a:t>
            </a:r>
            <a:r>
              <a:rPr lang="pt-BR" dirty="0"/>
              <a:t> PK, nome, telefone, </a:t>
            </a:r>
            <a:r>
              <a:rPr lang="pt-BR" dirty="0" err="1"/>
              <a:t>end</a:t>
            </a:r>
            <a:r>
              <a:rPr lang="pt-BR" dirty="0"/>
              <a:t>)</a:t>
            </a:r>
          </a:p>
          <a:p>
            <a:r>
              <a:rPr lang="pt-BR" dirty="0"/>
              <a:t>Livro (</a:t>
            </a:r>
            <a:r>
              <a:rPr lang="pt-BR" dirty="0" err="1"/>
              <a:t>cod_livro</a:t>
            </a:r>
            <a:r>
              <a:rPr lang="pt-BR" dirty="0"/>
              <a:t> PK, titulo, editora, volume, </a:t>
            </a:r>
            <a:r>
              <a:rPr lang="pt-BR" dirty="0" err="1"/>
              <a:t>cod_autor</a:t>
            </a:r>
            <a:r>
              <a:rPr lang="pt-BR" dirty="0"/>
              <a:t> FK, </a:t>
            </a:r>
            <a:r>
              <a:rPr lang="pt-BR" dirty="0" err="1"/>
              <a:t>genero</a:t>
            </a:r>
            <a:r>
              <a:rPr lang="pt-BR" dirty="0"/>
              <a:t>)</a:t>
            </a:r>
          </a:p>
          <a:p>
            <a:r>
              <a:rPr lang="pt-BR" dirty="0"/>
              <a:t>Autor (</a:t>
            </a:r>
            <a:r>
              <a:rPr lang="pt-BR" dirty="0" err="1"/>
              <a:t>cod_autor</a:t>
            </a:r>
            <a:r>
              <a:rPr lang="pt-BR" dirty="0"/>
              <a:t> PK, nome)</a:t>
            </a:r>
          </a:p>
          <a:p>
            <a:r>
              <a:rPr lang="pt-BR" dirty="0" err="1"/>
              <a:t>Emprestimo</a:t>
            </a:r>
            <a:r>
              <a:rPr lang="pt-BR" dirty="0"/>
              <a:t> (</a:t>
            </a:r>
            <a:r>
              <a:rPr lang="pt-BR" dirty="0" err="1"/>
              <a:t>cod_aluno</a:t>
            </a:r>
            <a:r>
              <a:rPr lang="pt-BR" dirty="0"/>
              <a:t> PK, </a:t>
            </a:r>
            <a:r>
              <a:rPr lang="pt-BR" dirty="0" err="1"/>
              <a:t>cod_livro</a:t>
            </a:r>
            <a:r>
              <a:rPr lang="pt-BR" dirty="0"/>
              <a:t> PK, </a:t>
            </a:r>
            <a:r>
              <a:rPr lang="pt-BR" dirty="0" err="1"/>
              <a:t>data_emprestimo</a:t>
            </a:r>
            <a:r>
              <a:rPr lang="pt-BR" dirty="0"/>
              <a:t>, </a:t>
            </a:r>
            <a:r>
              <a:rPr lang="pt-BR" dirty="0" err="1"/>
              <a:t>data_devolucao</a:t>
            </a:r>
            <a:r>
              <a:rPr lang="pt-BR" dirty="0"/>
              <a:t>)</a:t>
            </a:r>
          </a:p>
          <a:p>
            <a:r>
              <a:rPr lang="pt-BR" dirty="0"/>
              <a:t>2FN:</a:t>
            </a:r>
            <a:br>
              <a:rPr lang="pt-BR" dirty="0"/>
            </a:br>
            <a:r>
              <a:rPr lang="pt-BR" dirty="0"/>
              <a:t>Em Livro, titulo, editora, volume, </a:t>
            </a:r>
            <a:r>
              <a:rPr lang="pt-BR" dirty="0" err="1"/>
              <a:t>genero</a:t>
            </a:r>
            <a:r>
              <a:rPr lang="pt-BR" dirty="0"/>
              <a:t> dependem de </a:t>
            </a:r>
            <a:r>
              <a:rPr lang="pt-BR" dirty="0" err="1"/>
              <a:t>cod_livro</a:t>
            </a:r>
            <a:r>
              <a:rPr lang="pt-BR" dirty="0"/>
              <a:t>; </a:t>
            </a:r>
            <a:r>
              <a:rPr lang="pt-BR" dirty="0" err="1"/>
              <a:t>cod_autor</a:t>
            </a:r>
            <a:r>
              <a:rPr lang="pt-BR" dirty="0"/>
              <a:t> → nome é dependência parcial? Não, </a:t>
            </a:r>
            <a:r>
              <a:rPr lang="pt-BR" dirty="0" err="1"/>
              <a:t>cod_autor</a:t>
            </a:r>
            <a:r>
              <a:rPr lang="pt-BR" dirty="0"/>
              <a:t> é chave estrangeira.</a:t>
            </a:r>
            <a:br>
              <a:rPr lang="pt-BR" dirty="0"/>
            </a:br>
            <a:r>
              <a:rPr lang="pt-BR" dirty="0"/>
              <a:t>Em </a:t>
            </a:r>
            <a:r>
              <a:rPr lang="pt-BR" dirty="0" err="1"/>
              <a:t>Emprestimo</a:t>
            </a:r>
            <a:r>
              <a:rPr lang="pt-BR" dirty="0"/>
              <a:t>, todos dependem da chave completa → OK.</a:t>
            </a:r>
          </a:p>
          <a:p>
            <a:r>
              <a:rPr lang="pt-BR" dirty="0"/>
              <a:t>3FN:</a:t>
            </a:r>
            <a:br>
              <a:rPr lang="pt-BR" dirty="0"/>
            </a:br>
            <a:r>
              <a:rPr lang="pt-BR" dirty="0"/>
              <a:t>Em Livro, </a:t>
            </a:r>
            <a:r>
              <a:rPr lang="pt-BR" dirty="0" err="1"/>
              <a:t>genero</a:t>
            </a:r>
            <a:r>
              <a:rPr lang="pt-BR" dirty="0"/>
              <a:t> depende de </a:t>
            </a:r>
            <a:r>
              <a:rPr lang="pt-BR" dirty="0" err="1"/>
              <a:t>cod_livro</a:t>
            </a:r>
            <a:r>
              <a:rPr lang="pt-BR" dirty="0"/>
              <a:t>? Sim, mas se </a:t>
            </a:r>
            <a:r>
              <a:rPr lang="pt-BR" dirty="0" err="1"/>
              <a:t>genero</a:t>
            </a:r>
            <a:r>
              <a:rPr lang="pt-BR" dirty="0"/>
              <a:t> for uma categoria, pode ser separado:</a:t>
            </a:r>
          </a:p>
          <a:p>
            <a:r>
              <a:rPr lang="pt-BR" dirty="0" err="1"/>
              <a:t>Genero</a:t>
            </a:r>
            <a:r>
              <a:rPr lang="pt-BR" dirty="0"/>
              <a:t> (</a:t>
            </a:r>
            <a:r>
              <a:rPr lang="pt-BR" dirty="0" err="1"/>
              <a:t>cod_genero</a:t>
            </a:r>
            <a:r>
              <a:rPr lang="pt-BR" dirty="0"/>
              <a:t> PK, </a:t>
            </a:r>
            <a:r>
              <a:rPr lang="pt-BR" dirty="0" err="1"/>
              <a:t>descricao</a:t>
            </a:r>
            <a:r>
              <a:rPr lang="pt-BR" dirty="0"/>
              <a:t>)</a:t>
            </a:r>
          </a:p>
          <a:p>
            <a:r>
              <a:rPr lang="pt-BR" dirty="0"/>
              <a:t>Livro (</a:t>
            </a:r>
            <a:r>
              <a:rPr lang="pt-BR" dirty="0" err="1"/>
              <a:t>cod_livro</a:t>
            </a:r>
            <a:r>
              <a:rPr lang="pt-BR" dirty="0"/>
              <a:t> PK, titulo, editora, volume, </a:t>
            </a:r>
            <a:r>
              <a:rPr lang="pt-BR" dirty="0" err="1"/>
              <a:t>cod_autor</a:t>
            </a:r>
            <a:r>
              <a:rPr lang="pt-BR" dirty="0"/>
              <a:t> FK, </a:t>
            </a:r>
            <a:r>
              <a:rPr lang="pt-BR" dirty="0" err="1"/>
              <a:t>cod_genero</a:t>
            </a:r>
            <a:r>
              <a:rPr lang="pt-BR" dirty="0"/>
              <a:t> FK)</a:t>
            </a:r>
          </a:p>
          <a:p>
            <a:r>
              <a:rPr lang="pt-BR" dirty="0"/>
              <a:t>Estrutura final:</a:t>
            </a:r>
          </a:p>
          <a:p>
            <a:r>
              <a:rPr lang="pt-BR" dirty="0"/>
              <a:t>Aluno (</a:t>
            </a:r>
            <a:r>
              <a:rPr lang="pt-BR" dirty="0" err="1"/>
              <a:t>cod_aluno</a:t>
            </a:r>
            <a:r>
              <a:rPr lang="pt-BR" dirty="0"/>
              <a:t> PK, nome, telefone, </a:t>
            </a:r>
            <a:r>
              <a:rPr lang="pt-BR" dirty="0" err="1"/>
              <a:t>end</a:t>
            </a:r>
            <a:r>
              <a:rPr lang="pt-BR" dirty="0"/>
              <a:t>)</a:t>
            </a:r>
          </a:p>
          <a:p>
            <a:r>
              <a:rPr lang="pt-BR" dirty="0"/>
              <a:t>Autor (</a:t>
            </a:r>
            <a:r>
              <a:rPr lang="pt-BR" dirty="0" err="1"/>
              <a:t>cod_autor</a:t>
            </a:r>
            <a:r>
              <a:rPr lang="pt-BR" dirty="0"/>
              <a:t> PK, nome)</a:t>
            </a:r>
          </a:p>
          <a:p>
            <a:r>
              <a:rPr lang="pt-BR" dirty="0" err="1"/>
              <a:t>Genero</a:t>
            </a:r>
            <a:r>
              <a:rPr lang="pt-BR" dirty="0"/>
              <a:t> (</a:t>
            </a:r>
            <a:r>
              <a:rPr lang="pt-BR" dirty="0" err="1"/>
              <a:t>cod_genero</a:t>
            </a:r>
            <a:r>
              <a:rPr lang="pt-BR" dirty="0"/>
              <a:t> PK, </a:t>
            </a:r>
            <a:r>
              <a:rPr lang="pt-BR" dirty="0" err="1"/>
              <a:t>descricao</a:t>
            </a:r>
            <a:r>
              <a:rPr lang="pt-BR" dirty="0"/>
              <a:t>)</a:t>
            </a:r>
          </a:p>
          <a:p>
            <a:r>
              <a:rPr lang="pt-BR" dirty="0"/>
              <a:t>Livro (</a:t>
            </a:r>
            <a:r>
              <a:rPr lang="pt-BR" dirty="0" err="1"/>
              <a:t>cod_livro</a:t>
            </a:r>
            <a:r>
              <a:rPr lang="pt-BR" dirty="0"/>
              <a:t> PK, titulo, editora, volume, </a:t>
            </a:r>
            <a:r>
              <a:rPr lang="pt-BR" dirty="0" err="1"/>
              <a:t>cod_autor</a:t>
            </a:r>
            <a:r>
              <a:rPr lang="pt-BR" dirty="0"/>
              <a:t> FK, </a:t>
            </a:r>
            <a:r>
              <a:rPr lang="pt-BR" dirty="0" err="1"/>
              <a:t>cod_genero</a:t>
            </a:r>
            <a:r>
              <a:rPr lang="pt-BR" dirty="0"/>
              <a:t> FK)</a:t>
            </a:r>
          </a:p>
          <a:p>
            <a:r>
              <a:rPr lang="pt-BR" dirty="0" err="1"/>
              <a:t>Emprestimo</a:t>
            </a:r>
            <a:r>
              <a:rPr lang="pt-BR" dirty="0"/>
              <a:t> (</a:t>
            </a:r>
            <a:r>
              <a:rPr lang="pt-BR" dirty="0" err="1"/>
              <a:t>cod_aluno</a:t>
            </a:r>
            <a:r>
              <a:rPr lang="pt-BR" dirty="0"/>
              <a:t> PK, </a:t>
            </a:r>
            <a:r>
              <a:rPr lang="pt-BR" dirty="0" err="1"/>
              <a:t>cod_livro</a:t>
            </a:r>
            <a:r>
              <a:rPr lang="pt-BR" dirty="0"/>
              <a:t> PK, </a:t>
            </a:r>
            <a:r>
              <a:rPr lang="pt-BR" dirty="0" err="1"/>
              <a:t>data_emprestimo</a:t>
            </a:r>
            <a:r>
              <a:rPr lang="pt-BR" dirty="0"/>
              <a:t>, </a:t>
            </a:r>
            <a:r>
              <a:rPr lang="pt-BR" dirty="0" err="1"/>
              <a:t>data_devolucao</a:t>
            </a:r>
            <a:r>
              <a:rPr lang="pt-BR" dirty="0"/>
              <a:t>)</a:t>
            </a:r>
          </a:p>
          <a:p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7182170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3A6C54A-3F6C-06E9-B6B8-67E6FC026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7200"/>
            <a:ext cx="10515600" cy="5719763"/>
          </a:xfrm>
        </p:spPr>
        <p:txBody>
          <a:bodyPr>
            <a:normAutofit fontScale="70000" lnSpcReduction="20000"/>
          </a:bodyPr>
          <a:lstStyle/>
          <a:p>
            <a:r>
              <a:rPr lang="pt-BR" dirty="0"/>
              <a:t>f) </a:t>
            </a:r>
            <a:r>
              <a:rPr lang="pt-BR" dirty="0" err="1"/>
              <a:t>Tabela_Matricula</a:t>
            </a:r>
            <a:endParaRPr lang="pt-BR" dirty="0"/>
          </a:p>
          <a:p>
            <a:r>
              <a:rPr lang="pt-BR" dirty="0"/>
              <a:t>Original: (</a:t>
            </a:r>
            <a:r>
              <a:rPr lang="pt-BR" dirty="0" err="1"/>
              <a:t>cod_aluno</a:t>
            </a:r>
            <a:r>
              <a:rPr lang="pt-BR" dirty="0"/>
              <a:t>, </a:t>
            </a:r>
            <a:r>
              <a:rPr lang="pt-BR" dirty="0" err="1"/>
              <a:t>cod_turma</a:t>
            </a:r>
            <a:r>
              <a:rPr lang="pt-BR" dirty="0"/>
              <a:t>, </a:t>
            </a:r>
            <a:r>
              <a:rPr lang="pt-BR" dirty="0" err="1"/>
              <a:t>cod_disciplina</a:t>
            </a:r>
            <a:r>
              <a:rPr lang="pt-BR" dirty="0"/>
              <a:t>, </a:t>
            </a:r>
            <a:r>
              <a:rPr lang="pt-BR" dirty="0" err="1"/>
              <a:t>nome_disciplina</a:t>
            </a:r>
            <a:r>
              <a:rPr lang="pt-BR" dirty="0"/>
              <a:t>, </a:t>
            </a:r>
            <a:r>
              <a:rPr lang="pt-BR" dirty="0" err="1"/>
              <a:t>nome_aluno</a:t>
            </a:r>
            <a:r>
              <a:rPr lang="pt-BR" dirty="0"/>
              <a:t>, </a:t>
            </a:r>
            <a:r>
              <a:rPr lang="pt-BR" dirty="0" err="1"/>
              <a:t>cod_localnascaluno</a:t>
            </a:r>
            <a:r>
              <a:rPr lang="pt-BR" dirty="0"/>
              <a:t>, </a:t>
            </a:r>
            <a:r>
              <a:rPr lang="pt-BR" dirty="0" err="1"/>
              <a:t>nome_localnascaluno</a:t>
            </a:r>
            <a:r>
              <a:rPr lang="pt-BR" dirty="0"/>
              <a:t>)</a:t>
            </a:r>
          </a:p>
          <a:p>
            <a:r>
              <a:rPr lang="pt-BR" dirty="0"/>
              <a:t>1FN – Já atômica.</a:t>
            </a:r>
          </a:p>
          <a:p>
            <a:r>
              <a:rPr lang="pt-BR" dirty="0"/>
              <a:t>2FN – Chave composta (</a:t>
            </a:r>
            <a:r>
              <a:rPr lang="pt-BR" dirty="0" err="1"/>
              <a:t>cod_aluno</a:t>
            </a:r>
            <a:r>
              <a:rPr lang="pt-BR" dirty="0"/>
              <a:t>, </a:t>
            </a:r>
            <a:r>
              <a:rPr lang="pt-BR" dirty="0" err="1"/>
              <a:t>cod_turma</a:t>
            </a:r>
            <a:r>
              <a:rPr lang="pt-BR" dirty="0"/>
              <a:t>, </a:t>
            </a:r>
            <a:r>
              <a:rPr lang="pt-BR" dirty="0" err="1"/>
              <a:t>cod_disciplina</a:t>
            </a:r>
            <a:r>
              <a:rPr lang="pt-BR" dirty="0"/>
              <a:t>):</a:t>
            </a:r>
          </a:p>
          <a:p>
            <a:r>
              <a:rPr lang="pt-BR" dirty="0" err="1"/>
              <a:t>nome_aluno</a:t>
            </a:r>
            <a:r>
              <a:rPr lang="pt-BR" dirty="0"/>
              <a:t> depende de </a:t>
            </a:r>
            <a:r>
              <a:rPr lang="pt-BR" dirty="0" err="1"/>
              <a:t>cod_aluno</a:t>
            </a:r>
            <a:endParaRPr lang="pt-BR" dirty="0"/>
          </a:p>
          <a:p>
            <a:r>
              <a:rPr lang="pt-BR" dirty="0" err="1"/>
              <a:t>nome_disciplina</a:t>
            </a:r>
            <a:r>
              <a:rPr lang="pt-BR" dirty="0"/>
              <a:t> depende de </a:t>
            </a:r>
            <a:r>
              <a:rPr lang="pt-BR" dirty="0" err="1"/>
              <a:t>cod_disciplina</a:t>
            </a:r>
            <a:endParaRPr lang="pt-BR" dirty="0"/>
          </a:p>
          <a:p>
            <a:r>
              <a:rPr lang="pt-BR" dirty="0" err="1"/>
              <a:t>cod_localnascaluno</a:t>
            </a:r>
            <a:r>
              <a:rPr lang="pt-BR" dirty="0"/>
              <a:t>, </a:t>
            </a:r>
            <a:r>
              <a:rPr lang="pt-BR" dirty="0" err="1"/>
              <a:t>nome_localnascaluno</a:t>
            </a:r>
            <a:r>
              <a:rPr lang="pt-BR" dirty="0"/>
              <a:t> dependem de </a:t>
            </a:r>
            <a:r>
              <a:rPr lang="pt-BR" dirty="0" err="1"/>
              <a:t>cod_aluno</a:t>
            </a:r>
            <a:endParaRPr lang="pt-BR" dirty="0"/>
          </a:p>
          <a:p>
            <a:r>
              <a:rPr lang="pt-BR" dirty="0"/>
              <a:t>2FN:</a:t>
            </a:r>
          </a:p>
          <a:p>
            <a:r>
              <a:rPr lang="pt-BR" dirty="0"/>
              <a:t>Aluno (</a:t>
            </a:r>
            <a:r>
              <a:rPr lang="pt-BR" dirty="0" err="1"/>
              <a:t>cod_aluno</a:t>
            </a:r>
            <a:r>
              <a:rPr lang="pt-BR" dirty="0"/>
              <a:t> PK, </a:t>
            </a:r>
            <a:r>
              <a:rPr lang="pt-BR" dirty="0" err="1"/>
              <a:t>nome_aluno</a:t>
            </a:r>
            <a:r>
              <a:rPr lang="pt-BR" dirty="0"/>
              <a:t>, </a:t>
            </a:r>
            <a:r>
              <a:rPr lang="pt-BR" dirty="0" err="1"/>
              <a:t>cod_localnascaluno</a:t>
            </a:r>
            <a:r>
              <a:rPr lang="pt-BR" dirty="0"/>
              <a:t> FK)</a:t>
            </a:r>
          </a:p>
          <a:p>
            <a:r>
              <a:rPr lang="pt-BR" dirty="0"/>
              <a:t>Local (</a:t>
            </a:r>
            <a:r>
              <a:rPr lang="pt-BR" dirty="0" err="1"/>
              <a:t>cod_localnascaluno</a:t>
            </a:r>
            <a:r>
              <a:rPr lang="pt-BR" dirty="0"/>
              <a:t> PK, </a:t>
            </a:r>
            <a:r>
              <a:rPr lang="pt-BR" dirty="0" err="1"/>
              <a:t>nome_localnascaluno</a:t>
            </a:r>
            <a:r>
              <a:rPr lang="pt-BR" dirty="0"/>
              <a:t>)</a:t>
            </a:r>
          </a:p>
          <a:p>
            <a:r>
              <a:rPr lang="pt-BR" dirty="0"/>
              <a:t>Disciplina (</a:t>
            </a:r>
            <a:r>
              <a:rPr lang="pt-BR" dirty="0" err="1"/>
              <a:t>cod_disciplina</a:t>
            </a:r>
            <a:r>
              <a:rPr lang="pt-BR" dirty="0"/>
              <a:t> PK, </a:t>
            </a:r>
            <a:r>
              <a:rPr lang="pt-BR" dirty="0" err="1"/>
              <a:t>nome_disciplina</a:t>
            </a:r>
            <a:r>
              <a:rPr lang="pt-BR" dirty="0"/>
              <a:t>)</a:t>
            </a:r>
          </a:p>
          <a:p>
            <a:r>
              <a:rPr lang="pt-BR" dirty="0"/>
              <a:t>Turma (</a:t>
            </a:r>
            <a:r>
              <a:rPr lang="pt-BR" dirty="0" err="1"/>
              <a:t>cod_turma</a:t>
            </a:r>
            <a:r>
              <a:rPr lang="pt-BR" dirty="0"/>
              <a:t> PK)</a:t>
            </a:r>
          </a:p>
          <a:p>
            <a:r>
              <a:rPr lang="pt-BR" dirty="0"/>
              <a:t>Matricula (</a:t>
            </a:r>
            <a:r>
              <a:rPr lang="pt-BR" dirty="0" err="1"/>
              <a:t>cod_aluno</a:t>
            </a:r>
            <a:r>
              <a:rPr lang="pt-BR" dirty="0"/>
              <a:t> PK, </a:t>
            </a:r>
            <a:r>
              <a:rPr lang="pt-BR" dirty="0" err="1"/>
              <a:t>cod_turma</a:t>
            </a:r>
            <a:r>
              <a:rPr lang="pt-BR" dirty="0"/>
              <a:t> PK, </a:t>
            </a:r>
            <a:r>
              <a:rPr lang="pt-BR" dirty="0" err="1"/>
              <a:t>cod_disciplina</a:t>
            </a:r>
            <a:r>
              <a:rPr lang="pt-BR" dirty="0"/>
              <a:t> PK)</a:t>
            </a:r>
          </a:p>
          <a:p>
            <a:r>
              <a:rPr lang="pt-BR" dirty="0"/>
              <a:t>3FN:</a:t>
            </a:r>
            <a:br>
              <a:rPr lang="pt-BR" dirty="0"/>
            </a:br>
            <a:r>
              <a:rPr lang="pt-BR" dirty="0"/>
              <a:t>Em Aluno, </a:t>
            </a:r>
            <a:r>
              <a:rPr lang="pt-BR" dirty="0" err="1"/>
              <a:t>nome_localnascaluno</a:t>
            </a:r>
            <a:r>
              <a:rPr lang="pt-BR" dirty="0"/>
              <a:t> depende de </a:t>
            </a:r>
            <a:r>
              <a:rPr lang="pt-BR" dirty="0" err="1"/>
              <a:t>cod_localnascaluno</a:t>
            </a:r>
            <a:r>
              <a:rPr lang="pt-BR" dirty="0"/>
              <a:t> → já separado.</a:t>
            </a:r>
            <a:br>
              <a:rPr lang="pt-BR" dirty="0"/>
            </a:br>
            <a:r>
              <a:rPr lang="pt-BR" dirty="0"/>
              <a:t>Estrutura final igual à 2FN.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1144520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3F60DD-5741-DE1F-DEFE-2CD9739C8A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54182"/>
            <a:ext cx="10515600" cy="5622781"/>
          </a:xfrm>
        </p:spPr>
        <p:txBody>
          <a:bodyPr>
            <a:normAutofit fontScale="85000" lnSpcReduction="10000"/>
          </a:bodyPr>
          <a:lstStyle/>
          <a:p>
            <a:r>
              <a:rPr lang="pt-BR" dirty="0"/>
              <a:t>g) </a:t>
            </a:r>
            <a:r>
              <a:rPr lang="pt-BR" dirty="0" err="1"/>
              <a:t>Tabela_Consulta</a:t>
            </a:r>
            <a:endParaRPr lang="pt-BR" dirty="0"/>
          </a:p>
          <a:p>
            <a:r>
              <a:rPr lang="pt-BR" dirty="0"/>
              <a:t>Original: (</a:t>
            </a:r>
            <a:r>
              <a:rPr lang="pt-BR" dirty="0" err="1"/>
              <a:t>cod_medico</a:t>
            </a:r>
            <a:r>
              <a:rPr lang="pt-BR" dirty="0"/>
              <a:t>, </a:t>
            </a:r>
            <a:r>
              <a:rPr lang="pt-BR" dirty="0" err="1"/>
              <a:t>nome_med</a:t>
            </a:r>
            <a:r>
              <a:rPr lang="pt-BR" dirty="0"/>
              <a:t>, </a:t>
            </a:r>
            <a:r>
              <a:rPr lang="pt-BR" dirty="0" err="1"/>
              <a:t>crm</a:t>
            </a:r>
            <a:r>
              <a:rPr lang="pt-BR" dirty="0"/>
              <a:t>, fone, </a:t>
            </a:r>
            <a:r>
              <a:rPr lang="pt-BR" dirty="0" err="1"/>
              <a:t>cod_paciente</a:t>
            </a:r>
            <a:r>
              <a:rPr lang="pt-BR" dirty="0"/>
              <a:t>, </a:t>
            </a:r>
            <a:r>
              <a:rPr lang="pt-BR" dirty="0" err="1"/>
              <a:t>nome_pac</a:t>
            </a:r>
            <a:r>
              <a:rPr lang="pt-BR" dirty="0"/>
              <a:t>, </a:t>
            </a:r>
            <a:r>
              <a:rPr lang="pt-BR" dirty="0" err="1"/>
              <a:t>fone_pac</a:t>
            </a:r>
            <a:r>
              <a:rPr lang="pt-BR" dirty="0"/>
              <a:t>, </a:t>
            </a:r>
            <a:r>
              <a:rPr lang="pt-BR" dirty="0" err="1"/>
              <a:t>end_pac</a:t>
            </a:r>
            <a:r>
              <a:rPr lang="pt-BR" dirty="0"/>
              <a:t>, </a:t>
            </a:r>
            <a:r>
              <a:rPr lang="pt-BR" dirty="0" err="1"/>
              <a:t>dt_consulta</a:t>
            </a:r>
            <a:r>
              <a:rPr lang="pt-BR" dirty="0"/>
              <a:t>, diagnostico)</a:t>
            </a:r>
          </a:p>
          <a:p>
            <a:r>
              <a:rPr lang="pt-BR" dirty="0"/>
              <a:t>1FN – Já atômica.</a:t>
            </a:r>
          </a:p>
          <a:p>
            <a:r>
              <a:rPr lang="pt-BR" dirty="0"/>
              <a:t>2FN – Chave composta (</a:t>
            </a:r>
            <a:r>
              <a:rPr lang="pt-BR" dirty="0" err="1"/>
              <a:t>cod_medico</a:t>
            </a:r>
            <a:r>
              <a:rPr lang="pt-BR" dirty="0"/>
              <a:t>, </a:t>
            </a:r>
            <a:r>
              <a:rPr lang="pt-BR" dirty="0" err="1"/>
              <a:t>cod_paciente</a:t>
            </a:r>
            <a:r>
              <a:rPr lang="pt-BR" dirty="0"/>
              <a:t>, </a:t>
            </a:r>
            <a:r>
              <a:rPr lang="pt-BR" dirty="0" err="1"/>
              <a:t>dt_consulta</a:t>
            </a:r>
            <a:r>
              <a:rPr lang="pt-BR" dirty="0"/>
              <a:t>):</a:t>
            </a:r>
          </a:p>
          <a:p>
            <a:r>
              <a:rPr lang="pt-BR" dirty="0" err="1"/>
              <a:t>nome_med</a:t>
            </a:r>
            <a:r>
              <a:rPr lang="pt-BR" dirty="0"/>
              <a:t>, </a:t>
            </a:r>
            <a:r>
              <a:rPr lang="pt-BR" dirty="0" err="1"/>
              <a:t>crm</a:t>
            </a:r>
            <a:r>
              <a:rPr lang="pt-BR" dirty="0"/>
              <a:t>, fone dependem de </a:t>
            </a:r>
            <a:r>
              <a:rPr lang="pt-BR" dirty="0" err="1"/>
              <a:t>cod_medico</a:t>
            </a:r>
            <a:endParaRPr lang="pt-BR" dirty="0"/>
          </a:p>
          <a:p>
            <a:r>
              <a:rPr lang="pt-BR" dirty="0" err="1"/>
              <a:t>nome_pac</a:t>
            </a:r>
            <a:r>
              <a:rPr lang="pt-BR" dirty="0"/>
              <a:t>, </a:t>
            </a:r>
            <a:r>
              <a:rPr lang="pt-BR" dirty="0" err="1"/>
              <a:t>fone_pac</a:t>
            </a:r>
            <a:r>
              <a:rPr lang="pt-BR" dirty="0"/>
              <a:t>, </a:t>
            </a:r>
            <a:r>
              <a:rPr lang="pt-BR" dirty="0" err="1"/>
              <a:t>end_pac</a:t>
            </a:r>
            <a:r>
              <a:rPr lang="pt-BR" dirty="0"/>
              <a:t> dependem de </a:t>
            </a:r>
            <a:r>
              <a:rPr lang="pt-BR" dirty="0" err="1"/>
              <a:t>cod_paciente</a:t>
            </a:r>
            <a:endParaRPr lang="pt-BR" dirty="0"/>
          </a:p>
          <a:p>
            <a:r>
              <a:rPr lang="pt-BR" dirty="0"/>
              <a:t>diagnostico depende da chave completa</a:t>
            </a:r>
          </a:p>
          <a:p>
            <a:r>
              <a:rPr lang="pt-BR" dirty="0"/>
              <a:t>2FN:</a:t>
            </a:r>
          </a:p>
          <a:p>
            <a:r>
              <a:rPr lang="pt-BR" dirty="0"/>
              <a:t>Medico (</a:t>
            </a:r>
            <a:r>
              <a:rPr lang="pt-BR" dirty="0" err="1"/>
              <a:t>cod_medico</a:t>
            </a:r>
            <a:r>
              <a:rPr lang="pt-BR" dirty="0"/>
              <a:t> PK, </a:t>
            </a:r>
            <a:r>
              <a:rPr lang="pt-BR" dirty="0" err="1"/>
              <a:t>nome_med</a:t>
            </a:r>
            <a:r>
              <a:rPr lang="pt-BR" dirty="0"/>
              <a:t>, </a:t>
            </a:r>
            <a:r>
              <a:rPr lang="pt-BR" dirty="0" err="1"/>
              <a:t>crm</a:t>
            </a:r>
            <a:r>
              <a:rPr lang="pt-BR" dirty="0"/>
              <a:t>, fone)</a:t>
            </a:r>
          </a:p>
          <a:p>
            <a:r>
              <a:rPr lang="pt-BR" dirty="0"/>
              <a:t>Paciente (</a:t>
            </a:r>
            <a:r>
              <a:rPr lang="pt-BR" dirty="0" err="1"/>
              <a:t>cod_paciente</a:t>
            </a:r>
            <a:r>
              <a:rPr lang="pt-BR" dirty="0"/>
              <a:t> PK, </a:t>
            </a:r>
            <a:r>
              <a:rPr lang="pt-BR" dirty="0" err="1"/>
              <a:t>nome_pac</a:t>
            </a:r>
            <a:r>
              <a:rPr lang="pt-BR" dirty="0"/>
              <a:t>, </a:t>
            </a:r>
            <a:r>
              <a:rPr lang="pt-BR" dirty="0" err="1"/>
              <a:t>fone_pac</a:t>
            </a:r>
            <a:r>
              <a:rPr lang="pt-BR" dirty="0"/>
              <a:t>, </a:t>
            </a:r>
            <a:r>
              <a:rPr lang="pt-BR" dirty="0" err="1"/>
              <a:t>end_pac</a:t>
            </a:r>
            <a:r>
              <a:rPr lang="pt-BR" dirty="0"/>
              <a:t>)</a:t>
            </a:r>
          </a:p>
          <a:p>
            <a:r>
              <a:rPr lang="pt-BR" dirty="0"/>
              <a:t>Consulta (</a:t>
            </a:r>
            <a:r>
              <a:rPr lang="pt-BR" dirty="0" err="1"/>
              <a:t>cod_medico</a:t>
            </a:r>
            <a:r>
              <a:rPr lang="pt-BR" dirty="0"/>
              <a:t> PK, </a:t>
            </a:r>
            <a:r>
              <a:rPr lang="pt-BR" dirty="0" err="1"/>
              <a:t>cod_paciente</a:t>
            </a:r>
            <a:r>
              <a:rPr lang="pt-BR" dirty="0"/>
              <a:t> PK, </a:t>
            </a:r>
            <a:r>
              <a:rPr lang="pt-BR" dirty="0" err="1"/>
              <a:t>dt_consulta</a:t>
            </a:r>
            <a:r>
              <a:rPr lang="pt-BR" dirty="0"/>
              <a:t> PK, diagnostico)</a:t>
            </a:r>
          </a:p>
          <a:p>
            <a:r>
              <a:rPr lang="pt-BR" dirty="0"/>
              <a:t>3FN:</a:t>
            </a:r>
            <a:br>
              <a:rPr lang="pt-BR" dirty="0"/>
            </a:br>
            <a:r>
              <a:rPr lang="pt-BR" dirty="0"/>
              <a:t>Não há dependências transitivas. Estrutura final igual à 2FN.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02848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A5D759-08CD-BB72-B820-4BBFFBA50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Extras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2743F82-2CE6-F8A7-1C59-327A9C2847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Exercício Extra 1</a:t>
            </a:r>
          </a:p>
          <a:p>
            <a:r>
              <a:rPr lang="pt-BR" dirty="0"/>
              <a:t>Tabela Vendas: (</a:t>
            </a:r>
            <a:r>
              <a:rPr lang="pt-BR" dirty="0" err="1"/>
              <a:t>id_venda</a:t>
            </a:r>
            <a:r>
              <a:rPr lang="pt-BR" dirty="0"/>
              <a:t>, </a:t>
            </a:r>
            <a:r>
              <a:rPr lang="pt-BR" dirty="0" err="1"/>
              <a:t>data_venda</a:t>
            </a:r>
            <a:r>
              <a:rPr lang="pt-BR" dirty="0"/>
              <a:t>, </a:t>
            </a:r>
            <a:r>
              <a:rPr lang="pt-BR" dirty="0" err="1"/>
              <a:t>id_cliente</a:t>
            </a:r>
            <a:r>
              <a:rPr lang="pt-BR" dirty="0"/>
              <a:t>, </a:t>
            </a:r>
            <a:r>
              <a:rPr lang="pt-BR" dirty="0" err="1"/>
              <a:t>nome_cliente</a:t>
            </a:r>
            <a:r>
              <a:rPr lang="pt-BR" dirty="0"/>
              <a:t>, </a:t>
            </a:r>
            <a:r>
              <a:rPr lang="pt-BR" dirty="0" err="1"/>
              <a:t>cidade_cliente</a:t>
            </a:r>
            <a:r>
              <a:rPr lang="pt-BR" dirty="0"/>
              <a:t>, </a:t>
            </a:r>
            <a:r>
              <a:rPr lang="pt-BR" dirty="0" err="1"/>
              <a:t>id_produto</a:t>
            </a:r>
            <a:r>
              <a:rPr lang="pt-BR" dirty="0"/>
              <a:t>, </a:t>
            </a:r>
            <a:r>
              <a:rPr lang="pt-BR" dirty="0" err="1"/>
              <a:t>nome_produto</a:t>
            </a:r>
            <a:r>
              <a:rPr lang="pt-BR" dirty="0"/>
              <a:t>, </a:t>
            </a:r>
            <a:r>
              <a:rPr lang="pt-BR" dirty="0" err="1"/>
              <a:t>categoria_produto</a:t>
            </a:r>
            <a:r>
              <a:rPr lang="pt-BR" dirty="0"/>
              <a:t>, quantidade, </a:t>
            </a:r>
            <a:r>
              <a:rPr lang="pt-BR" dirty="0" err="1"/>
              <a:t>preco_unitario</a:t>
            </a:r>
            <a:r>
              <a:rPr lang="pt-BR" dirty="0"/>
              <a:t>)</a:t>
            </a:r>
          </a:p>
          <a:p>
            <a:r>
              <a:rPr lang="pt-BR" dirty="0"/>
              <a:t>Exercício Extra 2</a:t>
            </a:r>
          </a:p>
          <a:p>
            <a:r>
              <a:rPr lang="pt-BR" dirty="0"/>
              <a:t>Tabela </a:t>
            </a:r>
            <a:r>
              <a:rPr lang="pt-BR" dirty="0" err="1"/>
              <a:t>Funcionario</a:t>
            </a:r>
            <a:r>
              <a:rPr lang="pt-BR" dirty="0"/>
              <a:t>: (</a:t>
            </a:r>
            <a:r>
              <a:rPr lang="pt-BR" dirty="0" err="1"/>
              <a:t>id_func</a:t>
            </a:r>
            <a:r>
              <a:rPr lang="pt-BR" dirty="0"/>
              <a:t>, nome, cargo, </a:t>
            </a:r>
            <a:r>
              <a:rPr lang="pt-BR" dirty="0" err="1"/>
              <a:t>salario_cargo</a:t>
            </a:r>
            <a:r>
              <a:rPr lang="pt-BR" dirty="0"/>
              <a:t>, </a:t>
            </a:r>
            <a:r>
              <a:rPr lang="pt-BR" dirty="0" err="1"/>
              <a:t>id_depto</a:t>
            </a:r>
            <a:r>
              <a:rPr lang="pt-BR" dirty="0"/>
              <a:t>, </a:t>
            </a:r>
            <a:r>
              <a:rPr lang="pt-BR" dirty="0" err="1"/>
              <a:t>nome_depto</a:t>
            </a:r>
            <a:r>
              <a:rPr lang="pt-BR" dirty="0"/>
              <a:t>, </a:t>
            </a:r>
            <a:r>
              <a:rPr lang="pt-BR" dirty="0" err="1"/>
              <a:t>gerente_depto</a:t>
            </a:r>
            <a:r>
              <a:rPr lang="pt-B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889141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5B1140-3DD0-D2B3-D4D5-E417609FD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Extras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87D2BE-7FAD-9E6F-3DBB-2B07BBFDF2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Exercício Extra 3</a:t>
            </a:r>
          </a:p>
          <a:p>
            <a:r>
              <a:rPr lang="pt-BR" dirty="0"/>
              <a:t>Tabela Projeto: (</a:t>
            </a:r>
            <a:r>
              <a:rPr lang="pt-BR" dirty="0" err="1"/>
              <a:t>id_projeto</a:t>
            </a:r>
            <a:r>
              <a:rPr lang="pt-BR" dirty="0"/>
              <a:t>, </a:t>
            </a:r>
            <a:r>
              <a:rPr lang="pt-BR" dirty="0" err="1"/>
              <a:t>nome_projeto</a:t>
            </a:r>
            <a:r>
              <a:rPr lang="pt-BR" dirty="0"/>
              <a:t>, </a:t>
            </a:r>
            <a:r>
              <a:rPr lang="pt-BR" dirty="0" err="1"/>
              <a:t>id_func</a:t>
            </a:r>
            <a:r>
              <a:rPr lang="pt-BR" dirty="0"/>
              <a:t>, </a:t>
            </a:r>
            <a:r>
              <a:rPr lang="pt-BR" dirty="0" err="1"/>
              <a:t>nome_func</a:t>
            </a:r>
            <a:r>
              <a:rPr lang="pt-BR" dirty="0"/>
              <a:t>, horas, </a:t>
            </a:r>
            <a:r>
              <a:rPr lang="pt-BR" dirty="0" err="1"/>
              <a:t>id_equip</a:t>
            </a:r>
            <a:r>
              <a:rPr lang="pt-BR" dirty="0"/>
              <a:t>, </a:t>
            </a:r>
            <a:r>
              <a:rPr lang="pt-BR" dirty="0" err="1"/>
              <a:t>nome_equip</a:t>
            </a:r>
            <a:r>
              <a:rPr lang="pt-BR" dirty="0"/>
              <a:t>)</a:t>
            </a:r>
          </a:p>
          <a:p>
            <a:endParaRPr lang="pt-BR" dirty="0"/>
          </a:p>
          <a:p>
            <a:r>
              <a:rPr lang="pt-BR" dirty="0"/>
              <a:t>Exercício Extra 4</a:t>
            </a:r>
          </a:p>
          <a:p>
            <a:r>
              <a:rPr lang="pt-BR" dirty="0"/>
              <a:t>Tabela Curso: (</a:t>
            </a:r>
            <a:r>
              <a:rPr lang="pt-BR" dirty="0" err="1"/>
              <a:t>id_curso</a:t>
            </a:r>
            <a:r>
              <a:rPr lang="pt-BR" dirty="0"/>
              <a:t>, </a:t>
            </a:r>
            <a:r>
              <a:rPr lang="pt-BR" dirty="0" err="1"/>
              <a:t>nome_curso</a:t>
            </a:r>
            <a:r>
              <a:rPr lang="pt-BR" dirty="0"/>
              <a:t>, </a:t>
            </a:r>
            <a:r>
              <a:rPr lang="pt-BR" dirty="0" err="1"/>
              <a:t>id_prof</a:t>
            </a:r>
            <a:r>
              <a:rPr lang="pt-BR" dirty="0"/>
              <a:t>, </a:t>
            </a:r>
            <a:r>
              <a:rPr lang="pt-BR" dirty="0" err="1"/>
              <a:t>nome_prof</a:t>
            </a:r>
            <a:r>
              <a:rPr lang="pt-BR" dirty="0"/>
              <a:t>, </a:t>
            </a:r>
            <a:r>
              <a:rPr lang="pt-BR" dirty="0" err="1"/>
              <a:t>titulacao_prof</a:t>
            </a:r>
            <a:r>
              <a:rPr lang="pt-BR" dirty="0"/>
              <a:t>, </a:t>
            </a:r>
            <a:r>
              <a:rPr lang="pt-BR" dirty="0" err="1"/>
              <a:t>id_aluno</a:t>
            </a:r>
            <a:r>
              <a:rPr lang="pt-BR" dirty="0"/>
              <a:t>, </a:t>
            </a:r>
            <a:r>
              <a:rPr lang="pt-BR" dirty="0" err="1"/>
              <a:t>nome_aluno</a:t>
            </a:r>
            <a:r>
              <a:rPr lang="pt-BR" dirty="0"/>
              <a:t>, nota)</a:t>
            </a:r>
          </a:p>
        </p:txBody>
      </p:sp>
    </p:spTree>
    <p:extLst>
      <p:ext uri="{BB962C8B-B14F-4D97-AF65-F5344CB8AC3E}">
        <p14:creationId xmlns:p14="http://schemas.microsoft.com/office/powerpoint/2010/main" val="389565231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F5C7EF-6A76-0231-2E58-00FBCF79F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Extras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A1D4EF-E4E3-DC95-AAE4-A2D952D998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Exercício Extra 5</a:t>
            </a:r>
          </a:p>
          <a:p>
            <a:r>
              <a:rPr lang="pt-BR" dirty="0"/>
              <a:t>Tabela </a:t>
            </a:r>
            <a:r>
              <a:rPr lang="pt-BR" dirty="0" err="1"/>
              <a:t>Pedido_Compra</a:t>
            </a:r>
            <a:r>
              <a:rPr lang="pt-BR" dirty="0"/>
              <a:t>: (</a:t>
            </a:r>
            <a:r>
              <a:rPr lang="pt-BR" dirty="0" err="1"/>
              <a:t>id_pedido</a:t>
            </a:r>
            <a:r>
              <a:rPr lang="pt-BR" dirty="0"/>
              <a:t>, data, </a:t>
            </a:r>
            <a:r>
              <a:rPr lang="pt-BR" dirty="0" err="1"/>
              <a:t>id_fornecedor</a:t>
            </a:r>
            <a:r>
              <a:rPr lang="pt-BR" dirty="0"/>
              <a:t>, </a:t>
            </a:r>
            <a:r>
              <a:rPr lang="pt-BR" dirty="0" err="1"/>
              <a:t>nome_fornecedor</a:t>
            </a:r>
            <a:r>
              <a:rPr lang="pt-BR" dirty="0"/>
              <a:t>, </a:t>
            </a:r>
            <a:r>
              <a:rPr lang="pt-BR" dirty="0" err="1"/>
              <a:t>end_fornecedor</a:t>
            </a:r>
            <a:r>
              <a:rPr lang="pt-BR" dirty="0"/>
              <a:t>, </a:t>
            </a:r>
            <a:r>
              <a:rPr lang="pt-BR" dirty="0" err="1"/>
              <a:t>id_produto</a:t>
            </a:r>
            <a:r>
              <a:rPr lang="pt-BR" dirty="0"/>
              <a:t>, </a:t>
            </a:r>
            <a:r>
              <a:rPr lang="pt-BR" dirty="0" err="1"/>
              <a:t>nome_produto</a:t>
            </a:r>
            <a:r>
              <a:rPr lang="pt-BR" dirty="0"/>
              <a:t>, </a:t>
            </a:r>
            <a:r>
              <a:rPr lang="pt-BR" dirty="0" err="1"/>
              <a:t>qtd</a:t>
            </a:r>
            <a:r>
              <a:rPr lang="pt-BR" dirty="0"/>
              <a:t>, </a:t>
            </a:r>
            <a:r>
              <a:rPr lang="pt-BR" dirty="0" err="1"/>
              <a:t>preco</a:t>
            </a:r>
            <a:r>
              <a:rPr lang="pt-BR" dirty="0"/>
              <a:t>)</a:t>
            </a:r>
          </a:p>
          <a:p>
            <a:endParaRPr lang="pt-BR" dirty="0"/>
          </a:p>
          <a:p>
            <a:r>
              <a:rPr lang="pt-BR" dirty="0"/>
              <a:t>Exercício Extra 6</a:t>
            </a:r>
          </a:p>
          <a:p>
            <a:r>
              <a:rPr lang="pt-BR" dirty="0"/>
              <a:t>Tabela </a:t>
            </a:r>
            <a:r>
              <a:rPr lang="pt-BR" dirty="0" err="1"/>
              <a:t>Medico_Paciente</a:t>
            </a:r>
            <a:r>
              <a:rPr lang="pt-BR" dirty="0"/>
              <a:t>: (</a:t>
            </a:r>
            <a:r>
              <a:rPr lang="pt-BR" dirty="0" err="1"/>
              <a:t>crm</a:t>
            </a:r>
            <a:r>
              <a:rPr lang="pt-BR" dirty="0"/>
              <a:t>, </a:t>
            </a:r>
            <a:r>
              <a:rPr lang="pt-BR" dirty="0" err="1"/>
              <a:t>nome_med</a:t>
            </a:r>
            <a:r>
              <a:rPr lang="pt-BR" dirty="0"/>
              <a:t>, especialidade, </a:t>
            </a:r>
            <a:r>
              <a:rPr lang="pt-BR" dirty="0" err="1"/>
              <a:t>id_paciente</a:t>
            </a:r>
            <a:r>
              <a:rPr lang="pt-BR" dirty="0"/>
              <a:t>, </a:t>
            </a:r>
            <a:r>
              <a:rPr lang="pt-BR" dirty="0" err="1"/>
              <a:t>nome_pac</a:t>
            </a:r>
            <a:r>
              <a:rPr lang="pt-BR" dirty="0"/>
              <a:t>, </a:t>
            </a:r>
            <a:r>
              <a:rPr lang="pt-BR" dirty="0" err="1"/>
              <a:t>data_consulta</a:t>
            </a:r>
            <a:r>
              <a:rPr lang="pt-BR" dirty="0"/>
              <a:t>, diagnostico)</a:t>
            </a:r>
          </a:p>
        </p:txBody>
      </p:sp>
    </p:spTree>
    <p:extLst>
      <p:ext uri="{BB962C8B-B14F-4D97-AF65-F5344CB8AC3E}">
        <p14:creationId xmlns:p14="http://schemas.microsoft.com/office/powerpoint/2010/main" val="341009426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9B3271-0ED4-C12D-4FEB-13C8600F4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Extras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B6F6EEB-FC56-1545-DF9E-E26551E95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Exercício Extra 7</a:t>
            </a:r>
          </a:p>
          <a:p>
            <a:r>
              <a:rPr lang="pt-BR" dirty="0"/>
              <a:t>Tabela </a:t>
            </a:r>
            <a:r>
              <a:rPr lang="pt-BR" dirty="0" err="1"/>
              <a:t>Aluno_Disciplina</a:t>
            </a:r>
            <a:r>
              <a:rPr lang="pt-BR" dirty="0"/>
              <a:t>: (</a:t>
            </a:r>
            <a:r>
              <a:rPr lang="pt-BR" dirty="0" err="1"/>
              <a:t>id_aluno</a:t>
            </a:r>
            <a:r>
              <a:rPr lang="pt-BR" dirty="0"/>
              <a:t>, </a:t>
            </a:r>
            <a:r>
              <a:rPr lang="pt-BR" dirty="0" err="1"/>
              <a:t>nome_aluno</a:t>
            </a:r>
            <a:r>
              <a:rPr lang="pt-BR" dirty="0"/>
              <a:t>, </a:t>
            </a:r>
            <a:r>
              <a:rPr lang="pt-BR" dirty="0" err="1"/>
              <a:t>id_disciplina</a:t>
            </a:r>
            <a:r>
              <a:rPr lang="pt-BR" dirty="0"/>
              <a:t>, </a:t>
            </a:r>
            <a:r>
              <a:rPr lang="pt-BR" dirty="0" err="1"/>
              <a:t>nome_disciplina</a:t>
            </a:r>
            <a:r>
              <a:rPr lang="pt-BR" dirty="0"/>
              <a:t>, </a:t>
            </a:r>
            <a:r>
              <a:rPr lang="pt-BR" dirty="0" err="1"/>
              <a:t>id_prof</a:t>
            </a:r>
            <a:r>
              <a:rPr lang="pt-BR" dirty="0"/>
              <a:t>, </a:t>
            </a:r>
            <a:r>
              <a:rPr lang="pt-BR" dirty="0" err="1"/>
              <a:t>nome_prof</a:t>
            </a:r>
            <a:r>
              <a:rPr lang="pt-BR" dirty="0"/>
              <a:t>, semestre, nota)</a:t>
            </a:r>
          </a:p>
          <a:p>
            <a:endParaRPr lang="pt-BR" dirty="0"/>
          </a:p>
          <a:p>
            <a:r>
              <a:rPr lang="pt-BR" dirty="0"/>
              <a:t>Exercício Extra 8</a:t>
            </a:r>
          </a:p>
          <a:p>
            <a:r>
              <a:rPr lang="pt-BR" dirty="0"/>
              <a:t>Tabela Hotel: (</a:t>
            </a:r>
            <a:r>
              <a:rPr lang="pt-BR" dirty="0" err="1"/>
              <a:t>id_reserva</a:t>
            </a:r>
            <a:r>
              <a:rPr lang="pt-BR" dirty="0"/>
              <a:t>, </a:t>
            </a:r>
            <a:r>
              <a:rPr lang="pt-BR" dirty="0" err="1"/>
              <a:t>data_entrada</a:t>
            </a:r>
            <a:r>
              <a:rPr lang="pt-BR" dirty="0"/>
              <a:t>, </a:t>
            </a:r>
            <a:r>
              <a:rPr lang="pt-BR" dirty="0" err="1"/>
              <a:t>data_saida</a:t>
            </a:r>
            <a:r>
              <a:rPr lang="pt-BR" dirty="0"/>
              <a:t>, </a:t>
            </a:r>
            <a:r>
              <a:rPr lang="pt-BR" dirty="0" err="1"/>
              <a:t>id_hospede</a:t>
            </a:r>
            <a:r>
              <a:rPr lang="pt-BR" dirty="0"/>
              <a:t>, </a:t>
            </a:r>
            <a:r>
              <a:rPr lang="pt-BR" dirty="0" err="1"/>
              <a:t>nome_hospede</a:t>
            </a:r>
            <a:r>
              <a:rPr lang="pt-BR" dirty="0"/>
              <a:t>, telefone, </a:t>
            </a:r>
            <a:r>
              <a:rPr lang="pt-BR" dirty="0" err="1"/>
              <a:t>id_quarto</a:t>
            </a:r>
            <a:r>
              <a:rPr lang="pt-BR" dirty="0"/>
              <a:t>, </a:t>
            </a:r>
            <a:r>
              <a:rPr lang="pt-BR" dirty="0" err="1"/>
              <a:t>tipo_quarto</a:t>
            </a:r>
            <a:r>
              <a:rPr lang="pt-BR" dirty="0"/>
              <a:t>, </a:t>
            </a:r>
            <a:r>
              <a:rPr lang="pt-BR" dirty="0" err="1"/>
              <a:t>valor_diaria</a:t>
            </a:r>
            <a:r>
              <a:rPr lang="pt-B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5976191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C9DE99-F4B6-9405-A78F-0CC22E004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Extras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2F6950D-1746-F92A-B056-2215154E29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Exercício Extra 9</a:t>
            </a:r>
          </a:p>
          <a:p>
            <a:r>
              <a:rPr lang="pt-BR" dirty="0"/>
              <a:t>Tabela Transportadora: (</a:t>
            </a:r>
            <a:r>
              <a:rPr lang="pt-BR" dirty="0" err="1"/>
              <a:t>id_viagem</a:t>
            </a:r>
            <a:r>
              <a:rPr lang="pt-BR" dirty="0"/>
              <a:t>, origem, destino, </a:t>
            </a:r>
            <a:r>
              <a:rPr lang="pt-BR" dirty="0" err="1"/>
              <a:t>id_motorista</a:t>
            </a:r>
            <a:r>
              <a:rPr lang="pt-BR" dirty="0"/>
              <a:t>, </a:t>
            </a:r>
            <a:r>
              <a:rPr lang="pt-BR" dirty="0" err="1"/>
              <a:t>nome_motorista</a:t>
            </a:r>
            <a:r>
              <a:rPr lang="pt-BR" dirty="0"/>
              <a:t>, </a:t>
            </a:r>
            <a:r>
              <a:rPr lang="pt-BR" dirty="0" err="1"/>
              <a:t>cnh</a:t>
            </a:r>
            <a:r>
              <a:rPr lang="pt-BR" dirty="0"/>
              <a:t>, </a:t>
            </a:r>
            <a:r>
              <a:rPr lang="pt-BR" dirty="0" err="1"/>
              <a:t>id_caminhao</a:t>
            </a:r>
            <a:r>
              <a:rPr lang="pt-BR" dirty="0"/>
              <a:t>, placa, modelo, </a:t>
            </a:r>
            <a:r>
              <a:rPr lang="pt-BR" dirty="0" err="1"/>
              <a:t>peso_carga</a:t>
            </a:r>
            <a:r>
              <a:rPr lang="pt-BR" dirty="0"/>
              <a:t>)</a:t>
            </a:r>
          </a:p>
          <a:p>
            <a:endParaRPr lang="pt-BR" dirty="0"/>
          </a:p>
          <a:p>
            <a:r>
              <a:rPr lang="pt-BR" dirty="0"/>
              <a:t>Exercício Extra 10</a:t>
            </a:r>
          </a:p>
          <a:p>
            <a:r>
              <a:rPr lang="pt-BR" dirty="0"/>
              <a:t>Tabela Cinema: (</a:t>
            </a:r>
            <a:r>
              <a:rPr lang="pt-BR" dirty="0" err="1"/>
              <a:t>id_sessao</a:t>
            </a:r>
            <a:r>
              <a:rPr lang="pt-BR" dirty="0"/>
              <a:t>, </a:t>
            </a:r>
            <a:r>
              <a:rPr lang="pt-BR" dirty="0" err="1"/>
              <a:t>data_hora</a:t>
            </a:r>
            <a:r>
              <a:rPr lang="pt-BR" dirty="0"/>
              <a:t>, </a:t>
            </a:r>
            <a:r>
              <a:rPr lang="pt-BR" dirty="0" err="1"/>
              <a:t>id_filme</a:t>
            </a:r>
            <a:r>
              <a:rPr lang="pt-BR" dirty="0"/>
              <a:t>, titulo, </a:t>
            </a:r>
            <a:r>
              <a:rPr lang="pt-BR" dirty="0" err="1"/>
              <a:t>duracao</a:t>
            </a:r>
            <a:r>
              <a:rPr lang="pt-BR" dirty="0"/>
              <a:t>, </a:t>
            </a:r>
            <a:r>
              <a:rPr lang="pt-BR" dirty="0" err="1"/>
              <a:t>genero</a:t>
            </a:r>
            <a:r>
              <a:rPr lang="pt-BR" dirty="0"/>
              <a:t>, </a:t>
            </a:r>
            <a:r>
              <a:rPr lang="pt-BR" dirty="0" err="1"/>
              <a:t>id_sala</a:t>
            </a:r>
            <a:r>
              <a:rPr lang="pt-BR" dirty="0"/>
              <a:t>, </a:t>
            </a:r>
            <a:r>
              <a:rPr lang="pt-BR" dirty="0" err="1"/>
              <a:t>nome_sala</a:t>
            </a:r>
            <a:r>
              <a:rPr lang="pt-BR" dirty="0"/>
              <a:t>, capacidade, </a:t>
            </a:r>
            <a:r>
              <a:rPr lang="pt-BR" dirty="0" err="1"/>
              <a:t>id_ingresso</a:t>
            </a:r>
            <a:r>
              <a:rPr lang="pt-BR" dirty="0"/>
              <a:t>, </a:t>
            </a:r>
            <a:r>
              <a:rPr lang="pt-BR" dirty="0" err="1"/>
              <a:t>tipo_ingresso</a:t>
            </a:r>
            <a:r>
              <a:rPr lang="pt-BR" dirty="0"/>
              <a:t>, valor)</a:t>
            </a:r>
          </a:p>
        </p:txBody>
      </p:sp>
    </p:spTree>
    <p:extLst>
      <p:ext uri="{BB962C8B-B14F-4D97-AF65-F5344CB8AC3E}">
        <p14:creationId xmlns:p14="http://schemas.microsoft.com/office/powerpoint/2010/main" val="212243602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6FB98B-0084-0AB0-00D6-5C5CF39D9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A1D658-112D-7F7B-86E4-329619549C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04493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42623D-AC6D-9912-68A3-AC337C117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076CB3-7D12-6891-F98F-FDA47B8D4F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550215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F6D915-9DAD-1B3C-B331-FC9A8ADBD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91668B-4681-F3AD-9135-50E6891CD7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134777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46998B-AE3A-879D-3756-6406FF312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44D1AB-744A-9DE2-D9B9-222F05DDC1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724486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E4E30C-0152-EE96-B94E-244020EBD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3C2FE8-E55A-DCA8-1775-5FC410BE0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107381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F28D0A-98C2-41D1-2F95-306BB8590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33622B-5FB7-E970-5C43-7365A145B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574262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577613-752B-2C41-D47F-30CC1DE5B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0E79627-E7A6-D523-C559-A8B221A49C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401640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0E8C73-535E-AE1A-EE9F-B4B871D9A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3F0F022-E3B8-1408-193C-E829D98B13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691099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08AC95-DC78-CFC1-482E-269EE3BC2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83A5E12-F2DF-A093-28F0-4C50F49B5A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41642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281145-6E51-E4ED-BCDA-0FE359DE9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93C445-CAB9-EA57-EA24-01F3F76E4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329772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4B2ECA-A73A-095A-DFD7-41C6A0F2B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808D5B7-2B6C-38A0-13FA-FCD2F82C73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728086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F6B908-E9B7-CAAC-39FF-D71A1A5E9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33C18D7-5ABB-6A6B-2E38-1E24111CC0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727017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A7105B-181E-0272-3AD0-39B9FB4DC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73612B-D33C-6046-CB3B-BF3D24147B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016360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</TotalTime>
  <Words>4362</Words>
  <Application>Microsoft Office PowerPoint</Application>
  <PresentationFormat>Widescreen</PresentationFormat>
  <Paragraphs>521</Paragraphs>
  <Slides>61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61</vt:i4>
      </vt:variant>
    </vt:vector>
  </HeadingPairs>
  <TitlesOfParts>
    <vt:vector size="67" baseType="lpstr">
      <vt:lpstr>Aptos</vt:lpstr>
      <vt:lpstr>Aptos Display</vt:lpstr>
      <vt:lpstr>Arial</vt:lpstr>
      <vt:lpstr>Calibri</vt:lpstr>
      <vt:lpstr>Times New Roman</vt:lpstr>
      <vt:lpstr>Tema do Office</vt:lpstr>
      <vt:lpstr>Normalização de dados</vt:lpstr>
      <vt:lpstr>Introdução</vt:lpstr>
      <vt:lpstr>Introdução</vt:lpstr>
      <vt:lpstr>O QUE É NORMALIZAÇÃO?</vt:lpstr>
      <vt:lpstr>O QUE É NORMALIZAÇÃO?</vt:lpstr>
      <vt:lpstr>Funções da normalização</vt:lpstr>
      <vt:lpstr>Para atingir o que?</vt:lpstr>
      <vt:lpstr>PRIMEIRA FORMA NORMAL (1FN)</vt:lpstr>
      <vt:lpstr>PRIMEIRA FORMA NORMAL (1FN)</vt:lpstr>
      <vt:lpstr>Relação Paciente(atributos compostos)</vt:lpstr>
      <vt:lpstr>Matricula aluno(atributos multivalorados)</vt:lpstr>
      <vt:lpstr>Deixando a tabela paciente na FN1/ atributos compostos</vt:lpstr>
      <vt:lpstr>Deixando a tabela Paciente / atributos multivalorados/ FN1</vt:lpstr>
      <vt:lpstr>Segunda forma normal 2FN</vt:lpstr>
      <vt:lpstr>Exemplo</vt:lpstr>
      <vt:lpstr>Relação Alocação</vt:lpstr>
      <vt:lpstr>Corrigindo o problema...................</vt:lpstr>
      <vt:lpstr>Corrigindo o problema...................</vt:lpstr>
      <vt:lpstr>Resolvendo visualmente/Empregado/Projeto/Alocação</vt:lpstr>
      <vt:lpstr>TERCEIRA FORMA NORMAL</vt:lpstr>
      <vt:lpstr>TERCEIRA FORMA NORMAL</vt:lpstr>
      <vt:lpstr>Outo exemplo.</vt:lpstr>
      <vt:lpstr>Relação Funcionário</vt:lpstr>
      <vt:lpstr>Resolvendo o problema</vt:lpstr>
      <vt:lpstr>QUARTA FORMA NORMAL</vt:lpstr>
      <vt:lpstr>Melhorando no visual........................</vt:lpstr>
      <vt:lpstr>Relação Alocação_Professor</vt:lpstr>
      <vt:lpstr>Obs........................</vt:lpstr>
      <vt:lpstr>Obs........................</vt:lpstr>
      <vt:lpstr>Obs........................</vt:lpstr>
      <vt:lpstr>Resolvendo a situação</vt:lpstr>
      <vt:lpstr>Ficando assim</vt:lpstr>
      <vt:lpstr>QUINTA FORMA NORMAL</vt:lpstr>
      <vt:lpstr>ROTEIRO PARA A NORMALIZAÇÃO</vt:lpstr>
      <vt:lpstr>Exercícios</vt:lpstr>
      <vt:lpstr>Exercícios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Extras</vt:lpstr>
      <vt:lpstr>Extras</vt:lpstr>
      <vt:lpstr>Extras</vt:lpstr>
      <vt:lpstr>Extras</vt:lpstr>
      <vt:lpstr>Extras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Normalização de dados</dc:title>
  <dc:creator>edidio lima</dc:creator>
  <cp:lastModifiedBy>Edídio Lima</cp:lastModifiedBy>
  <cp:revision>42</cp:revision>
  <dcterms:created xsi:type="dcterms:W3CDTF">2024-03-19T19:17:21Z</dcterms:created>
  <dcterms:modified xsi:type="dcterms:W3CDTF">2026-09-22T19:27:07Z</dcterms:modified>
</cp:coreProperties>
</file>