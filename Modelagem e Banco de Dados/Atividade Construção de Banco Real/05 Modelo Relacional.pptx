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2" r:id="rId8"/>
    <p:sldId id="261" r:id="rId9"/>
    <p:sldId id="263" r:id="rId10"/>
    <p:sldId id="264" r:id="rId11"/>
    <p:sldId id="265" r:id="rId12"/>
    <p:sldId id="266" r:id="rId13"/>
    <p:sldId id="267" r:id="rId14"/>
    <p:sldId id="286" r:id="rId15"/>
    <p:sldId id="268" r:id="rId16"/>
    <p:sldId id="287" r:id="rId17"/>
    <p:sldId id="269" r:id="rId18"/>
    <p:sldId id="276" r:id="rId19"/>
    <p:sldId id="277" r:id="rId20"/>
    <p:sldId id="278" r:id="rId21"/>
    <p:sldId id="271" r:id="rId22"/>
    <p:sldId id="272" r:id="rId23"/>
    <p:sldId id="273" r:id="rId24"/>
    <p:sldId id="284" r:id="rId25"/>
    <p:sldId id="274" r:id="rId26"/>
    <p:sldId id="275" r:id="rId27"/>
    <p:sldId id="279" r:id="rId28"/>
    <p:sldId id="282" r:id="rId29"/>
    <p:sldId id="283" r:id="rId30"/>
    <p:sldId id="288" r:id="rId31"/>
    <p:sldId id="289" r:id="rId32"/>
    <p:sldId id="290" r:id="rId33"/>
    <p:sldId id="291" r:id="rId34"/>
    <p:sldId id="292" r:id="rId35"/>
  </p:sldIdLst>
  <p:sldSz cx="12192000" cy="6858000"/>
  <p:notesSz cx="7559675" cy="106918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660"/>
  </p:normalViewPr>
  <p:slideViewPr>
    <p:cSldViewPr snapToGrid="0">
      <p:cViewPr varScale="1">
        <p:scale>
          <a:sx n="67" d="100"/>
          <a:sy n="67" d="100"/>
        </p:scale>
        <p:origin x="82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B12C000B-B78D-44F6-8EB8-A4BD1F7549F8}"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pt-BR"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AF0674C2-EC00-4395-B20F-D5494B47A159}"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056B9317-00EA-4B78-9A27-8016F585E549}"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CFF6077-E6BD-470A-A345-FA0493444624}"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63B331A1-A67D-4B44-B1FB-C017387558CE}"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pt-BR"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CE29356-9A83-4DD3-83C5-15EB4ECAA862}"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84921710-3BD0-4434-8B5D-472C08AACEAE}"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C76CC5E1-4CA7-4691-92DF-3CB074C61992}"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C569FB7-F93E-426B-95C7-56C6B140A2D8}"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A3A4531C-073B-4CD7-A344-013A6B88FB67}"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011604BA-C334-451E-A6F0-FD8A8182AED7}"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D388F13A-46D3-49C7-8501-38C589E36082}"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F29FD264-01DF-4349-8842-E206277DA56E}"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pt-BR"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2C3B2581-F46F-489B-9EBD-0A26421DBA3D}"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D0AC8891-7241-4D21-BBF5-86C6D0F877B0}"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813CFC77-6E54-4FAA-973B-5407F856A2E2}"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BA7221C1-4484-4274-B951-C65300122945}"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pt-BR"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F49D63D7-5915-466B-90F8-3EE13E2C3FB2}"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14F47C1-862A-4DB0-996B-477A185092AA}"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11A66A5F-C9AD-40C3-BBE8-9D03E9DB15E0}"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DD382628-4A87-4083-B2C1-3EBC3F14CB90}"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03E71DB7-A8C0-46C4-BC60-83E1805D0235}"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761678F4-43DF-4317-A6D3-6B2F6DF93477}" type="slidenum">
              <a:t>‹nº›</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pt-BR" sz="1800" b="0" strike="noStrike" spc="-1">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pt-BR" sz="28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D8670039-ECB9-419D-B4F5-F57143B4D237}" type="slidenum">
              <a:t>‹nº›</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pt-BR" sz="6000" b="0" strike="noStrike" spc="-1">
                <a:solidFill>
                  <a:srgbClr val="000000"/>
                </a:solidFill>
                <a:latin typeface="Calibri Light"/>
              </a:rPr>
              <a:t>Clique para editar o título Mestre</a:t>
            </a:r>
            <a:endParaRPr lang="pt-BR"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pt-BR" sz="1200" b="0" strike="noStrike" spc="-1">
                <a:solidFill>
                  <a:srgbClr val="8B8B8B"/>
                </a:solidFill>
                <a:latin typeface="Calibri"/>
              </a:defRPr>
            </a:lvl1pPr>
          </a:lstStyle>
          <a:p>
            <a:pPr>
              <a:lnSpc>
                <a:spcPct val="100000"/>
              </a:lnSpc>
              <a:buNone/>
            </a:pPr>
            <a:r>
              <a:rPr lang="pt-BR" sz="1200" b="0" strike="noStrike" spc="-1">
                <a:solidFill>
                  <a:srgbClr val="8B8B8B"/>
                </a:solidFill>
                <a:latin typeface="Calibri"/>
              </a:rPr>
              <a:t>&lt;data/hora&gt;</a:t>
            </a:r>
            <a:endParaRPr lang="pt-BR" sz="1200" b="0" strike="noStrike" spc="-1">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pt-BR" sz="1400" b="0" strike="noStrike" spc="-1">
                <a:latin typeface="Times New Roman"/>
              </a:defRPr>
            </a:lvl1pPr>
          </a:lstStyle>
          <a:p>
            <a:pPr algn="ctr">
              <a:buNone/>
            </a:pPr>
            <a:r>
              <a:rPr lang="pt-BR" sz="1400" b="0" strike="noStrike" spc="-1">
                <a:latin typeface="Times New Roman"/>
              </a:rPr>
              <a:t>&lt;rodapé&gt;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pt-BR" sz="1200" b="0" strike="noStrike" spc="-1">
                <a:solidFill>
                  <a:srgbClr val="8B8B8B"/>
                </a:solidFill>
                <a:latin typeface="Calibri"/>
              </a:defRPr>
            </a:lvl1pPr>
          </a:lstStyle>
          <a:p>
            <a:pPr algn="r">
              <a:lnSpc>
                <a:spcPct val="100000"/>
              </a:lnSpc>
              <a:buNone/>
            </a:pPr>
            <a:fld id="{20F35B07-6686-492B-9227-40DDAF5185C9}" type="slidenum">
              <a:rPr lang="pt-BR" sz="1200" b="0" strike="noStrike" spc="-1">
                <a:solidFill>
                  <a:srgbClr val="8B8B8B"/>
                </a:solidFill>
                <a:latin typeface="Calibri"/>
              </a:rPr>
              <a:t>‹nº›</a:t>
            </a:fld>
            <a:endParaRPr lang="pt-BR"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strike="noStrike" spc="-1">
                <a:solidFill>
                  <a:srgbClr val="000000"/>
                </a:solidFill>
                <a:latin typeface="Calibri"/>
              </a:rPr>
              <a:t>Clique para editar o formato do texto da estrutura de tópicos</a:t>
            </a:r>
          </a:p>
          <a:p>
            <a:pPr marL="864000" lvl="1" indent="-324000">
              <a:lnSpc>
                <a:spcPct val="90000"/>
              </a:lnSpc>
              <a:spcBef>
                <a:spcPts val="1134"/>
              </a:spcBef>
              <a:buClr>
                <a:srgbClr val="000000"/>
              </a:buClr>
              <a:buSzPct val="75000"/>
              <a:buFont typeface="Symbol" charset="2"/>
              <a:buChar char=""/>
            </a:pPr>
            <a:r>
              <a:rPr lang="pt-BR" sz="2000" b="0" strike="noStrike" spc="-1">
                <a:solidFill>
                  <a:srgbClr val="000000"/>
                </a:solidFill>
                <a:latin typeface="Calibri"/>
              </a:rPr>
              <a:t>2.º nível da estrutura de tópicos</a:t>
            </a:r>
          </a:p>
          <a:p>
            <a:pPr marL="1296000" lvl="2" indent="-288000">
              <a:lnSpc>
                <a:spcPct val="90000"/>
              </a:lnSpc>
              <a:spcBef>
                <a:spcPts val="850"/>
              </a:spcBef>
              <a:buClr>
                <a:srgbClr val="000000"/>
              </a:buClr>
              <a:buSzPct val="45000"/>
              <a:buFont typeface="Wingdings" charset="2"/>
              <a:buChar char=""/>
            </a:pPr>
            <a:r>
              <a:rPr lang="pt-BR" sz="1800" b="0" strike="noStrike" spc="-1">
                <a:solidFill>
                  <a:srgbClr val="000000"/>
                </a:solidFill>
                <a:latin typeface="Calibri"/>
              </a:rPr>
              <a:t>3.º nível da estrutura de tópicos</a:t>
            </a:r>
          </a:p>
          <a:p>
            <a:pPr marL="1728000" lvl="3" indent="-216000">
              <a:lnSpc>
                <a:spcPct val="90000"/>
              </a:lnSpc>
              <a:spcBef>
                <a:spcPts val="567"/>
              </a:spcBef>
              <a:buClr>
                <a:srgbClr val="000000"/>
              </a:buClr>
              <a:buSzPct val="75000"/>
              <a:buFont typeface="Symbol" charset="2"/>
              <a:buChar char=""/>
            </a:pPr>
            <a:r>
              <a:rPr lang="pt-BR" sz="1800" b="0" strike="noStrike" spc="-1">
                <a:solidFill>
                  <a:srgbClr val="000000"/>
                </a:solidFill>
                <a:latin typeface="Calibri"/>
              </a:rPr>
              <a:t>4.º nível da estrutura de tópicos</a:t>
            </a:r>
          </a:p>
          <a:p>
            <a:pPr marL="2160000" lvl="4"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Calibri"/>
              </a:rPr>
              <a:t>5.º nível da estrutura de tópicos</a:t>
            </a:r>
          </a:p>
          <a:p>
            <a:pPr marL="2592000" lvl="5"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Calibri"/>
              </a:rPr>
              <a:t>6.º nível da estrutura de tópicos</a:t>
            </a:r>
          </a:p>
          <a:p>
            <a:pPr marL="3024000" lvl="6"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Calibri"/>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sz="4400" b="0" strike="noStrike" spc="-1">
                <a:solidFill>
                  <a:srgbClr val="000000"/>
                </a:solidFill>
                <a:latin typeface="Calibri Light"/>
              </a:rPr>
              <a:t>Clique para editar o título Mestre</a:t>
            </a:r>
            <a:endParaRPr lang="pt-BR"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pt-BR" sz="2800" b="0" strike="noStrike" spc="-1">
                <a:solidFill>
                  <a:srgbClr val="000000"/>
                </a:solidFill>
                <a:latin typeface="Calibri"/>
              </a:rPr>
              <a:t>Clique para editar os estilos de texto Mestres</a:t>
            </a:r>
          </a:p>
          <a:p>
            <a:pPr marL="685800" lvl="1" indent="-228600">
              <a:lnSpc>
                <a:spcPct val="90000"/>
              </a:lnSpc>
              <a:spcBef>
                <a:spcPts val="499"/>
              </a:spcBef>
              <a:buClr>
                <a:srgbClr val="000000"/>
              </a:buClr>
              <a:buFont typeface="Arial"/>
              <a:buChar char="•"/>
            </a:pPr>
            <a:r>
              <a:rPr lang="pt-BR" sz="2400" b="0" strike="noStrike" spc="-1">
                <a:solidFill>
                  <a:srgbClr val="000000"/>
                </a:solidFill>
                <a:latin typeface="Calibri"/>
              </a:rPr>
              <a:t>Segundo nível</a:t>
            </a:r>
          </a:p>
          <a:p>
            <a:pPr marL="1143000" lvl="2" indent="-228600">
              <a:lnSpc>
                <a:spcPct val="90000"/>
              </a:lnSpc>
              <a:spcBef>
                <a:spcPts val="499"/>
              </a:spcBef>
              <a:buClr>
                <a:srgbClr val="000000"/>
              </a:buClr>
              <a:buFont typeface="Arial"/>
              <a:buChar char="•"/>
            </a:pPr>
            <a:r>
              <a:rPr lang="pt-BR" sz="2000" b="0" strike="noStrike" spc="-1">
                <a:solidFill>
                  <a:srgbClr val="000000"/>
                </a:solidFill>
                <a:latin typeface="Calibri"/>
              </a:rPr>
              <a:t>Terceiro nível</a:t>
            </a:r>
          </a:p>
          <a:p>
            <a:pPr marL="1600200" lvl="3" indent="-228600">
              <a:lnSpc>
                <a:spcPct val="90000"/>
              </a:lnSpc>
              <a:spcBef>
                <a:spcPts val="499"/>
              </a:spcBef>
              <a:buClr>
                <a:srgbClr val="000000"/>
              </a:buClr>
              <a:buFont typeface="Arial"/>
              <a:buChar char="•"/>
            </a:pPr>
            <a:r>
              <a:rPr lang="pt-BR" sz="1800" b="0" strike="noStrike" spc="-1">
                <a:solidFill>
                  <a:srgbClr val="000000"/>
                </a:solidFill>
                <a:latin typeface="Calibri"/>
              </a:rPr>
              <a:t>Quarto nível</a:t>
            </a:r>
          </a:p>
          <a:p>
            <a:pPr marL="2057400" lvl="4" indent="-228600">
              <a:lnSpc>
                <a:spcPct val="90000"/>
              </a:lnSpc>
              <a:spcBef>
                <a:spcPts val="499"/>
              </a:spcBef>
              <a:buClr>
                <a:srgbClr val="000000"/>
              </a:buClr>
              <a:buFont typeface="Arial"/>
              <a:buChar char="•"/>
            </a:pPr>
            <a:r>
              <a:rPr lang="pt-BR" sz="1800" b="0" strike="noStrike" spc="-1">
                <a:solidFill>
                  <a:srgbClr val="000000"/>
                </a:solidFill>
                <a:latin typeface="Calibri"/>
              </a:rPr>
              <a:t>Quinto nível</a:t>
            </a: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lang="pt-BR" sz="1200" b="0" strike="noStrike" spc="-1">
                <a:solidFill>
                  <a:srgbClr val="8B8B8B"/>
                </a:solidFill>
                <a:latin typeface="Calibri"/>
              </a:defRPr>
            </a:lvl1pPr>
          </a:lstStyle>
          <a:p>
            <a:pPr>
              <a:lnSpc>
                <a:spcPct val="100000"/>
              </a:lnSpc>
              <a:buNone/>
            </a:pPr>
            <a:r>
              <a:rPr lang="pt-BR" sz="1200" b="0" strike="noStrike" spc="-1">
                <a:solidFill>
                  <a:srgbClr val="8B8B8B"/>
                </a:solidFill>
                <a:latin typeface="Calibri"/>
              </a:rPr>
              <a:t>&lt;data/hora&gt;</a:t>
            </a:r>
            <a:endParaRPr lang="pt-BR" sz="1200" b="0" strike="noStrike" spc="-1">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lang="pt-BR" sz="1400" b="0" strike="noStrike" spc="-1">
                <a:latin typeface="Times New Roman"/>
              </a:defRPr>
            </a:lvl1pPr>
          </a:lstStyle>
          <a:p>
            <a:pPr algn="ctr">
              <a:buNone/>
            </a:pPr>
            <a:r>
              <a:rPr lang="pt-BR" sz="1400" b="0" strike="noStrike" spc="-1">
                <a:latin typeface="Times New Roman"/>
              </a:rPr>
              <a:t>&lt;rodapé&gt;</a:t>
            </a: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lang="pt-BR" sz="1200" b="0" strike="noStrike" spc="-1">
                <a:solidFill>
                  <a:srgbClr val="8B8B8B"/>
                </a:solidFill>
                <a:latin typeface="Calibri"/>
              </a:defRPr>
            </a:lvl1pPr>
          </a:lstStyle>
          <a:p>
            <a:pPr algn="r">
              <a:lnSpc>
                <a:spcPct val="100000"/>
              </a:lnSpc>
              <a:buNone/>
            </a:pPr>
            <a:fld id="{9B22453A-EF40-4540-A9AA-E5D740BACC8E}" type="slidenum">
              <a:rPr lang="pt-BR" sz="1200" b="0" strike="noStrike" spc="-1">
                <a:solidFill>
                  <a:srgbClr val="8B8B8B"/>
                </a:solidFill>
                <a:latin typeface="Calibri"/>
              </a:rPr>
              <a:t>‹nº›</a:t>
            </a:fld>
            <a:endParaRPr lang="pt-BR"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pt-BR" dirty="0"/>
              <a:t>O Modelo Relacional</a:t>
            </a:r>
          </a:p>
        </p:txBody>
      </p:sp>
      <p:sp>
        <p:nvSpPr>
          <p:cNvPr id="83" name="PlaceHolder 2"/>
          <p:cNvSpPr>
            <a:spLocks noGrp="1"/>
          </p:cNvSpPr>
          <p:nvPr>
            <p:ph type="subTitle"/>
          </p:nvPr>
        </p:nvSpPr>
        <p:spPr>
          <a:xfrm>
            <a:off x="1523880" y="3602160"/>
            <a:ext cx="9143640" cy="1655280"/>
          </a:xfrm>
          <a:prstGeom prst="rect">
            <a:avLst/>
          </a:prstGeom>
          <a:noFill/>
          <a:ln w="0">
            <a:noFill/>
          </a:ln>
        </p:spPr>
        <p:txBody>
          <a:bodyPr anchor="t">
            <a:noAutofit/>
          </a:bodyPr>
          <a:lstStyle/>
          <a:p>
            <a:pPr algn="ctr">
              <a:lnSpc>
                <a:spcPct val="90000"/>
              </a:lnSpc>
              <a:spcBef>
                <a:spcPts val="1001"/>
              </a:spcBef>
              <a:buNone/>
              <a:tabLst>
                <a:tab pos="0" algn="l"/>
              </a:tabLst>
            </a:pPr>
            <a:r>
              <a:rPr lang="pt-BR" dirty="0"/>
              <a:t>Prof. Edídio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sz="4400" b="0" strike="noStrike" spc="-1">
                <a:solidFill>
                  <a:srgbClr val="000000"/>
                </a:solidFill>
                <a:latin typeface="Calibri Light"/>
              </a:rPr>
              <a:t>Introdução</a:t>
            </a:r>
            <a:endParaRPr lang="pt-BR" sz="4400" b="0" strike="noStrike" spc="-1">
              <a:solidFill>
                <a:srgbClr val="000000"/>
              </a:solidFill>
              <a:latin typeface="Calibri"/>
            </a:endParaRPr>
          </a:p>
        </p:txBody>
      </p:sp>
      <p:sp>
        <p:nvSpPr>
          <p:cNvPr id="85" name="PlaceHolder 2"/>
          <p:cNvSpPr>
            <a:spLocks noGrp="1"/>
          </p:cNvSpPr>
          <p:nvPr>
            <p:ph/>
          </p:nvPr>
        </p:nvSpPr>
        <p:spPr>
          <a:xfrm>
            <a:off x="838080" y="1825560"/>
            <a:ext cx="10515240" cy="4350960"/>
          </a:xfrm>
          <a:prstGeom prst="rect">
            <a:avLst/>
          </a:prstGeom>
          <a:noFill/>
          <a:ln w="0">
            <a:noFill/>
          </a:ln>
        </p:spPr>
        <p:txBody>
          <a:bodyPr anchor="t">
            <a:noAutofit/>
          </a:bodyPr>
          <a:lstStyle/>
          <a:p>
            <a:pPr>
              <a:lnSpc>
                <a:spcPct val="90000"/>
              </a:lnSpc>
              <a:spcBef>
                <a:spcPts val="1001"/>
              </a:spcBef>
              <a:buNone/>
            </a:pPr>
            <a:endParaRPr lang="pt-BR"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pt-BR" dirty="0"/>
              <a:t>O modelo relacional tem como objetivos: </a:t>
            </a:r>
          </a:p>
          <a:p>
            <a:pPr marL="228600" indent="-228600">
              <a:lnSpc>
                <a:spcPct val="90000"/>
              </a:lnSpc>
              <a:spcBef>
                <a:spcPts val="1001"/>
              </a:spcBef>
              <a:buClr>
                <a:srgbClr val="000000"/>
              </a:buClr>
              <a:buFont typeface="Arial"/>
              <a:buChar char="•"/>
            </a:pPr>
            <a:r>
              <a:rPr lang="pt-BR" dirty="0"/>
              <a:t>prover esquemas de fácil utilização; </a:t>
            </a:r>
          </a:p>
          <a:p>
            <a:pPr marL="228600" indent="-228600">
              <a:lnSpc>
                <a:spcPct val="90000"/>
              </a:lnSpc>
              <a:spcBef>
                <a:spcPts val="1001"/>
              </a:spcBef>
              <a:buClr>
                <a:srgbClr val="000000"/>
              </a:buClr>
              <a:buFont typeface="Arial"/>
              <a:buChar char="•"/>
            </a:pPr>
            <a:r>
              <a:rPr lang="pt-BR" dirty="0"/>
              <a:t>melhorar a independência lógica e física de dados; </a:t>
            </a:r>
          </a:p>
          <a:p>
            <a:pPr marL="228600" indent="-228600">
              <a:lnSpc>
                <a:spcPct val="90000"/>
              </a:lnSpc>
              <a:spcBef>
                <a:spcPts val="1001"/>
              </a:spcBef>
              <a:buClr>
                <a:srgbClr val="000000"/>
              </a:buClr>
              <a:buFont typeface="Arial"/>
              <a:buChar char="•"/>
            </a:pPr>
            <a:r>
              <a:rPr lang="pt-BR" dirty="0"/>
              <a:t>prover os usuários com linguagens de manipulação de BD de alto nível, </a:t>
            </a:r>
            <a:r>
              <a:rPr lang="pt-BR" b="1" dirty="0">
                <a:solidFill>
                  <a:srgbClr val="FF0000"/>
                </a:solidFill>
              </a:rPr>
              <a:t>permitindo o seu uso por usuários não experientes</a:t>
            </a:r>
            <a:r>
              <a:rPr lang="pt-BR" dirty="0"/>
              <a:t>; otimizar o acesso aos </a:t>
            </a:r>
            <a:r>
              <a:rPr lang="pt-BR" dirty="0" err="1"/>
              <a:t>BDs</a:t>
            </a:r>
            <a:r>
              <a:rPr lang="pt-BR" dirty="0"/>
              <a:t> e melhorar a integridade e segurança dos dados.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232132"/>
            <a:ext cx="10515240" cy="449348"/>
          </a:xfrm>
          <a:prstGeom prst="rect">
            <a:avLst/>
          </a:prstGeom>
          <a:noFill/>
          <a:ln w="0">
            <a:noFill/>
          </a:ln>
        </p:spPr>
        <p:txBody>
          <a:bodyPr anchor="ctr">
            <a:noAutofit/>
          </a:bodyPr>
          <a:lstStyle/>
          <a:p>
            <a:pPr>
              <a:lnSpc>
                <a:spcPct val="90000"/>
              </a:lnSpc>
              <a:buNone/>
            </a:pPr>
            <a:r>
              <a:rPr lang="pt-BR" sz="4400" b="0" strike="noStrike" spc="-1" dirty="0">
                <a:solidFill>
                  <a:srgbClr val="000000"/>
                </a:solidFill>
                <a:latin typeface="Calibri Light"/>
              </a:rPr>
              <a:t>Introdução</a:t>
            </a:r>
            <a:endParaRPr lang="pt-BR" sz="4400" b="0" strike="noStrike" spc="-1" dirty="0">
              <a:solidFill>
                <a:srgbClr val="000000"/>
              </a:solidFill>
              <a:latin typeface="Calibri"/>
            </a:endParaRPr>
          </a:p>
        </p:txBody>
      </p:sp>
      <p:sp>
        <p:nvSpPr>
          <p:cNvPr id="87" name="PlaceHolder 2"/>
          <p:cNvSpPr>
            <a:spLocks noGrp="1"/>
          </p:cNvSpPr>
          <p:nvPr>
            <p:ph/>
          </p:nvPr>
        </p:nvSpPr>
        <p:spPr>
          <a:xfrm>
            <a:off x="838080" y="871538"/>
            <a:ext cx="10373871" cy="5304982"/>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pt-BR" dirty="0"/>
              <a:t>MR representa os dados do BD como </a:t>
            </a:r>
            <a:r>
              <a:rPr lang="pt-BR" b="1" dirty="0">
                <a:solidFill>
                  <a:srgbClr val="FF0000"/>
                </a:solidFill>
              </a:rPr>
              <a:t>relações (tabelas) </a:t>
            </a:r>
            <a:r>
              <a:rPr lang="pt-BR" dirty="0"/>
              <a:t>de nomes únicos. </a:t>
            </a:r>
          </a:p>
          <a:p>
            <a:pPr marL="228600" indent="-228600">
              <a:lnSpc>
                <a:spcPct val="90000"/>
              </a:lnSpc>
              <a:spcBef>
                <a:spcPts val="1001"/>
              </a:spcBef>
              <a:buClr>
                <a:srgbClr val="000000"/>
              </a:buClr>
              <a:buFont typeface="Arial"/>
              <a:buChar char="•"/>
            </a:pPr>
            <a:r>
              <a:rPr lang="pt-BR" dirty="0"/>
              <a:t>O conceito de tabelas está intimamente ligado ao conceito de uma </a:t>
            </a:r>
            <a:r>
              <a:rPr lang="pt-BR" b="1" dirty="0">
                <a:solidFill>
                  <a:srgbClr val="FF0000"/>
                </a:solidFill>
              </a:rPr>
              <a:t>relação matemática </a:t>
            </a:r>
            <a:r>
              <a:rPr lang="pt-BR" dirty="0"/>
              <a:t>de onde se origina o nome deste modelo. </a:t>
            </a:r>
          </a:p>
          <a:p>
            <a:pPr marL="228600" indent="-228600">
              <a:lnSpc>
                <a:spcPct val="90000"/>
              </a:lnSpc>
              <a:spcBef>
                <a:spcPts val="1001"/>
              </a:spcBef>
              <a:buClr>
                <a:srgbClr val="000000"/>
              </a:buClr>
              <a:buFont typeface="Arial"/>
              <a:buChar char="•"/>
            </a:pPr>
            <a:r>
              <a:rPr lang="pt-BR" dirty="0"/>
              <a:t>Vamos apresentar, nos slides a seguir, cada um dos conceitos relevantes dentro do contexto do modelo relacional</a:t>
            </a:r>
            <a:r>
              <a:rPr lang="pt-BR" sz="2800" b="0" strike="noStrike" spc="-1" dirty="0">
                <a:solidFill>
                  <a:srgbClr val="000000"/>
                </a:solidFill>
                <a:latin typeface="Calibri"/>
              </a:rPr>
              <a:t>.</a:t>
            </a:r>
          </a:p>
          <a:p>
            <a:pPr marL="228600" indent="-228600">
              <a:lnSpc>
                <a:spcPct val="90000"/>
              </a:lnSpc>
              <a:spcBef>
                <a:spcPts val="1001"/>
              </a:spcBef>
              <a:buClr>
                <a:srgbClr val="000000"/>
              </a:buClr>
              <a:buFont typeface="Arial"/>
              <a:buChar char="•"/>
            </a:pPr>
            <a:r>
              <a:rPr lang="pt-BR" sz="2800" b="0" i="1" strike="noStrike" spc="-1" dirty="0">
                <a:solidFill>
                  <a:srgbClr val="FF0000"/>
                </a:solidFill>
                <a:latin typeface="Calibri"/>
              </a:rPr>
              <a:t>Uma relação é um vínculo ou uma correspondência. No caso da relação matemática, trata-se da correspondência que existe entre dois conjuntos: a cada elemento do primeiro conjunto corresponde pelo menos um elemento do segundo conjunto</a:t>
            </a:r>
          </a:p>
        </p:txBody>
      </p:sp>
      <p:sp>
        <p:nvSpPr>
          <p:cNvPr id="2" name="Seta: para a Esquerda e para Cima 1">
            <a:extLst>
              <a:ext uri="{FF2B5EF4-FFF2-40B4-BE49-F238E27FC236}">
                <a16:creationId xmlns:a16="http://schemas.microsoft.com/office/drawing/2014/main" id="{D3760C78-02BD-0F8C-0EB9-4D347610FF7D}"/>
              </a:ext>
            </a:extLst>
          </p:cNvPr>
          <p:cNvSpPr/>
          <p:nvPr/>
        </p:nvSpPr>
        <p:spPr>
          <a:xfrm>
            <a:off x="10847575" y="2926080"/>
            <a:ext cx="505745" cy="1745053"/>
          </a:xfrm>
          <a:prstGeom prst="leftUpArrow">
            <a:avLst>
              <a:gd name="adj1" fmla="val 25000"/>
              <a:gd name="adj2" fmla="val 19737"/>
              <a:gd name="adj3" fmla="val 25000"/>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b="1" dirty="0">
              <a:ln w="22225">
                <a:solidFill>
                  <a:schemeClr val="accent2"/>
                </a:solidFill>
                <a:prstDash val="solid"/>
              </a:ln>
              <a:solidFill>
                <a:schemeClr val="accent2">
                  <a:lumMod val="40000"/>
                  <a:lumOff val="60000"/>
                </a:schemeClr>
              </a:solidFill>
            </a:endParaRPr>
          </a:p>
        </p:txBody>
      </p:sp>
      <p:cxnSp>
        <p:nvCxnSpPr>
          <p:cNvPr id="8" name="Conector: Angulado 7">
            <a:extLst>
              <a:ext uri="{FF2B5EF4-FFF2-40B4-BE49-F238E27FC236}">
                <a16:creationId xmlns:a16="http://schemas.microsoft.com/office/drawing/2014/main" id="{71CCA749-D4D7-3FEE-320D-A06E3A31236F}"/>
              </a:ext>
            </a:extLst>
          </p:cNvPr>
          <p:cNvCxnSpPr>
            <a:cxnSpLocks/>
          </p:cNvCxnSpPr>
          <p:nvPr/>
        </p:nvCxnSpPr>
        <p:spPr>
          <a:xfrm>
            <a:off x="3207434" y="2616591"/>
            <a:ext cx="8145886" cy="309489"/>
          </a:xfrm>
          <a:prstGeom prst="bentConnector3">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449348"/>
          </a:xfrm>
          <a:prstGeom prst="rect">
            <a:avLst/>
          </a:prstGeom>
          <a:noFill/>
          <a:ln w="0">
            <a:noFill/>
          </a:ln>
        </p:spPr>
        <p:txBody>
          <a:bodyPr anchor="ctr">
            <a:noAutofit/>
          </a:bodyPr>
          <a:lstStyle/>
          <a:p>
            <a:pPr>
              <a:lnSpc>
                <a:spcPct val="90000"/>
              </a:lnSpc>
              <a:buNone/>
            </a:pPr>
            <a:r>
              <a:rPr lang="pt-BR" sz="4400" b="0" strike="noStrike" spc="-1" dirty="0">
                <a:solidFill>
                  <a:srgbClr val="000000"/>
                </a:solidFill>
                <a:latin typeface="Calibri Light"/>
              </a:rPr>
              <a:t>Introdução</a:t>
            </a:r>
            <a:endParaRPr lang="pt-BR" sz="4400" b="0" strike="noStrike" spc="-1" dirty="0">
              <a:solidFill>
                <a:srgbClr val="000000"/>
              </a:solidFill>
              <a:latin typeface="Calibri"/>
            </a:endParaRPr>
          </a:p>
        </p:txBody>
      </p:sp>
      <p:sp>
        <p:nvSpPr>
          <p:cNvPr id="89" name="PlaceHolder 2"/>
          <p:cNvSpPr>
            <a:spLocks noGrp="1"/>
          </p:cNvSpPr>
          <p:nvPr>
            <p:ph/>
          </p:nvPr>
        </p:nvSpPr>
        <p:spPr>
          <a:xfrm>
            <a:off x="838080" y="1171575"/>
            <a:ext cx="10515240" cy="5004945"/>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pt-BR" dirty="0"/>
              <a:t>Em um ambiente de banco de dados relacional utilizamos alguns conceitos muito importantes para a correta implantação e operação de qualquer sistema de banco dedados. </a:t>
            </a:r>
          </a:p>
          <a:p>
            <a:pPr marL="228600" indent="-228600">
              <a:lnSpc>
                <a:spcPct val="90000"/>
              </a:lnSpc>
              <a:spcBef>
                <a:spcPts val="1001"/>
              </a:spcBef>
              <a:buClr>
                <a:srgbClr val="000000"/>
              </a:buClr>
              <a:buFont typeface="Arial"/>
              <a:buChar char="•"/>
            </a:pPr>
            <a:r>
              <a:rPr lang="pt-BR" dirty="0"/>
              <a:t>Por exemplo, na terminologia do modelo relacional, </a:t>
            </a:r>
            <a:r>
              <a:rPr lang="pt-BR" b="1" dirty="0">
                <a:solidFill>
                  <a:srgbClr val="FF0000"/>
                </a:solidFill>
              </a:rPr>
              <a:t>cada tabela é chamada relação e vai possuir um nome único que a identifica, cada linha da tabela é chamada tupla, cada cabeçalho de coluna é conhecido como atributo(figura seguinte).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 name="Espaço Reservado para Conteúdo 4"/>
          <p:cNvPicPr/>
          <p:nvPr/>
        </p:nvPicPr>
        <p:blipFill>
          <a:blip r:embed="rId2"/>
          <a:stretch/>
        </p:blipFill>
        <p:spPr>
          <a:xfrm>
            <a:off x="1049040" y="712800"/>
            <a:ext cx="10488240" cy="553968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r>
              <a:rPr lang="pt-BR" sz="1800" b="0" strike="noStrike" spc="-1" dirty="0">
                <a:solidFill>
                  <a:srgbClr val="000000"/>
                </a:solidFill>
                <a:latin typeface="Calibri"/>
              </a:rPr>
              <a:t> </a:t>
            </a:r>
            <a:r>
              <a:rPr lang="pt-BR" dirty="0"/>
              <a:t>Veja a tabela abaixo</a:t>
            </a:r>
            <a:endParaRPr lang="pt-BR" sz="4800" b="0" strike="noStrike" spc="-1" dirty="0">
              <a:solidFill>
                <a:srgbClr val="000000"/>
              </a:solidFill>
              <a:latin typeface="Calibri"/>
            </a:endParaRPr>
          </a:p>
        </p:txBody>
      </p:sp>
      <p:sp>
        <p:nvSpPr>
          <p:cNvPr id="94" name="CaixaDeTexto 93"/>
          <p:cNvSpPr txBox="1"/>
          <p:nvPr/>
        </p:nvSpPr>
        <p:spPr>
          <a:xfrm>
            <a:off x="720000" y="1980000"/>
            <a:ext cx="10633320" cy="4040972"/>
          </a:xfrm>
          <a:prstGeom prst="rect">
            <a:avLst/>
          </a:prstGeom>
          <a:noFill/>
          <a:ln w="0">
            <a:noFill/>
          </a:ln>
        </p:spPr>
        <p:txBody>
          <a:bodyPr lIns="90000" tIns="45000" rIns="90000" bIns="45000" anchor="t">
            <a:noAutofit/>
          </a:bodyPr>
          <a:lstStyle/>
          <a:p>
            <a:endParaRPr lang="pt-BR" sz="1800" b="0" strike="noStrike" spc="-1" dirty="0">
              <a:latin typeface="Arial"/>
            </a:endParaRPr>
          </a:p>
        </p:txBody>
      </p:sp>
      <p:graphicFrame>
        <p:nvGraphicFramePr>
          <p:cNvPr id="2" name="Tabela 1">
            <a:extLst>
              <a:ext uri="{FF2B5EF4-FFF2-40B4-BE49-F238E27FC236}">
                <a16:creationId xmlns:a16="http://schemas.microsoft.com/office/drawing/2014/main" id="{BE64A56D-665E-7CBA-B4BC-60BDA92102A0}"/>
              </a:ext>
            </a:extLst>
          </p:cNvPr>
          <p:cNvGraphicFramePr>
            <a:graphicFrameLocks noGrp="1"/>
          </p:cNvGraphicFramePr>
          <p:nvPr>
            <p:extLst>
              <p:ext uri="{D42A27DB-BD31-4B8C-83A1-F6EECF244321}">
                <p14:modId xmlns:p14="http://schemas.microsoft.com/office/powerpoint/2010/main" val="488498129"/>
              </p:ext>
            </p:extLst>
          </p:nvPr>
        </p:nvGraphicFramePr>
        <p:xfrm>
          <a:off x="1976284" y="1980000"/>
          <a:ext cx="7669161" cy="3816115"/>
        </p:xfrm>
        <a:graphic>
          <a:graphicData uri="http://schemas.openxmlformats.org/drawingml/2006/table">
            <a:tbl>
              <a:tblPr firstRow="1" firstCol="1" lastRow="1" lastCol="1" bandRow="1" bandCol="1"/>
              <a:tblGrid>
                <a:gridCol w="2556387">
                  <a:extLst>
                    <a:ext uri="{9D8B030D-6E8A-4147-A177-3AD203B41FA5}">
                      <a16:colId xmlns:a16="http://schemas.microsoft.com/office/drawing/2014/main" val="2156792171"/>
                    </a:ext>
                  </a:extLst>
                </a:gridCol>
                <a:gridCol w="2556387">
                  <a:extLst>
                    <a:ext uri="{9D8B030D-6E8A-4147-A177-3AD203B41FA5}">
                      <a16:colId xmlns:a16="http://schemas.microsoft.com/office/drawing/2014/main" val="2271277689"/>
                    </a:ext>
                  </a:extLst>
                </a:gridCol>
                <a:gridCol w="2556387">
                  <a:extLst>
                    <a:ext uri="{9D8B030D-6E8A-4147-A177-3AD203B41FA5}">
                      <a16:colId xmlns:a16="http://schemas.microsoft.com/office/drawing/2014/main" val="1234377263"/>
                    </a:ext>
                  </a:extLst>
                </a:gridCol>
              </a:tblGrid>
              <a:tr h="763223">
                <a:tc>
                  <a:txBody>
                    <a:bodyPr/>
                    <a:lstStyle/>
                    <a:p>
                      <a:pPr marL="130810" marR="118110" algn="ctr">
                        <a:spcBef>
                          <a:spcPts val="625"/>
                        </a:spcBef>
                        <a:spcAft>
                          <a:spcPts val="0"/>
                        </a:spcAft>
                      </a:pPr>
                      <a:r>
                        <a:rPr lang="pt-PT" sz="24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CPF</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24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Nome</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24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Telefone</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1964721380"/>
                  </a:ext>
                </a:extLst>
              </a:tr>
              <a:tr h="763223">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987675456-98</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Ana</a:t>
                      </a:r>
                      <a:r>
                        <a:rPr lang="pt-PT" sz="2400" spc="-1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Marques</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3245-8976</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517191133"/>
                  </a:ext>
                </a:extLst>
              </a:tr>
              <a:tr h="763223">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765456243-45</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João</a:t>
                      </a:r>
                      <a:r>
                        <a:rPr lang="pt-PT" sz="24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Pontes</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3124-5645</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829098974"/>
                  </a:ext>
                </a:extLst>
              </a:tr>
              <a:tr h="763223">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213415467-89</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Marcos</a:t>
                      </a:r>
                      <a:r>
                        <a:rPr lang="pt-PT" sz="24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Alves</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3456-8923</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4056049287"/>
                  </a:ext>
                </a:extLst>
              </a:tr>
              <a:tr h="763223">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567324980-03</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Tânia</a:t>
                      </a:r>
                      <a:r>
                        <a:rPr lang="pt-PT" sz="2400" spc="-3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Gomes</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3455-9098</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756593380"/>
                  </a:ext>
                </a:extLst>
              </a:tr>
            </a:tbl>
          </a:graphicData>
        </a:graphic>
      </p:graphicFrame>
      <p:sp>
        <p:nvSpPr>
          <p:cNvPr id="3" name="Rectangle 1">
            <a:extLst>
              <a:ext uri="{FF2B5EF4-FFF2-40B4-BE49-F238E27FC236}">
                <a16:creationId xmlns:a16="http://schemas.microsoft.com/office/drawing/2014/main" id="{C5EF1479-0EF6-3572-C2D1-7FEB3D262611}"/>
              </a:ext>
            </a:extLst>
          </p:cNvPr>
          <p:cNvSpPr>
            <a:spLocks noChangeArrowheads="1"/>
          </p:cNvSpPr>
          <p:nvPr/>
        </p:nvSpPr>
        <p:spPr bwMode="auto">
          <a:xfrm>
            <a:off x="4248150" y="32750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421548"/>
            <a:ext cx="10515240" cy="519863"/>
          </a:xfrm>
          <a:prstGeom prst="rect">
            <a:avLst/>
          </a:prstGeom>
          <a:noFill/>
          <a:ln w="0">
            <a:noFill/>
          </a:ln>
        </p:spPr>
        <p:txBody>
          <a:bodyPr anchor="ctr">
            <a:noAutofit/>
          </a:bodyPr>
          <a:lstStyle/>
          <a:p>
            <a:pPr>
              <a:lnSpc>
                <a:spcPct val="90000"/>
              </a:lnSpc>
              <a:buNone/>
            </a:pPr>
            <a:r>
              <a:rPr lang="pt-BR" sz="4400" b="0" strike="noStrike" spc="-1" dirty="0">
                <a:solidFill>
                  <a:srgbClr val="000000"/>
                </a:solidFill>
                <a:latin typeface="Calibri Light"/>
              </a:rPr>
              <a:t>Tabela ou Relação</a:t>
            </a:r>
            <a:endParaRPr lang="pt-BR" sz="4400" b="0" strike="noStrike" spc="-1" dirty="0">
              <a:solidFill>
                <a:srgbClr val="000000"/>
              </a:solidFill>
              <a:latin typeface="Calibri"/>
            </a:endParaRPr>
          </a:p>
        </p:txBody>
      </p:sp>
      <p:sp>
        <p:nvSpPr>
          <p:cNvPr id="92" name="PlaceHolder 2"/>
          <p:cNvSpPr>
            <a:spLocks noGrp="1"/>
          </p:cNvSpPr>
          <p:nvPr>
            <p:ph/>
          </p:nvPr>
        </p:nvSpPr>
        <p:spPr>
          <a:xfrm>
            <a:off x="838080" y="1342103"/>
            <a:ext cx="10515240" cy="4834417"/>
          </a:xfrm>
          <a:prstGeom prst="rect">
            <a:avLst/>
          </a:prstGeom>
          <a:noFill/>
          <a:ln w="0">
            <a:noFill/>
          </a:ln>
        </p:spPr>
        <p:txBody>
          <a:bodyPr anchor="t">
            <a:normAutofit fontScale="67000" lnSpcReduction="20000"/>
          </a:bodyPr>
          <a:lstStyle/>
          <a:p>
            <a:pPr marL="228600" indent="-228600">
              <a:lnSpc>
                <a:spcPct val="90000"/>
              </a:lnSpc>
              <a:spcBef>
                <a:spcPts val="1001"/>
              </a:spcBef>
              <a:buClr>
                <a:srgbClr val="000000"/>
              </a:buClr>
              <a:buFont typeface="Arial"/>
              <a:buChar char="•"/>
            </a:pPr>
            <a:endParaRPr lang="pt-BR" dirty="0"/>
          </a:p>
          <a:p>
            <a:pPr marL="228600" indent="-228600">
              <a:lnSpc>
                <a:spcPct val="90000"/>
              </a:lnSpc>
              <a:spcBef>
                <a:spcPts val="1001"/>
              </a:spcBef>
              <a:buClr>
                <a:srgbClr val="000000"/>
              </a:buClr>
              <a:buFont typeface="Arial"/>
              <a:buChar char="•"/>
            </a:pPr>
            <a:r>
              <a:rPr lang="pt-BR" dirty="0"/>
              <a:t>No modelo relacional, a estrutura que armazena os dados referentes a cada uma das ocorrências de uma entidade ou relacionamento com atributos do MER é chamada de tabela ou relação.</a:t>
            </a:r>
          </a:p>
          <a:p>
            <a:pPr marL="228600" indent="-228600">
              <a:lnSpc>
                <a:spcPct val="90000"/>
              </a:lnSpc>
              <a:spcBef>
                <a:spcPts val="1001"/>
              </a:spcBef>
              <a:buClr>
                <a:srgbClr val="000000"/>
              </a:buClr>
              <a:buFont typeface="Arial"/>
              <a:buChar char="•"/>
            </a:pPr>
            <a:r>
              <a:rPr lang="pt-BR" dirty="0"/>
              <a:t>Uma tabela é uma representação </a:t>
            </a:r>
            <a:r>
              <a:rPr lang="pt-BR" b="1" dirty="0" err="1">
                <a:solidFill>
                  <a:srgbClr val="FF0000"/>
                </a:solidFill>
              </a:rPr>
              <a:t>bi-dimensional</a:t>
            </a:r>
            <a:r>
              <a:rPr lang="pt-BR" dirty="0"/>
              <a:t> de dados composta de linhas e colunas. </a:t>
            </a:r>
          </a:p>
          <a:p>
            <a:pPr marL="228600" indent="-228600">
              <a:lnSpc>
                <a:spcPct val="90000"/>
              </a:lnSpc>
              <a:spcBef>
                <a:spcPts val="1001"/>
              </a:spcBef>
              <a:buClr>
                <a:srgbClr val="000000"/>
              </a:buClr>
              <a:buFont typeface="Arial"/>
              <a:buChar char="•"/>
            </a:pPr>
            <a:r>
              <a:rPr lang="pt-BR" dirty="0"/>
              <a:t>Por exemplo, a tabela de empregados de uma empresa onde A palavra relação é utilizada no sentido de lista ou rol de informações e não no sentido de associação ou relacionamento. </a:t>
            </a:r>
          </a:p>
          <a:p>
            <a:pPr marL="228600" indent="-228600">
              <a:lnSpc>
                <a:spcPct val="90000"/>
              </a:lnSpc>
              <a:spcBef>
                <a:spcPts val="1001"/>
              </a:spcBef>
              <a:buClr>
                <a:srgbClr val="000000"/>
              </a:buClr>
              <a:buFont typeface="Arial"/>
              <a:buChar char="•"/>
            </a:pPr>
            <a:r>
              <a:rPr lang="pt-BR" dirty="0"/>
              <a:t>Poderiam ser armazenados dados como o CPF, o nome e o telefone de cada empregado.</a:t>
            </a:r>
          </a:p>
          <a:p>
            <a:pPr marL="228600" indent="-228600">
              <a:lnSpc>
                <a:spcPct val="90000"/>
              </a:lnSpc>
              <a:spcBef>
                <a:spcPts val="1001"/>
              </a:spcBef>
              <a:buClr>
                <a:srgbClr val="000000"/>
              </a:buClr>
              <a:buFont typeface="Arial"/>
              <a:buChar char="•"/>
            </a:pPr>
            <a:r>
              <a:rPr lang="pt-BR" dirty="0"/>
              <a:t>A tabela como um todo representaria os empregados da empresa. </a:t>
            </a:r>
          </a:p>
          <a:p>
            <a:pPr marL="228600" indent="-228600">
              <a:lnSpc>
                <a:spcPct val="90000"/>
              </a:lnSpc>
              <a:spcBef>
                <a:spcPts val="1001"/>
              </a:spcBef>
              <a:buClr>
                <a:srgbClr val="000000"/>
              </a:buClr>
              <a:buFont typeface="Arial"/>
              <a:buChar char="•"/>
            </a:pPr>
            <a:r>
              <a:rPr lang="pt-BR" dirty="0"/>
              <a:t>Cada coluna representaria um atributo (</a:t>
            </a:r>
            <a:r>
              <a:rPr lang="pt-BR" dirty="0" err="1"/>
              <a:t>ex</a:t>
            </a:r>
            <a:r>
              <a:rPr lang="pt-BR" dirty="0"/>
              <a:t>: a primeira coluna da Tabela anterior é o CPF ). </a:t>
            </a:r>
          </a:p>
          <a:p>
            <a:pPr marL="228600" indent="-228600">
              <a:lnSpc>
                <a:spcPct val="90000"/>
              </a:lnSpc>
              <a:spcBef>
                <a:spcPts val="1001"/>
              </a:spcBef>
              <a:buClr>
                <a:srgbClr val="000000"/>
              </a:buClr>
              <a:buFont typeface="Arial"/>
              <a:buChar char="•"/>
            </a:pPr>
            <a:r>
              <a:rPr lang="pt-BR" dirty="0"/>
              <a:t>E cada linha da tabela representa os dados de um empregado.</a:t>
            </a:r>
          </a:p>
          <a:p>
            <a:pPr marL="228600" indent="-228600">
              <a:lnSpc>
                <a:spcPct val="90000"/>
              </a:lnSpc>
              <a:spcBef>
                <a:spcPts val="1001"/>
              </a:spcBef>
              <a:buClr>
                <a:srgbClr val="000000"/>
              </a:buClr>
              <a:buFont typeface="Arial"/>
              <a:buChar char="•"/>
            </a:pPr>
            <a:r>
              <a:rPr lang="pt-BR" dirty="0"/>
              <a:t>Por exemplo, a primeira linha da Tabela  </a:t>
            </a:r>
            <a:r>
              <a:rPr lang="pt-BR" dirty="0" err="1"/>
              <a:t>segunte</a:t>
            </a:r>
            <a:r>
              <a:rPr lang="pt-BR" dirty="0"/>
              <a:t> se refere à empregada de CPF número 987675456-98, de nome Ana Marques e cujo telefone é 3245-8976.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PlaceHolder 1"/>
          <p:cNvSpPr>
            <a:spLocks noGrp="1"/>
          </p:cNvSpPr>
          <p:nvPr>
            <p:ph type="title"/>
          </p:nvPr>
        </p:nvSpPr>
        <p:spPr>
          <a:xfrm>
            <a:off x="556532" y="643467"/>
            <a:ext cx="11210925" cy="744836"/>
          </a:xfrm>
          <a:prstGeom prst="rect">
            <a:avLst/>
          </a:prstGeom>
        </p:spPr>
        <p:txBody>
          <a:bodyPr vert="horz" lIns="91440" tIns="45720" rIns="91440" bIns="45720" rtlCol="0" anchor="ctr">
            <a:normAutofit/>
          </a:bodyPr>
          <a:lstStyle/>
          <a:p>
            <a:pPr algn="ctr"/>
            <a:r>
              <a:rPr lang="en-US" sz="3200" b="0" strike="noStrike" kern="1200" spc="-1">
                <a:solidFill>
                  <a:schemeClr val="bg1"/>
                </a:solidFill>
                <a:latin typeface="+mj-lt"/>
                <a:ea typeface="+mj-ea"/>
                <a:cs typeface="+mj-cs"/>
              </a:rPr>
              <a:t>Linha (Tupla)</a:t>
            </a:r>
          </a:p>
        </p:txBody>
      </p:sp>
      <p:pic>
        <p:nvPicPr>
          <p:cNvPr id="2" name="Espaço Reservado para Conteúdo 1">
            <a:extLst>
              <a:ext uri="{FF2B5EF4-FFF2-40B4-BE49-F238E27FC236}">
                <a16:creationId xmlns:a16="http://schemas.microsoft.com/office/drawing/2014/main" id="{DA890FE1-0AB2-6A97-6F0A-99190278124C}"/>
              </a:ext>
            </a:extLst>
          </p:cNvPr>
          <p:cNvPicPr>
            <a:picLocks noGrp="1" noChangeAspect="1"/>
          </p:cNvPicPr>
          <p:nvPr>
            <p:ph/>
          </p:nvPr>
        </p:nvPicPr>
        <p:blipFill>
          <a:blip r:embed="rId2"/>
          <a:stretch>
            <a:fillRect/>
          </a:stretch>
        </p:blipFill>
        <p:spPr>
          <a:xfrm>
            <a:off x="833486" y="1675227"/>
            <a:ext cx="10525028" cy="43941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351692" y="365040"/>
            <a:ext cx="11001628" cy="1325160"/>
          </a:xfrm>
          <a:prstGeom prst="rect">
            <a:avLst/>
          </a:prstGeom>
          <a:noFill/>
          <a:ln w="0">
            <a:noFill/>
          </a:ln>
        </p:spPr>
        <p:txBody>
          <a:bodyPr anchor="ctr">
            <a:noAutofit/>
          </a:bodyPr>
          <a:lstStyle/>
          <a:p>
            <a:pPr>
              <a:lnSpc>
                <a:spcPct val="90000"/>
              </a:lnSpc>
              <a:buNone/>
            </a:pPr>
            <a:r>
              <a:rPr lang="pt-BR" dirty="0"/>
              <a:t>Coluna (Atributo</a:t>
            </a:r>
            <a:r>
              <a:rPr lang="pt-BR" sz="4400" b="0" strike="noStrike" spc="-1" dirty="0">
                <a:solidFill>
                  <a:srgbClr val="000000"/>
                </a:solidFill>
                <a:latin typeface="Calibri Light"/>
              </a:rPr>
              <a:t>)</a:t>
            </a:r>
            <a:endParaRPr lang="pt-BR" sz="4400" b="0" strike="noStrike" spc="-1" dirty="0">
              <a:solidFill>
                <a:srgbClr val="000000"/>
              </a:solidFill>
              <a:latin typeface="Calibri"/>
            </a:endParaRPr>
          </a:p>
        </p:txBody>
      </p:sp>
      <p:sp>
        <p:nvSpPr>
          <p:cNvPr id="98" name="PlaceHolder 2"/>
          <p:cNvSpPr>
            <a:spLocks noGrp="1"/>
          </p:cNvSpPr>
          <p:nvPr>
            <p:ph/>
          </p:nvPr>
        </p:nvSpPr>
        <p:spPr>
          <a:xfrm>
            <a:off x="838080" y="1825560"/>
            <a:ext cx="10515240" cy="4350960"/>
          </a:xfrm>
          <a:prstGeom prst="rect">
            <a:avLst/>
          </a:prstGeom>
          <a:noFill/>
          <a:ln w="0">
            <a:noFill/>
          </a:ln>
        </p:spPr>
        <p:txBody>
          <a:bodyPr anchor="t">
            <a:noAutofit/>
          </a:bodyPr>
          <a:lstStyle/>
          <a:p>
            <a:pPr>
              <a:lnSpc>
                <a:spcPct val="90000"/>
              </a:lnSpc>
              <a:spcBef>
                <a:spcPts val="1417"/>
              </a:spcBef>
              <a:buNone/>
            </a:pPr>
            <a:endParaRPr lang="pt-BR" sz="2800" b="0" strike="noStrike" spc="-1" dirty="0">
              <a:solidFill>
                <a:srgbClr val="000000"/>
              </a:solidFill>
              <a:latin typeface="Calibri"/>
            </a:endParaRPr>
          </a:p>
          <a:p>
            <a:pPr>
              <a:lnSpc>
                <a:spcPct val="90000"/>
              </a:lnSpc>
              <a:spcBef>
                <a:spcPts val="1417"/>
              </a:spcBef>
              <a:buNone/>
            </a:pPr>
            <a:r>
              <a:rPr lang="pt-BR" dirty="0"/>
              <a:t>Toda coluna de uma tabela deve </a:t>
            </a:r>
            <a:r>
              <a:rPr lang="pt-BR" b="1" dirty="0">
                <a:solidFill>
                  <a:srgbClr val="FF0000"/>
                </a:solidFill>
              </a:rPr>
              <a:t>possuir um nome </a:t>
            </a:r>
            <a:r>
              <a:rPr lang="pt-BR" dirty="0"/>
              <a:t>pelo qual será referenciada sempre que necessário. </a:t>
            </a:r>
          </a:p>
          <a:p>
            <a:pPr>
              <a:lnSpc>
                <a:spcPct val="90000"/>
              </a:lnSpc>
              <a:spcBef>
                <a:spcPts val="1417"/>
              </a:spcBef>
              <a:buNone/>
            </a:pPr>
            <a:r>
              <a:rPr lang="pt-BR" dirty="0"/>
              <a:t>Na verdade, ao criarmos uma tabela definimos, para cada uma de suas colunas, </a:t>
            </a:r>
            <a:r>
              <a:rPr lang="pt-BR" b="1" dirty="0">
                <a:solidFill>
                  <a:srgbClr val="FF0000"/>
                </a:solidFill>
              </a:rPr>
              <a:t>o seu nome (nome do atributo) e também o seu tipo (numérico, alfabético, data, </a:t>
            </a:r>
            <a:r>
              <a:rPr lang="pt-BR" b="1" dirty="0" err="1">
                <a:solidFill>
                  <a:srgbClr val="FF0000"/>
                </a:solidFill>
              </a:rPr>
              <a:t>etc</a:t>
            </a:r>
            <a:r>
              <a:rPr lang="pt-BR" b="1" dirty="0">
                <a:solidFill>
                  <a:srgbClr val="FF0000"/>
                </a:solidFil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dirty="0"/>
              <a:t>Domínio do Atributo</a:t>
            </a:r>
          </a:p>
        </p:txBody>
      </p:sp>
      <p:sp>
        <p:nvSpPr>
          <p:cNvPr id="100" name="PlaceHolder 2"/>
          <p:cNvSpPr>
            <a:spLocks noGrp="1"/>
          </p:cNvSpPr>
          <p:nvPr>
            <p:ph/>
          </p:nvPr>
        </p:nvSpPr>
        <p:spPr>
          <a:xfrm>
            <a:off x="838080" y="1825560"/>
            <a:ext cx="10515240" cy="4350960"/>
          </a:xfrm>
          <a:prstGeom prst="rect">
            <a:avLst/>
          </a:prstGeom>
          <a:noFill/>
          <a:ln w="0">
            <a:noFill/>
          </a:ln>
        </p:spPr>
        <p:txBody>
          <a:bodyPr anchor="t">
            <a:normAutofit fontScale="87000"/>
          </a:bodyPr>
          <a:lstStyle/>
          <a:p>
            <a:pPr marL="228600" indent="-228600">
              <a:lnSpc>
                <a:spcPct val="90000"/>
              </a:lnSpc>
              <a:spcBef>
                <a:spcPts val="1001"/>
              </a:spcBef>
              <a:buClr>
                <a:srgbClr val="000000"/>
              </a:buClr>
              <a:buFont typeface="Arial"/>
              <a:buChar char="•"/>
            </a:pPr>
            <a:r>
              <a:rPr lang="pt-BR" dirty="0">
                <a:solidFill>
                  <a:srgbClr val="FF0000"/>
                </a:solidFill>
              </a:rPr>
              <a:t>Domínio de um atributo é a faixa de valores que esse atributo pode conter. </a:t>
            </a:r>
            <a:r>
              <a:rPr lang="pt-BR" dirty="0"/>
              <a:t>Em outras palavras, é o conjunto de valores que um determinado atributo pode assumir.</a:t>
            </a:r>
          </a:p>
          <a:p>
            <a:pPr marL="228600" indent="-228600">
              <a:lnSpc>
                <a:spcPct val="90000"/>
              </a:lnSpc>
              <a:spcBef>
                <a:spcPts val="1001"/>
              </a:spcBef>
              <a:buClr>
                <a:srgbClr val="000000"/>
              </a:buClr>
              <a:buFont typeface="Arial"/>
              <a:buChar char="•"/>
            </a:pPr>
            <a:r>
              <a:rPr lang="pt-BR" dirty="0"/>
              <a:t>Por exemplo, para o atributo CPF da Tabela anterior, o domínio seria o conjunto dos números naturais.</a:t>
            </a:r>
          </a:p>
          <a:p>
            <a:pPr marL="228600" indent="-228600">
              <a:lnSpc>
                <a:spcPct val="90000"/>
              </a:lnSpc>
              <a:spcBef>
                <a:spcPts val="1001"/>
              </a:spcBef>
              <a:buClr>
                <a:srgbClr val="000000"/>
              </a:buClr>
              <a:buFont typeface="Arial"/>
              <a:buChar char="•"/>
            </a:pPr>
            <a:r>
              <a:rPr lang="pt-BR" dirty="0"/>
              <a:t>Em outras tabelas quaisquer, por exemplo, o </a:t>
            </a:r>
            <a:r>
              <a:rPr lang="pt-BR" dirty="0" err="1"/>
              <a:t>domíno</a:t>
            </a:r>
            <a:r>
              <a:rPr lang="pt-BR" dirty="0"/>
              <a:t> do atributo “dia do mês” seria o conjunto dos números entre 1 e 31. </a:t>
            </a:r>
          </a:p>
          <a:p>
            <a:pPr marL="228600" indent="-228600">
              <a:lnSpc>
                <a:spcPct val="90000"/>
              </a:lnSpc>
              <a:spcBef>
                <a:spcPts val="1001"/>
              </a:spcBef>
              <a:buClr>
                <a:srgbClr val="000000"/>
              </a:buClr>
              <a:buFont typeface="Arial"/>
              <a:buChar char="•"/>
            </a:pPr>
            <a:r>
              <a:rPr lang="pt-BR" dirty="0"/>
              <a:t>O atributo “sexo” teria como domínio os mnemônicos M (para masculino) ou F (para feminino) e assim por diante.</a:t>
            </a:r>
          </a:p>
          <a:p>
            <a:pPr marL="228600" indent="-228600">
              <a:lnSpc>
                <a:spcPct val="90000"/>
              </a:lnSpc>
              <a:spcBef>
                <a:spcPts val="1001"/>
              </a:spcBef>
              <a:buClr>
                <a:srgbClr val="000000"/>
              </a:buClr>
              <a:buFont typeface="Arial"/>
              <a:buChar char="•"/>
            </a:pPr>
            <a:r>
              <a:rPr lang="pt-BR" dirty="0">
                <a:solidFill>
                  <a:srgbClr val="FF0000"/>
                </a:solidFill>
              </a:rPr>
              <a:t>Sempre que identificamos um atributo de uma tabela, temos também uma ideia de qual o tipo de informação que ele poderá vir a conter.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dirty="0"/>
              <a:t>Chaves</a:t>
            </a:r>
          </a:p>
        </p:txBody>
      </p:sp>
      <p:sp>
        <p:nvSpPr>
          <p:cNvPr id="102" name="PlaceHolder 2"/>
          <p:cNvSpPr>
            <a:spLocks noGrp="1"/>
          </p:cNvSpPr>
          <p:nvPr>
            <p:ph/>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pt-BR" b="1" dirty="0">
                <a:solidFill>
                  <a:srgbClr val="FF0000"/>
                </a:solidFill>
              </a:rPr>
              <a:t>Uma chave é um atributo (ou conjunto de atributos) que identifica univocamente cada entrada de uma relação. </a:t>
            </a:r>
          </a:p>
          <a:p>
            <a:pPr marL="228600" indent="-228600">
              <a:lnSpc>
                <a:spcPct val="90000"/>
              </a:lnSpc>
              <a:spcBef>
                <a:spcPts val="1001"/>
              </a:spcBef>
              <a:buClr>
                <a:srgbClr val="000000"/>
              </a:buClr>
              <a:buFont typeface="Arial"/>
              <a:buChar char="•"/>
            </a:pPr>
            <a:r>
              <a:rPr lang="pt-BR" dirty="0"/>
              <a:t>Ou seja, por meio de chaves podemos diferenciar as diversas </a:t>
            </a:r>
            <a:r>
              <a:rPr lang="pt-BR" b="1" dirty="0">
                <a:solidFill>
                  <a:srgbClr val="FF0000"/>
                </a:solidFill>
              </a:rPr>
              <a:t>tuplas</a:t>
            </a:r>
            <a:r>
              <a:rPr lang="pt-BR" dirty="0"/>
              <a:t> pertencentes a uma relação.</a:t>
            </a:r>
          </a:p>
          <a:p>
            <a:pPr marL="228600" indent="-228600">
              <a:lnSpc>
                <a:spcPct val="90000"/>
              </a:lnSpc>
              <a:spcBef>
                <a:spcPts val="1001"/>
              </a:spcBef>
              <a:buClr>
                <a:srgbClr val="000000"/>
              </a:buClr>
              <a:buFont typeface="Arial"/>
              <a:buChar char="•"/>
            </a:pPr>
            <a:r>
              <a:rPr lang="pt-BR" dirty="0"/>
              <a:t>Como consequência dessa definição, temos que os atributos chaves não podem apresentar valores duplicados, nem podem ser nulos.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202458"/>
            <a:ext cx="10515240" cy="479022"/>
          </a:xfrm>
          <a:prstGeom prst="rect">
            <a:avLst/>
          </a:prstGeom>
          <a:noFill/>
          <a:ln w="0">
            <a:noFill/>
          </a:ln>
        </p:spPr>
        <p:txBody>
          <a:bodyPr anchor="ctr">
            <a:noAutofit/>
          </a:bodyPr>
          <a:lstStyle/>
          <a:p>
            <a:pPr>
              <a:lnSpc>
                <a:spcPct val="90000"/>
              </a:lnSpc>
              <a:buNone/>
            </a:pPr>
            <a:r>
              <a:rPr lang="pt-BR" sz="4400" b="0" strike="noStrike" spc="-1" dirty="0">
                <a:solidFill>
                  <a:srgbClr val="000000"/>
                </a:solidFill>
                <a:latin typeface="Calibri Light"/>
              </a:rPr>
              <a:t>PK(chave primária)</a:t>
            </a:r>
            <a:endParaRPr lang="pt-BR" sz="4400" b="0" strike="noStrike" spc="-1" dirty="0">
              <a:solidFill>
                <a:srgbClr val="000000"/>
              </a:solidFill>
              <a:latin typeface="Calibri"/>
            </a:endParaRPr>
          </a:p>
        </p:txBody>
      </p:sp>
      <p:sp>
        <p:nvSpPr>
          <p:cNvPr id="104" name="PlaceHolder 2"/>
          <p:cNvSpPr>
            <a:spLocks noGrp="1"/>
          </p:cNvSpPr>
          <p:nvPr>
            <p:ph/>
          </p:nvPr>
        </p:nvSpPr>
        <p:spPr>
          <a:xfrm>
            <a:off x="838080" y="928468"/>
            <a:ext cx="10515240" cy="5570806"/>
          </a:xfrm>
          <a:prstGeom prst="rect">
            <a:avLst/>
          </a:prstGeom>
          <a:noFill/>
          <a:ln w="0">
            <a:noFill/>
          </a:ln>
        </p:spPr>
        <p:txBody>
          <a:bodyPr anchor="t">
            <a:normAutofit fontScale="97000"/>
          </a:bodyPr>
          <a:lstStyle/>
          <a:p>
            <a:pPr marL="228600" indent="-228600">
              <a:lnSpc>
                <a:spcPct val="90000"/>
              </a:lnSpc>
              <a:spcBef>
                <a:spcPts val="1001"/>
              </a:spcBef>
              <a:buClr>
                <a:srgbClr val="000000"/>
              </a:buClr>
              <a:buFont typeface="Arial"/>
              <a:buChar char="•"/>
            </a:pPr>
            <a:r>
              <a:rPr lang="pt-BR" dirty="0"/>
              <a:t>Um dos princípios do modelo relacional diz que uma linha de uma tabela devem sempre poder ser referenciada de forma única. </a:t>
            </a:r>
          </a:p>
          <a:p>
            <a:pPr marL="228600" indent="-228600">
              <a:lnSpc>
                <a:spcPct val="90000"/>
              </a:lnSpc>
              <a:spcBef>
                <a:spcPts val="1001"/>
              </a:spcBef>
              <a:buClr>
                <a:srgbClr val="000000"/>
              </a:buClr>
              <a:buFont typeface="Arial"/>
              <a:buChar char="•"/>
            </a:pPr>
            <a:r>
              <a:rPr lang="pt-BR" dirty="0">
                <a:solidFill>
                  <a:srgbClr val="FF0000"/>
                </a:solidFill>
              </a:rPr>
              <a:t>Por isso, entre as chaves candidatas, uma delas deve ser eleita para ser a principal, a chave primária da tabela (Primary Key ou PK),</a:t>
            </a:r>
          </a:p>
          <a:p>
            <a:pPr marL="228600" indent="-228600">
              <a:lnSpc>
                <a:spcPct val="90000"/>
              </a:lnSpc>
              <a:spcBef>
                <a:spcPts val="1001"/>
              </a:spcBef>
              <a:buClr>
                <a:srgbClr val="000000"/>
              </a:buClr>
              <a:buFont typeface="Arial"/>
              <a:buChar char="•"/>
            </a:pPr>
            <a:r>
              <a:rPr lang="pt-BR" dirty="0">
                <a:solidFill>
                  <a:srgbClr val="FF0000"/>
                </a:solidFill>
              </a:rPr>
              <a:t>É aquela que realmente identifica univocamente cada tupla da tabela.</a:t>
            </a:r>
            <a:r>
              <a:rPr lang="pt-BR" dirty="0"/>
              <a:t> </a:t>
            </a:r>
          </a:p>
          <a:p>
            <a:pPr marL="228600" indent="-228600">
              <a:lnSpc>
                <a:spcPct val="90000"/>
              </a:lnSpc>
              <a:spcBef>
                <a:spcPts val="1001"/>
              </a:spcBef>
              <a:buClr>
                <a:srgbClr val="000000"/>
              </a:buClr>
              <a:buFont typeface="Arial"/>
              <a:buChar char="•"/>
            </a:pPr>
            <a:r>
              <a:rPr lang="pt-BR" dirty="0"/>
              <a:t>No caso, para a Tabela seguinte, a melhor escolha para chave primária seria o atributo CPF, já que essa informação não se repetiria, de forma alguma, em dois empregados distintos da tabela.</a:t>
            </a:r>
          </a:p>
          <a:p>
            <a:pPr marL="228600" indent="-228600">
              <a:lnSpc>
                <a:spcPct val="90000"/>
              </a:lnSpc>
              <a:spcBef>
                <a:spcPts val="1001"/>
              </a:spcBef>
              <a:buClr>
                <a:srgbClr val="000000"/>
              </a:buClr>
              <a:buFont typeface="Arial"/>
              <a:buChar char="•"/>
            </a:pPr>
            <a:endParaRPr lang="pt-BR" sz="2800" b="0" strike="noStrike" spc="-1" dirty="0">
              <a:solidFill>
                <a:srgbClr val="0000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419DB318-1F46-AD6C-5D48-BC827FFF3588}"/>
              </a:ext>
            </a:extLst>
          </p:cNvPr>
          <p:cNvSpPr>
            <a:spLocks noGrp="1"/>
          </p:cNvSpPr>
          <p:nvPr>
            <p:ph type="subTitle"/>
          </p:nvPr>
        </p:nvSpPr>
        <p:spPr>
          <a:xfrm>
            <a:off x="838080" y="385763"/>
            <a:ext cx="10515240" cy="5790757"/>
          </a:xfrm>
        </p:spPr>
        <p:txBody>
          <a:bodyPr/>
          <a:lstStyle/>
          <a:p>
            <a:endParaRPr lang="pt-BR" dirty="0"/>
          </a:p>
        </p:txBody>
      </p:sp>
      <p:pic>
        <p:nvPicPr>
          <p:cNvPr id="5" name="Imagem 4">
            <a:extLst>
              <a:ext uri="{FF2B5EF4-FFF2-40B4-BE49-F238E27FC236}">
                <a16:creationId xmlns:a16="http://schemas.microsoft.com/office/drawing/2014/main" id="{D2C8EB63-12B5-1741-8125-6B2C7AB2ACCF}"/>
              </a:ext>
            </a:extLst>
          </p:cNvPr>
          <p:cNvPicPr>
            <a:picLocks noChangeAspect="1"/>
          </p:cNvPicPr>
          <p:nvPr/>
        </p:nvPicPr>
        <p:blipFill>
          <a:blip r:embed="rId2"/>
          <a:stretch>
            <a:fillRect/>
          </a:stretch>
        </p:blipFill>
        <p:spPr>
          <a:xfrm>
            <a:off x="1128713" y="1085849"/>
            <a:ext cx="9629775" cy="4429125"/>
          </a:xfrm>
          <a:prstGeom prst="rect">
            <a:avLst/>
          </a:prstGeom>
        </p:spPr>
      </p:pic>
    </p:spTree>
    <p:extLst>
      <p:ext uri="{BB962C8B-B14F-4D97-AF65-F5344CB8AC3E}">
        <p14:creationId xmlns:p14="http://schemas.microsoft.com/office/powerpoint/2010/main" val="2591033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dirty="0"/>
              <a:t>Outra chaves</a:t>
            </a:r>
          </a:p>
        </p:txBody>
      </p:sp>
      <p:sp>
        <p:nvSpPr>
          <p:cNvPr id="106" name="PlaceHolder 2"/>
          <p:cNvSpPr>
            <a:spLocks noGrp="1"/>
          </p:cNvSpPr>
          <p:nvPr>
            <p:ph/>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endParaRPr lang="pt-BR"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pt-BR" dirty="0"/>
              <a:t>As outras chaves candidatas que não forem escolhidas para chave primária, </a:t>
            </a:r>
            <a:r>
              <a:rPr lang="pt-BR" b="1" dirty="0">
                <a:solidFill>
                  <a:srgbClr val="FF0000"/>
                </a:solidFill>
              </a:rPr>
              <a:t>são chamadas de chaves secundárias</a:t>
            </a:r>
            <a:r>
              <a:rPr lang="pt-BR" dirty="0"/>
              <a:t>.</a:t>
            </a:r>
          </a:p>
          <a:p>
            <a:pPr marL="228600" indent="-228600">
              <a:lnSpc>
                <a:spcPct val="90000"/>
              </a:lnSpc>
              <a:spcBef>
                <a:spcPts val="1001"/>
              </a:spcBef>
              <a:buClr>
                <a:srgbClr val="000000"/>
              </a:buClr>
              <a:buFont typeface="Arial"/>
              <a:buChar char="•"/>
            </a:pPr>
            <a:r>
              <a:rPr lang="pt-BR" dirty="0"/>
              <a:t>Por exemplo, na Tabela anterior, o atributo Nome seria uma chave secundária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EA7211-77A1-2577-2E49-08C77B09F2B2}"/>
              </a:ext>
            </a:extLst>
          </p:cNvPr>
          <p:cNvSpPr>
            <a:spLocks noGrp="1"/>
          </p:cNvSpPr>
          <p:nvPr>
            <p:ph type="title"/>
          </p:nvPr>
        </p:nvSpPr>
        <p:spPr/>
        <p:txBody>
          <a:bodyPr/>
          <a:lstStyle/>
          <a:p>
            <a:r>
              <a:rPr lang="pt-BR" dirty="0"/>
              <a:t>Chave primaria composta</a:t>
            </a:r>
          </a:p>
        </p:txBody>
      </p:sp>
      <p:sp>
        <p:nvSpPr>
          <p:cNvPr id="3" name="Subtítulo 2">
            <a:extLst>
              <a:ext uri="{FF2B5EF4-FFF2-40B4-BE49-F238E27FC236}">
                <a16:creationId xmlns:a16="http://schemas.microsoft.com/office/drawing/2014/main" id="{4AF41F7E-0A3D-1D5A-95E1-65B124AE7205}"/>
              </a:ext>
            </a:extLst>
          </p:cNvPr>
          <p:cNvSpPr>
            <a:spLocks noGrp="1"/>
          </p:cNvSpPr>
          <p:nvPr>
            <p:ph type="subTitle"/>
          </p:nvPr>
        </p:nvSpPr>
        <p:spPr/>
        <p:txBody>
          <a:bodyPr/>
          <a:lstStyle/>
          <a:p>
            <a:endParaRPr lang="pt-BR" dirty="0"/>
          </a:p>
        </p:txBody>
      </p:sp>
      <p:graphicFrame>
        <p:nvGraphicFramePr>
          <p:cNvPr id="4" name="Tabela 3">
            <a:extLst>
              <a:ext uri="{FF2B5EF4-FFF2-40B4-BE49-F238E27FC236}">
                <a16:creationId xmlns:a16="http://schemas.microsoft.com/office/drawing/2014/main" id="{B1978BAF-311B-6AD1-8E39-F33D09244B96}"/>
              </a:ext>
            </a:extLst>
          </p:cNvPr>
          <p:cNvGraphicFramePr>
            <a:graphicFrameLocks noGrp="1"/>
          </p:cNvGraphicFramePr>
          <p:nvPr>
            <p:extLst>
              <p:ext uri="{D42A27DB-BD31-4B8C-83A1-F6EECF244321}">
                <p14:modId xmlns:p14="http://schemas.microsoft.com/office/powerpoint/2010/main" val="2009378354"/>
              </p:ext>
            </p:extLst>
          </p:nvPr>
        </p:nvGraphicFramePr>
        <p:xfrm>
          <a:off x="1055076" y="1955410"/>
          <a:ext cx="9833316" cy="3924885"/>
        </p:xfrm>
        <a:graphic>
          <a:graphicData uri="http://schemas.openxmlformats.org/drawingml/2006/table">
            <a:tbl>
              <a:tblPr firstRow="1" firstCol="1" lastRow="1" lastCol="1" bandRow="1" bandCol="1"/>
              <a:tblGrid>
                <a:gridCol w="3277772">
                  <a:extLst>
                    <a:ext uri="{9D8B030D-6E8A-4147-A177-3AD203B41FA5}">
                      <a16:colId xmlns:a16="http://schemas.microsoft.com/office/drawing/2014/main" val="695372370"/>
                    </a:ext>
                  </a:extLst>
                </a:gridCol>
                <a:gridCol w="3277772">
                  <a:extLst>
                    <a:ext uri="{9D8B030D-6E8A-4147-A177-3AD203B41FA5}">
                      <a16:colId xmlns:a16="http://schemas.microsoft.com/office/drawing/2014/main" val="1523852612"/>
                    </a:ext>
                  </a:extLst>
                </a:gridCol>
                <a:gridCol w="3277772">
                  <a:extLst>
                    <a:ext uri="{9D8B030D-6E8A-4147-A177-3AD203B41FA5}">
                      <a16:colId xmlns:a16="http://schemas.microsoft.com/office/drawing/2014/main" val="3099927925"/>
                    </a:ext>
                  </a:extLst>
                </a:gridCol>
              </a:tblGrid>
              <a:tr h="784977">
                <a:tc>
                  <a:txBody>
                    <a:bodyPr/>
                    <a:lstStyle/>
                    <a:p>
                      <a:pPr marL="130810" marR="118110" algn="ctr">
                        <a:spcBef>
                          <a:spcPts val="625"/>
                        </a:spcBef>
                        <a:spcAft>
                          <a:spcPts val="0"/>
                        </a:spcAft>
                      </a:pPr>
                      <a:r>
                        <a:rPr lang="pt-PT" sz="1600" b="1" u="sng">
                          <a:solidFill>
                            <a:srgbClr val="FFFFFF"/>
                          </a:solidFill>
                          <a:effectLst/>
                          <a:uFill>
                            <a:solidFill>
                              <a:srgbClr val="FFFFFF"/>
                            </a:solidFill>
                          </a:uFill>
                          <a:latin typeface="Calibri" panose="020F0502020204030204" pitchFamily="34" charset="0"/>
                          <a:ea typeface="Calibri" panose="020F0502020204030204" pitchFamily="34" charset="0"/>
                          <a:cs typeface="Calibri" panose="020F0502020204030204" pitchFamily="34" charset="0"/>
                        </a:rPr>
                        <a:t>CPF</a:t>
                      </a:r>
                      <a:r>
                        <a:rPr lang="pt-PT" sz="1600" b="1" spc="-10">
                          <a:solidFill>
                            <a:srgbClr val="FFFFFF"/>
                          </a:solidFill>
                          <a:effectLst/>
                          <a:latin typeface="Calibri" panose="020F0502020204030204" pitchFamily="34" charset="0"/>
                          <a:ea typeface="Calibri" panose="020F0502020204030204" pitchFamily="34" charset="0"/>
                          <a:cs typeface="Calibri" panose="020F0502020204030204" pitchFamily="34" charset="0"/>
                        </a:rPr>
                        <a:t> </a:t>
                      </a:r>
                      <a:r>
                        <a:rPr lang="pt-PT" sz="1600" b="1">
                          <a:solidFill>
                            <a:srgbClr val="FFFFFF"/>
                          </a:solidFill>
                          <a:effectLst/>
                          <a:latin typeface="Calibri" panose="020F0502020204030204" pitchFamily="34" charset="0"/>
                          <a:ea typeface="Calibri" panose="020F0502020204030204" pitchFamily="34" charset="0"/>
                          <a:cs typeface="Calibri" panose="020F0502020204030204" pitchFamily="34" charset="0"/>
                        </a:rPr>
                        <a:t>(PK)</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600" b="1" u="sng">
                          <a:solidFill>
                            <a:srgbClr val="FFFFFF"/>
                          </a:solidFill>
                          <a:effectLst/>
                          <a:uFill>
                            <a:solidFill>
                              <a:srgbClr val="FFFFFF"/>
                            </a:solidFill>
                          </a:uFill>
                          <a:latin typeface="Calibri" panose="020F0502020204030204" pitchFamily="34" charset="0"/>
                          <a:ea typeface="Calibri" panose="020F0502020204030204" pitchFamily="34" charset="0"/>
                          <a:cs typeface="Calibri" panose="020F0502020204030204" pitchFamily="34" charset="0"/>
                        </a:rPr>
                        <a:t>Cod_projeto</a:t>
                      </a:r>
                      <a:r>
                        <a:rPr lang="pt-PT" sz="1600" b="1" spc="-25">
                          <a:solidFill>
                            <a:srgbClr val="FFFFFF"/>
                          </a:solidFill>
                          <a:effectLst/>
                          <a:latin typeface="Calibri" panose="020F0502020204030204" pitchFamily="34" charset="0"/>
                          <a:ea typeface="Calibri" panose="020F0502020204030204" pitchFamily="34" charset="0"/>
                          <a:cs typeface="Calibri" panose="020F0502020204030204" pitchFamily="34" charset="0"/>
                        </a:rPr>
                        <a:t> </a:t>
                      </a:r>
                      <a:r>
                        <a:rPr lang="pt-PT" sz="1600" b="1">
                          <a:solidFill>
                            <a:srgbClr val="FFFFFF"/>
                          </a:solidFill>
                          <a:effectLst/>
                          <a:latin typeface="Calibri" panose="020F0502020204030204" pitchFamily="34" charset="0"/>
                          <a:ea typeface="Calibri" panose="020F0502020204030204" pitchFamily="34" charset="0"/>
                          <a:cs typeface="Calibri" panose="020F0502020204030204" pitchFamily="34" charset="0"/>
                        </a:rPr>
                        <a:t>(PK)</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7475" algn="ctr">
                        <a:spcBef>
                          <a:spcPts val="625"/>
                        </a:spcBef>
                        <a:spcAft>
                          <a:spcPts val="0"/>
                        </a:spcAft>
                      </a:pPr>
                      <a:r>
                        <a:rPr lang="pt-PT" sz="1600" b="1">
                          <a:solidFill>
                            <a:srgbClr val="FFFFFF"/>
                          </a:solidFill>
                          <a:effectLst/>
                          <a:latin typeface="Calibri" panose="020F0502020204030204" pitchFamily="34" charset="0"/>
                          <a:ea typeface="Calibri" panose="020F0502020204030204" pitchFamily="34" charset="0"/>
                          <a:cs typeface="Calibri" panose="020F0502020204030204" pitchFamily="34" charset="0"/>
                        </a:rPr>
                        <a:t>Função</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3296686066"/>
                  </a:ext>
                </a:extLst>
              </a:tr>
              <a:tr h="784977">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213415467-89</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002</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7475"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Analista</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670765787"/>
                  </a:ext>
                </a:extLst>
              </a:tr>
              <a:tr h="784977">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567324980-03</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001</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Consultor</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654754377"/>
                  </a:ext>
                </a:extLst>
              </a:tr>
              <a:tr h="784977">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765456243-45</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003</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Suporte</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1084670192"/>
                  </a:ext>
                </a:extLst>
              </a:tr>
              <a:tr h="784977">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987675456-98</a:t>
                      </a:r>
                      <a:endParaRPr lang="pt-BR" sz="16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002</a:t>
                      </a:r>
                      <a:endParaRPr lang="pt-BR" sz="16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Programador</a:t>
                      </a:r>
                      <a:endParaRPr lang="pt-BR" sz="16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3127197611"/>
                  </a:ext>
                </a:extLst>
              </a:tr>
            </a:tbl>
          </a:graphicData>
        </a:graphic>
      </p:graphicFrame>
    </p:spTree>
    <p:extLst>
      <p:ext uri="{BB962C8B-B14F-4D97-AF65-F5344CB8AC3E}">
        <p14:creationId xmlns:p14="http://schemas.microsoft.com/office/powerpoint/2010/main" val="2786695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dirty="0"/>
              <a:t>Chave estrangeira</a:t>
            </a:r>
          </a:p>
        </p:txBody>
      </p:sp>
      <p:sp>
        <p:nvSpPr>
          <p:cNvPr id="108" name="PlaceHolder 2"/>
          <p:cNvSpPr>
            <a:spLocks noGrp="1"/>
          </p:cNvSpPr>
          <p:nvPr>
            <p:ph/>
          </p:nvPr>
        </p:nvSpPr>
        <p:spPr>
          <a:xfrm>
            <a:off x="838080" y="1825560"/>
            <a:ext cx="10515240" cy="4350960"/>
          </a:xfrm>
          <a:prstGeom prst="rect">
            <a:avLst/>
          </a:prstGeom>
          <a:noFill/>
          <a:ln w="0">
            <a:noFill/>
          </a:ln>
        </p:spPr>
        <p:txBody>
          <a:bodyPr anchor="t">
            <a:normAutofit fontScale="96000"/>
          </a:bodyPr>
          <a:lstStyle/>
          <a:p>
            <a:pPr marL="228600" indent="-228600">
              <a:lnSpc>
                <a:spcPct val="90000"/>
              </a:lnSpc>
              <a:spcBef>
                <a:spcPts val="1001"/>
              </a:spcBef>
              <a:buClr>
                <a:srgbClr val="000000"/>
              </a:buClr>
              <a:buFont typeface="Arial"/>
              <a:buChar char="•"/>
            </a:pPr>
            <a:r>
              <a:rPr lang="pt-BR" dirty="0">
                <a:solidFill>
                  <a:srgbClr val="FF0000"/>
                </a:solidFill>
              </a:rPr>
              <a:t>Uma tabela pode incluir entre seus atributos a chave primária de outra tabela.</a:t>
            </a:r>
          </a:p>
          <a:p>
            <a:pPr marL="228600" indent="-228600">
              <a:lnSpc>
                <a:spcPct val="90000"/>
              </a:lnSpc>
              <a:spcBef>
                <a:spcPts val="1001"/>
              </a:spcBef>
              <a:buClr>
                <a:srgbClr val="000000"/>
              </a:buClr>
              <a:buFont typeface="Arial"/>
              <a:buChar char="•"/>
            </a:pPr>
            <a:r>
              <a:rPr lang="pt-BR" dirty="0">
                <a:solidFill>
                  <a:srgbClr val="FF0000"/>
                </a:solidFill>
              </a:rPr>
              <a:t>Essa chave é chamada chave estrangeira</a:t>
            </a:r>
            <a:r>
              <a:rPr lang="pt-BR" dirty="0"/>
              <a:t>. </a:t>
            </a:r>
          </a:p>
          <a:p>
            <a:pPr marL="228600" indent="-228600">
              <a:lnSpc>
                <a:spcPct val="90000"/>
              </a:lnSpc>
              <a:spcBef>
                <a:spcPts val="1001"/>
              </a:spcBef>
              <a:buClr>
                <a:srgbClr val="000000"/>
              </a:buClr>
              <a:buFont typeface="Arial"/>
              <a:buChar char="•"/>
            </a:pPr>
            <a:r>
              <a:rPr lang="pt-BR" dirty="0"/>
              <a:t>Ou seja, uma chave estrangeira é uma coluna (ou combinação de colunas) que indica um valor que deve existir como chave primária em uma outra tabela (chamada de Tabela Pai). </a:t>
            </a:r>
          </a:p>
          <a:p>
            <a:pPr marL="228600" indent="-228600">
              <a:lnSpc>
                <a:spcPct val="90000"/>
              </a:lnSpc>
              <a:spcBef>
                <a:spcPts val="1001"/>
              </a:spcBef>
              <a:buClr>
                <a:srgbClr val="000000"/>
              </a:buClr>
              <a:buFont typeface="Arial"/>
              <a:buChar char="•"/>
            </a:pPr>
            <a:r>
              <a:rPr lang="pt-BR" dirty="0"/>
              <a:t>Por exemplo, na tabela Alocação (vide Tabela 01), as colunas CPF e </a:t>
            </a:r>
            <a:r>
              <a:rPr lang="pt-BR" dirty="0" err="1"/>
              <a:t>Cod_Projeto</a:t>
            </a:r>
            <a:r>
              <a:rPr lang="pt-BR" dirty="0"/>
              <a:t> são chaves estrangeiras, porque elas são chave primária, respectivamente, das tabelas Empregado (vide Tabela 02) e Projeto (vide Tabela 03).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69404-0278-7617-7383-62D227C73012}"/>
              </a:ext>
            </a:extLst>
          </p:cNvPr>
          <p:cNvSpPr>
            <a:spLocks noGrp="1"/>
          </p:cNvSpPr>
          <p:nvPr>
            <p:ph type="title"/>
          </p:nvPr>
        </p:nvSpPr>
        <p:spPr>
          <a:xfrm>
            <a:off x="838380" y="371081"/>
            <a:ext cx="10515240" cy="620798"/>
          </a:xfrm>
        </p:spPr>
        <p:txBody>
          <a:bodyPr/>
          <a:lstStyle/>
          <a:p>
            <a:r>
              <a:rPr lang="pt-BR" dirty="0"/>
              <a:t>Tabela 01 (alocação)</a:t>
            </a:r>
          </a:p>
        </p:txBody>
      </p:sp>
      <p:graphicFrame>
        <p:nvGraphicFramePr>
          <p:cNvPr id="4" name="Tabela 3">
            <a:extLst>
              <a:ext uri="{FF2B5EF4-FFF2-40B4-BE49-F238E27FC236}">
                <a16:creationId xmlns:a16="http://schemas.microsoft.com/office/drawing/2014/main" id="{65788D2E-FA8F-9FF4-5E94-B60B77990428}"/>
              </a:ext>
            </a:extLst>
          </p:cNvPr>
          <p:cNvGraphicFramePr>
            <a:graphicFrameLocks noGrp="1"/>
          </p:cNvGraphicFramePr>
          <p:nvPr>
            <p:extLst>
              <p:ext uri="{D42A27DB-BD31-4B8C-83A1-F6EECF244321}">
                <p14:modId xmlns:p14="http://schemas.microsoft.com/office/powerpoint/2010/main" val="3166540533"/>
              </p:ext>
            </p:extLst>
          </p:nvPr>
        </p:nvGraphicFramePr>
        <p:xfrm>
          <a:off x="2335236" y="2194560"/>
          <a:ext cx="6822831" cy="3362180"/>
        </p:xfrm>
        <a:graphic>
          <a:graphicData uri="http://schemas.openxmlformats.org/drawingml/2006/table">
            <a:tbl>
              <a:tblPr firstRow="1" firstCol="1" lastRow="1" lastCol="1" bandRow="1" bandCol="1"/>
              <a:tblGrid>
                <a:gridCol w="2274277">
                  <a:extLst>
                    <a:ext uri="{9D8B030D-6E8A-4147-A177-3AD203B41FA5}">
                      <a16:colId xmlns:a16="http://schemas.microsoft.com/office/drawing/2014/main" val="2218595097"/>
                    </a:ext>
                  </a:extLst>
                </a:gridCol>
                <a:gridCol w="2274277">
                  <a:extLst>
                    <a:ext uri="{9D8B030D-6E8A-4147-A177-3AD203B41FA5}">
                      <a16:colId xmlns:a16="http://schemas.microsoft.com/office/drawing/2014/main" val="3333308405"/>
                    </a:ext>
                  </a:extLst>
                </a:gridCol>
                <a:gridCol w="2274277">
                  <a:extLst>
                    <a:ext uri="{9D8B030D-6E8A-4147-A177-3AD203B41FA5}">
                      <a16:colId xmlns:a16="http://schemas.microsoft.com/office/drawing/2014/main" val="3929776309"/>
                    </a:ext>
                  </a:extLst>
                </a:gridCol>
              </a:tblGrid>
              <a:tr h="672436">
                <a:tc>
                  <a:txBody>
                    <a:bodyPr/>
                    <a:lstStyle/>
                    <a:p>
                      <a:pPr marL="130810" marR="118110" algn="ctr">
                        <a:spcBef>
                          <a:spcPts val="625"/>
                        </a:spcBef>
                        <a:spcAft>
                          <a:spcPts val="0"/>
                        </a:spcAft>
                      </a:pPr>
                      <a:r>
                        <a:rPr lang="pt-PT" sz="1800" b="1" u="sng" dirty="0">
                          <a:solidFill>
                            <a:srgbClr val="FFFFFF"/>
                          </a:solidFill>
                          <a:effectLst/>
                          <a:uFill>
                            <a:solidFill>
                              <a:srgbClr val="FFFFFF"/>
                            </a:solidFill>
                          </a:uFill>
                          <a:latin typeface="Calibri" panose="020F0502020204030204" pitchFamily="34" charset="0"/>
                          <a:ea typeface="Calibri" panose="020F0502020204030204" pitchFamily="34" charset="0"/>
                          <a:cs typeface="Times New Roman" panose="02020603050405020304" pitchFamily="18" charset="0"/>
                        </a:rPr>
                        <a:t>CPF</a:t>
                      </a:r>
                      <a:r>
                        <a:rPr lang="pt-PT" sz="1800" b="1" spc="-1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pt-PT" sz="18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(PK)</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800" b="1" u="sng" dirty="0" err="1">
                          <a:solidFill>
                            <a:srgbClr val="FFFFFF"/>
                          </a:solidFill>
                          <a:effectLst/>
                          <a:uFill>
                            <a:solidFill>
                              <a:srgbClr val="FFFFFF"/>
                            </a:solidFill>
                          </a:uFill>
                          <a:latin typeface="Calibri" panose="020F0502020204030204" pitchFamily="34" charset="0"/>
                          <a:ea typeface="Calibri" panose="020F0502020204030204" pitchFamily="34" charset="0"/>
                          <a:cs typeface="Times New Roman" panose="02020603050405020304" pitchFamily="18" charset="0"/>
                        </a:rPr>
                        <a:t>Cod_projeto</a:t>
                      </a:r>
                      <a:r>
                        <a:rPr lang="pt-PT" sz="1800" b="1" spc="-25"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pt-PT" sz="18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(PK)</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7475" algn="ctr">
                        <a:spcBef>
                          <a:spcPts val="625"/>
                        </a:spcBef>
                        <a:spcAft>
                          <a:spcPts val="0"/>
                        </a:spcAft>
                      </a:pPr>
                      <a:r>
                        <a:rPr lang="pt-PT" sz="18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Função</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904883004"/>
                  </a:ext>
                </a:extLst>
              </a:tr>
              <a:tr h="672436">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213415467-89</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002</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7475"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Analista</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400766070"/>
                  </a:ext>
                </a:extLst>
              </a:tr>
              <a:tr h="672436">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567324980-03</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001</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Consultor</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253521978"/>
                  </a:ext>
                </a:extLst>
              </a:tr>
              <a:tr h="672436">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765456243-45</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003</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Suporte</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262669460"/>
                  </a:ext>
                </a:extLst>
              </a:tr>
              <a:tr h="672436">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987675456-98</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002</a:t>
                      </a:r>
                      <a:endParaRPr lang="pt-BR"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Programador</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451494108"/>
                  </a:ext>
                </a:extLst>
              </a:tr>
            </a:tbl>
          </a:graphicData>
        </a:graphic>
      </p:graphicFrame>
      <p:sp>
        <p:nvSpPr>
          <p:cNvPr id="3" name="Espaço Reservado para Conteúdo 2">
            <a:extLst>
              <a:ext uri="{FF2B5EF4-FFF2-40B4-BE49-F238E27FC236}">
                <a16:creationId xmlns:a16="http://schemas.microsoft.com/office/drawing/2014/main" id="{68CC0851-C2D4-512E-AD3D-4F398C9C709A}"/>
              </a:ext>
            </a:extLst>
          </p:cNvPr>
          <p:cNvSpPr>
            <a:spLocks noGrp="1"/>
          </p:cNvSpPr>
          <p:nvPr>
            <p:ph/>
          </p:nvPr>
        </p:nvSpPr>
        <p:spPr>
          <a:xfrm>
            <a:off x="838080" y="1114425"/>
            <a:ext cx="10515240" cy="5062095"/>
          </a:xfrm>
        </p:spPr>
        <p:txBody>
          <a:bodyPr/>
          <a:lstStyle/>
          <a:p>
            <a:endParaRPr lang="pt-BR" dirty="0"/>
          </a:p>
        </p:txBody>
      </p:sp>
      <p:sp>
        <p:nvSpPr>
          <p:cNvPr id="6" name="Texto Explicativo: Seta para Baixo 5">
            <a:extLst>
              <a:ext uri="{FF2B5EF4-FFF2-40B4-BE49-F238E27FC236}">
                <a16:creationId xmlns:a16="http://schemas.microsoft.com/office/drawing/2014/main" id="{BC9BFA2B-16DF-9A29-84F4-75140F8AF193}"/>
              </a:ext>
            </a:extLst>
          </p:cNvPr>
          <p:cNvSpPr/>
          <p:nvPr/>
        </p:nvSpPr>
        <p:spPr>
          <a:xfrm>
            <a:off x="7115175" y="1301260"/>
            <a:ext cx="1814513" cy="893300"/>
          </a:xfrm>
          <a:prstGeom prst="down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Secundaria</a:t>
            </a:r>
          </a:p>
        </p:txBody>
      </p:sp>
      <p:sp>
        <p:nvSpPr>
          <p:cNvPr id="7" name="Texto Explicativo: Seta para Baixo 6">
            <a:extLst>
              <a:ext uri="{FF2B5EF4-FFF2-40B4-BE49-F238E27FC236}">
                <a16:creationId xmlns:a16="http://schemas.microsoft.com/office/drawing/2014/main" id="{B96E353B-72CF-8FEC-9A02-97A614CD85B7}"/>
              </a:ext>
            </a:extLst>
          </p:cNvPr>
          <p:cNvSpPr/>
          <p:nvPr/>
        </p:nvSpPr>
        <p:spPr>
          <a:xfrm>
            <a:off x="3193366" y="1153441"/>
            <a:ext cx="2730857" cy="1041119"/>
          </a:xfrm>
          <a:prstGeom prst="down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err="1"/>
              <a:t>Pk</a:t>
            </a:r>
            <a:r>
              <a:rPr lang="pt-BR" dirty="0"/>
              <a:t> Compostas</a:t>
            </a:r>
          </a:p>
        </p:txBody>
      </p:sp>
    </p:spTree>
    <p:extLst>
      <p:ext uri="{BB962C8B-B14F-4D97-AF65-F5344CB8AC3E}">
        <p14:creationId xmlns:p14="http://schemas.microsoft.com/office/powerpoint/2010/main" val="351474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EC4282-D07E-EE92-4E7D-7839405E2511}"/>
              </a:ext>
            </a:extLst>
          </p:cNvPr>
          <p:cNvSpPr>
            <a:spLocks noGrp="1"/>
          </p:cNvSpPr>
          <p:nvPr>
            <p:ph type="title"/>
          </p:nvPr>
        </p:nvSpPr>
        <p:spPr/>
        <p:txBody>
          <a:bodyPr/>
          <a:lstStyle/>
          <a:p>
            <a:r>
              <a:rPr lang="pt-BR" dirty="0"/>
              <a:t>Tabela 02 (empregado)</a:t>
            </a:r>
          </a:p>
        </p:txBody>
      </p:sp>
      <p:graphicFrame>
        <p:nvGraphicFramePr>
          <p:cNvPr id="5" name="Espaço Reservado para Conteúdo 4">
            <a:extLst>
              <a:ext uri="{FF2B5EF4-FFF2-40B4-BE49-F238E27FC236}">
                <a16:creationId xmlns:a16="http://schemas.microsoft.com/office/drawing/2014/main" id="{30CAE074-9C0F-96C8-DB81-940DAD889EE0}"/>
              </a:ext>
            </a:extLst>
          </p:cNvPr>
          <p:cNvGraphicFramePr>
            <a:graphicFrameLocks noGrp="1"/>
          </p:cNvGraphicFramePr>
          <p:nvPr>
            <p:ph/>
            <p:extLst>
              <p:ext uri="{D42A27DB-BD31-4B8C-83A1-F6EECF244321}">
                <p14:modId xmlns:p14="http://schemas.microsoft.com/office/powerpoint/2010/main" val="2257242377"/>
              </p:ext>
            </p:extLst>
          </p:nvPr>
        </p:nvGraphicFramePr>
        <p:xfrm>
          <a:off x="838200" y="2300288"/>
          <a:ext cx="10515600" cy="3436150"/>
        </p:xfrm>
        <a:graphic>
          <a:graphicData uri="http://schemas.openxmlformats.org/drawingml/2006/table">
            <a:tbl>
              <a:tblPr firstRow="1" firstCol="1" lastRow="1" lastCol="1" bandRow="1" bandCol="1"/>
              <a:tblGrid>
                <a:gridCol w="3505200">
                  <a:extLst>
                    <a:ext uri="{9D8B030D-6E8A-4147-A177-3AD203B41FA5}">
                      <a16:colId xmlns:a16="http://schemas.microsoft.com/office/drawing/2014/main" val="1469111431"/>
                    </a:ext>
                  </a:extLst>
                </a:gridCol>
                <a:gridCol w="3505200">
                  <a:extLst>
                    <a:ext uri="{9D8B030D-6E8A-4147-A177-3AD203B41FA5}">
                      <a16:colId xmlns:a16="http://schemas.microsoft.com/office/drawing/2014/main" val="3181177661"/>
                    </a:ext>
                  </a:extLst>
                </a:gridCol>
                <a:gridCol w="3505200">
                  <a:extLst>
                    <a:ext uri="{9D8B030D-6E8A-4147-A177-3AD203B41FA5}">
                      <a16:colId xmlns:a16="http://schemas.microsoft.com/office/drawing/2014/main" val="2951475003"/>
                    </a:ext>
                  </a:extLst>
                </a:gridCol>
              </a:tblGrid>
              <a:tr h="687230">
                <a:tc>
                  <a:txBody>
                    <a:bodyPr/>
                    <a:lstStyle/>
                    <a:p>
                      <a:pPr marL="130810" marR="118110" algn="ctr">
                        <a:spcBef>
                          <a:spcPts val="625"/>
                        </a:spcBef>
                        <a:spcAft>
                          <a:spcPts val="0"/>
                        </a:spcAft>
                      </a:pPr>
                      <a:r>
                        <a:rPr lang="pt-PT" sz="1600" b="1" u="sng" dirty="0">
                          <a:solidFill>
                            <a:srgbClr val="FFFFFF"/>
                          </a:solidFill>
                          <a:effectLst/>
                          <a:uFill>
                            <a:solidFill>
                              <a:srgbClr val="FFFFFF"/>
                            </a:solidFill>
                          </a:uFill>
                          <a:latin typeface="Calibri" panose="020F0502020204030204" pitchFamily="34" charset="0"/>
                          <a:ea typeface="Calibri" panose="020F0502020204030204" pitchFamily="34" charset="0"/>
                          <a:cs typeface="Times New Roman" panose="02020603050405020304" pitchFamily="18" charset="0"/>
                        </a:rPr>
                        <a:t>CPF</a:t>
                      </a:r>
                      <a:r>
                        <a:rPr lang="pt-PT" sz="1600" b="1" spc="-1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pt-PT"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(PK)</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Nome(secundaria)</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Telefone(Secundaria)</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977862308"/>
                  </a:ext>
                </a:extLst>
              </a:tr>
              <a:tr h="687230">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213415467-89</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Marcos</a:t>
                      </a:r>
                      <a:r>
                        <a:rPr lang="pt-PT" sz="1600" spc="-2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Alves</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3456-8923</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128232401"/>
                  </a:ext>
                </a:extLst>
              </a:tr>
              <a:tr h="687230">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567324980-03</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Tânia</a:t>
                      </a:r>
                      <a:r>
                        <a:rPr lang="pt-PT" sz="1600" spc="-3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Gomes</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3455-9098</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1083926458"/>
                  </a:ext>
                </a:extLst>
              </a:tr>
              <a:tr h="687230">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765456243-45</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João</a:t>
                      </a:r>
                      <a:r>
                        <a:rPr lang="pt-PT" sz="1600"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Pontes</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3124-5645</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1769747985"/>
                  </a:ext>
                </a:extLst>
              </a:tr>
              <a:tr h="687230">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987675456-98</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Ana</a:t>
                      </a:r>
                      <a:r>
                        <a:rPr lang="pt-PT" sz="1600" spc="-1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Marques</a:t>
                      </a:r>
                      <a:endParaRPr lang="pt-BR" sz="16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3245-8976</a:t>
                      </a:r>
                      <a:endParaRPr lang="pt-B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2470118807"/>
                  </a:ext>
                </a:extLst>
              </a:tr>
            </a:tbl>
          </a:graphicData>
        </a:graphic>
      </p:graphicFrame>
    </p:spTree>
    <p:extLst>
      <p:ext uri="{BB962C8B-B14F-4D97-AF65-F5344CB8AC3E}">
        <p14:creationId xmlns:p14="http://schemas.microsoft.com/office/powerpoint/2010/main" val="372253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3E59AA-B614-60DA-045E-F26D92D523B1}"/>
              </a:ext>
            </a:extLst>
          </p:cNvPr>
          <p:cNvSpPr>
            <a:spLocks noGrp="1"/>
          </p:cNvSpPr>
          <p:nvPr>
            <p:ph type="title"/>
          </p:nvPr>
        </p:nvSpPr>
        <p:spPr/>
        <p:txBody>
          <a:bodyPr/>
          <a:lstStyle/>
          <a:p>
            <a:r>
              <a:rPr lang="pt-BR" dirty="0"/>
              <a:t>Tabela 03 (projeto)</a:t>
            </a:r>
          </a:p>
        </p:txBody>
      </p:sp>
      <p:graphicFrame>
        <p:nvGraphicFramePr>
          <p:cNvPr id="5" name="Tabela 4">
            <a:extLst>
              <a:ext uri="{FF2B5EF4-FFF2-40B4-BE49-F238E27FC236}">
                <a16:creationId xmlns:a16="http://schemas.microsoft.com/office/drawing/2014/main" id="{2B8FC84E-9259-1D81-95DF-E33CB8E1AEF5}"/>
              </a:ext>
            </a:extLst>
          </p:cNvPr>
          <p:cNvGraphicFramePr>
            <a:graphicFrameLocks noGrp="1"/>
          </p:cNvGraphicFramePr>
          <p:nvPr>
            <p:extLst>
              <p:ext uri="{D42A27DB-BD31-4B8C-83A1-F6EECF244321}">
                <p14:modId xmlns:p14="http://schemas.microsoft.com/office/powerpoint/2010/main" val="2940621991"/>
              </p:ext>
            </p:extLst>
          </p:nvPr>
        </p:nvGraphicFramePr>
        <p:xfrm>
          <a:off x="3024554" y="2307101"/>
          <a:ext cx="5556738" cy="2841672"/>
        </p:xfrm>
        <a:graphic>
          <a:graphicData uri="http://schemas.openxmlformats.org/drawingml/2006/table">
            <a:tbl>
              <a:tblPr firstRow="1" firstCol="1" lastRow="1" lastCol="1" bandRow="1" bandCol="1"/>
              <a:tblGrid>
                <a:gridCol w="2778369">
                  <a:extLst>
                    <a:ext uri="{9D8B030D-6E8A-4147-A177-3AD203B41FA5}">
                      <a16:colId xmlns:a16="http://schemas.microsoft.com/office/drawing/2014/main" val="259606013"/>
                    </a:ext>
                  </a:extLst>
                </a:gridCol>
                <a:gridCol w="2778369">
                  <a:extLst>
                    <a:ext uri="{9D8B030D-6E8A-4147-A177-3AD203B41FA5}">
                      <a16:colId xmlns:a16="http://schemas.microsoft.com/office/drawing/2014/main" val="578821838"/>
                    </a:ext>
                  </a:extLst>
                </a:gridCol>
              </a:tblGrid>
              <a:tr h="710418">
                <a:tc>
                  <a:txBody>
                    <a:bodyPr/>
                    <a:lstStyle/>
                    <a:p>
                      <a:pPr marL="130810" marR="118110" algn="ctr">
                        <a:spcBef>
                          <a:spcPts val="625"/>
                        </a:spcBef>
                        <a:spcAft>
                          <a:spcPts val="0"/>
                        </a:spcAft>
                      </a:pPr>
                      <a:r>
                        <a:rPr lang="pt-PT" sz="2400" b="1" u="sng" dirty="0" err="1">
                          <a:solidFill>
                            <a:srgbClr val="FFFFFF"/>
                          </a:solidFill>
                          <a:effectLst/>
                          <a:uFill>
                            <a:solidFill>
                              <a:srgbClr val="FFFFFF"/>
                            </a:solidFill>
                          </a:uFill>
                          <a:latin typeface="Calibri" panose="020F0502020204030204" pitchFamily="34" charset="0"/>
                          <a:ea typeface="Calibri" panose="020F0502020204030204" pitchFamily="34" charset="0"/>
                          <a:cs typeface="Times New Roman" panose="02020603050405020304" pitchFamily="18" charset="0"/>
                        </a:rPr>
                        <a:t>Cod_projeto</a:t>
                      </a:r>
                      <a:r>
                        <a:rPr lang="pt-PT" sz="2400" b="1" spc="-25"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(PK)</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24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Nome</a:t>
                      </a:r>
                      <a:r>
                        <a:rPr lang="pt-PT" sz="2400" b="1" spc="-2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Projeto</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180174761"/>
                  </a:ext>
                </a:extLst>
              </a:tr>
              <a:tr h="710418">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001</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810"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SOFTHOUSE</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3627641156"/>
                  </a:ext>
                </a:extLst>
              </a:tr>
              <a:tr h="710418">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002</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GEOPROC</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2201626618"/>
                  </a:ext>
                </a:extLst>
              </a:tr>
              <a:tr h="710418">
                <a:tc>
                  <a:txBody>
                    <a:bodyPr/>
                    <a:lstStyle/>
                    <a:p>
                      <a:pPr marL="130810" marR="118110" algn="ctr">
                        <a:spcBef>
                          <a:spcPts val="625"/>
                        </a:spcBef>
                        <a:spcAft>
                          <a:spcPts val="0"/>
                        </a:spcAft>
                      </a:pPr>
                      <a:r>
                        <a:rPr lang="pt-PT"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003</a:t>
                      </a:r>
                      <a:endParaRPr lang="pt-BR"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0175" marR="118110" algn="ctr">
                        <a:spcBef>
                          <a:spcPts val="625"/>
                        </a:spcBef>
                        <a:spcAft>
                          <a:spcPts val="0"/>
                        </a:spcAft>
                      </a:pP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LINUX</a:t>
                      </a:r>
                      <a:r>
                        <a:rPr lang="pt-PT" sz="2400" spc="-3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pt-PT"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WORLD</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468809658"/>
                  </a:ext>
                </a:extLst>
              </a:tr>
            </a:tbl>
          </a:graphicData>
        </a:graphic>
      </p:graphicFrame>
      <p:sp>
        <p:nvSpPr>
          <p:cNvPr id="4" name="Espaço Reservado para Conteúdo 3">
            <a:extLst>
              <a:ext uri="{FF2B5EF4-FFF2-40B4-BE49-F238E27FC236}">
                <a16:creationId xmlns:a16="http://schemas.microsoft.com/office/drawing/2014/main" id="{6A5C215A-E9F2-1C1A-4B3A-3ED4A51F4CCB}"/>
              </a:ext>
            </a:extLst>
          </p:cNvPr>
          <p:cNvSpPr>
            <a:spLocks noGrp="1"/>
          </p:cNvSpPr>
          <p:nvPr>
            <p:ph/>
          </p:nvPr>
        </p:nvSpPr>
        <p:spPr/>
        <p:txBody>
          <a:bodyPr/>
          <a:lstStyle/>
          <a:p>
            <a:endParaRPr lang="pt-BR" dirty="0"/>
          </a:p>
        </p:txBody>
      </p:sp>
    </p:spTree>
    <p:extLst>
      <p:ext uri="{BB962C8B-B14F-4D97-AF65-F5344CB8AC3E}">
        <p14:creationId xmlns:p14="http://schemas.microsoft.com/office/powerpoint/2010/main" val="438533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pt-BR" dirty="0"/>
              <a:t>Regras de Integridade Fundamentais</a:t>
            </a:r>
          </a:p>
        </p:txBody>
      </p:sp>
      <p:sp>
        <p:nvSpPr>
          <p:cNvPr id="112" name="PlaceHolder 2"/>
          <p:cNvSpPr>
            <a:spLocks noGrp="1"/>
          </p:cNvSpPr>
          <p:nvPr>
            <p:ph/>
          </p:nvPr>
        </p:nvSpPr>
        <p:spPr>
          <a:xfrm>
            <a:off x="838080" y="1825560"/>
            <a:ext cx="10515240" cy="4350960"/>
          </a:xfrm>
          <a:prstGeom prst="rect">
            <a:avLst/>
          </a:prstGeom>
          <a:noFill/>
          <a:ln w="0">
            <a:noFill/>
          </a:ln>
        </p:spPr>
        <p:txBody>
          <a:bodyPr anchor="t">
            <a:normAutofit fontScale="94500"/>
          </a:bodyPr>
          <a:lstStyle/>
          <a:p>
            <a:pPr marL="228600" indent="-228600">
              <a:lnSpc>
                <a:spcPct val="90000"/>
              </a:lnSpc>
              <a:spcBef>
                <a:spcPts val="1001"/>
              </a:spcBef>
              <a:buClr>
                <a:srgbClr val="000000"/>
              </a:buClr>
              <a:buFont typeface="Arial"/>
              <a:buChar char="•"/>
            </a:pPr>
            <a:r>
              <a:rPr lang="pt-BR" dirty="0"/>
              <a:t>O modelo relacional, ao definir conceitos como Tabela, Tupla, Atributo, Nulo, Domínio, Chave Primária e Chave Estrangeira deixa implícitas algumas regras fundamentais para a manutenção da </a:t>
            </a:r>
            <a:r>
              <a:rPr lang="pt-BR" b="1" dirty="0">
                <a:solidFill>
                  <a:srgbClr val="FF0000"/>
                </a:solidFill>
              </a:rPr>
              <a:t>consistência do banco de dados</a:t>
            </a:r>
            <a:r>
              <a:rPr lang="pt-BR" dirty="0"/>
              <a:t>. </a:t>
            </a:r>
          </a:p>
          <a:p>
            <a:pPr marL="228600" indent="-228600">
              <a:lnSpc>
                <a:spcPct val="90000"/>
              </a:lnSpc>
              <a:spcBef>
                <a:spcPts val="1001"/>
              </a:spcBef>
              <a:buClr>
                <a:srgbClr val="000000"/>
              </a:buClr>
              <a:buFont typeface="Arial"/>
              <a:buChar char="•"/>
            </a:pPr>
            <a:r>
              <a:rPr lang="pt-BR" dirty="0"/>
              <a:t>Elas são chamadas de </a:t>
            </a:r>
            <a:r>
              <a:rPr lang="pt-BR" b="1" dirty="0">
                <a:solidFill>
                  <a:srgbClr val="FF0000"/>
                </a:solidFill>
              </a:rPr>
              <a:t>Regras de Integridade </a:t>
            </a:r>
            <a:r>
              <a:rPr lang="pt-BR" dirty="0"/>
              <a:t>e tratam dos cuidados que analistas, projetistas e programadores devem observar ao implementar as rotinas de Inclusão, Alteração e Exclusão de dados nas bases de dados.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r>
              <a:rPr lang="pt-BR" dirty="0"/>
              <a:t>Regras de Integridade Fundamentais</a:t>
            </a:r>
          </a:p>
        </p:txBody>
      </p:sp>
      <p:sp>
        <p:nvSpPr>
          <p:cNvPr id="114" name="PlaceHolder 2"/>
          <p:cNvSpPr>
            <a:spLocks noGrp="1"/>
          </p:cNvSpPr>
          <p:nvPr>
            <p:ph/>
          </p:nvPr>
        </p:nvSpPr>
        <p:spPr>
          <a:xfrm>
            <a:off x="838080" y="1825560"/>
            <a:ext cx="10515240" cy="4350960"/>
          </a:xfrm>
          <a:prstGeom prst="rect">
            <a:avLst/>
          </a:prstGeom>
          <a:noFill/>
          <a:ln w="0">
            <a:noFill/>
          </a:ln>
        </p:spPr>
        <p:txBody>
          <a:bodyPr anchor="t">
            <a:normAutofit fontScale="94000"/>
          </a:bodyPr>
          <a:lstStyle/>
          <a:p>
            <a:pPr marL="228600" indent="-228600">
              <a:lnSpc>
                <a:spcPct val="90000"/>
              </a:lnSpc>
              <a:spcBef>
                <a:spcPts val="1001"/>
              </a:spcBef>
              <a:buClr>
                <a:srgbClr val="000000"/>
              </a:buClr>
              <a:buFont typeface="Arial"/>
              <a:buChar char="•"/>
            </a:pPr>
            <a:r>
              <a:rPr lang="pt-BR" dirty="0"/>
              <a:t>Na prática, as restrições de integridade fornecem meios para assegurar que mudanças feitas no banco de dados não resultem na perda da consistência sobre estes dados.</a:t>
            </a:r>
          </a:p>
          <a:p>
            <a:pPr marL="228600" indent="-228600">
              <a:lnSpc>
                <a:spcPct val="90000"/>
              </a:lnSpc>
              <a:spcBef>
                <a:spcPts val="1001"/>
              </a:spcBef>
              <a:buClr>
                <a:srgbClr val="000000"/>
              </a:buClr>
              <a:buFont typeface="Arial"/>
              <a:buChar char="•"/>
            </a:pPr>
            <a:r>
              <a:rPr lang="pt-BR" dirty="0"/>
              <a:t>Vamos ver agora dois dos principais tipos de integridade a serem mantidas em um banco de dados adequadamente projetado: a Integridade de Entidade e a Integridade Referencial. </a:t>
            </a:r>
          </a:p>
          <a:p>
            <a:pPr marL="228600" indent="-228600">
              <a:lnSpc>
                <a:spcPct val="90000"/>
              </a:lnSpc>
              <a:spcBef>
                <a:spcPts val="1001"/>
              </a:spcBef>
              <a:buClr>
                <a:srgbClr val="000000"/>
              </a:buClr>
              <a:buFont typeface="Arial"/>
              <a:buChar char="•"/>
            </a:pPr>
            <a:r>
              <a:rPr lang="pt-BR" dirty="0"/>
              <a:t>Posteriormente, discutiremos regras de integridade complementares e regras de integridade semântica.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238430"/>
            <a:ext cx="10515240" cy="591563"/>
          </a:xfrm>
          <a:prstGeom prst="rect">
            <a:avLst/>
          </a:prstGeom>
          <a:noFill/>
          <a:ln w="0">
            <a:noFill/>
          </a:ln>
        </p:spPr>
        <p:txBody>
          <a:bodyPr anchor="ctr">
            <a:noAutofit/>
          </a:bodyPr>
          <a:lstStyle/>
          <a:p>
            <a:pPr>
              <a:lnSpc>
                <a:spcPct val="90000"/>
              </a:lnSpc>
              <a:buNone/>
            </a:pPr>
            <a:r>
              <a:rPr lang="pt-BR" sz="3200" dirty="0"/>
              <a:t>Integridade de Entidade (ou de Identidade ou Existencial)</a:t>
            </a:r>
          </a:p>
        </p:txBody>
      </p:sp>
      <p:sp>
        <p:nvSpPr>
          <p:cNvPr id="116" name="PlaceHolder 2"/>
          <p:cNvSpPr>
            <a:spLocks noGrp="1"/>
          </p:cNvSpPr>
          <p:nvPr>
            <p:ph/>
          </p:nvPr>
        </p:nvSpPr>
        <p:spPr>
          <a:xfrm>
            <a:off x="838080" y="985839"/>
            <a:ext cx="10515240" cy="5633731"/>
          </a:xfrm>
          <a:prstGeom prst="rect">
            <a:avLst/>
          </a:prstGeom>
          <a:noFill/>
          <a:ln w="0">
            <a:noFill/>
          </a:ln>
        </p:spPr>
        <p:txBody>
          <a:bodyPr anchor="t">
            <a:noAutofit/>
          </a:bodyPr>
          <a:lstStyle/>
          <a:p>
            <a:pPr>
              <a:lnSpc>
                <a:spcPct val="90000"/>
              </a:lnSpc>
              <a:spcBef>
                <a:spcPts val="1417"/>
              </a:spcBef>
              <a:buNone/>
            </a:pPr>
            <a:r>
              <a:rPr lang="pt-BR" dirty="0"/>
              <a:t>Refere-se às chaves primárias e procura garantir que toda e qualquer linha de uma tabela </a:t>
            </a:r>
            <a:r>
              <a:rPr lang="pt-BR" b="1" dirty="0">
                <a:solidFill>
                  <a:srgbClr val="FF0000"/>
                </a:solidFill>
              </a:rPr>
              <a:t>deve poder ser acessada com base apenas no conteúdo de sua chave primária. </a:t>
            </a:r>
            <a:r>
              <a:rPr lang="pt-BR" dirty="0"/>
              <a:t>Para isso, algumas regras devem ser observadas:</a:t>
            </a:r>
          </a:p>
          <a:p>
            <a:pPr>
              <a:lnSpc>
                <a:spcPct val="90000"/>
              </a:lnSpc>
              <a:spcBef>
                <a:spcPts val="1417"/>
              </a:spcBef>
              <a:buNone/>
            </a:pPr>
            <a:r>
              <a:rPr lang="pt-BR" dirty="0"/>
              <a:t>» Toda tupla tem um conjunto de atributos que a identifica de maneira única na relação (Integridade de Chave).</a:t>
            </a:r>
          </a:p>
          <a:p>
            <a:pPr>
              <a:lnSpc>
                <a:spcPct val="90000"/>
              </a:lnSpc>
              <a:spcBef>
                <a:spcPts val="1417"/>
              </a:spcBef>
              <a:buNone/>
            </a:pPr>
            <a:r>
              <a:rPr lang="pt-BR" dirty="0"/>
              <a:t>» Nenhum atributo que faça parte de uma chave primária pode ter valor nulo (eles devem ser </a:t>
            </a:r>
            <a:r>
              <a:rPr lang="pt-BR" b="1" dirty="0">
                <a:solidFill>
                  <a:srgbClr val="FF0000"/>
                </a:solidFill>
              </a:rPr>
              <a:t>NN = </a:t>
            </a:r>
            <a:r>
              <a:rPr lang="pt-BR" b="1" dirty="0" err="1">
                <a:solidFill>
                  <a:srgbClr val="FF0000"/>
                </a:solidFill>
              </a:rPr>
              <a:t>not</a:t>
            </a:r>
            <a:r>
              <a:rPr lang="pt-BR" b="1" dirty="0">
                <a:solidFill>
                  <a:srgbClr val="FF0000"/>
                </a:solidFill>
              </a:rPr>
              <a:t> </a:t>
            </a:r>
            <a:r>
              <a:rPr lang="pt-BR" b="1" dirty="0" err="1">
                <a:solidFill>
                  <a:srgbClr val="FF0000"/>
                </a:solidFill>
              </a:rPr>
              <a:t>null</a:t>
            </a:r>
            <a:r>
              <a:rPr lang="pt-BR" dirty="0"/>
              <a:t>).</a:t>
            </a:r>
          </a:p>
          <a:p>
            <a:pPr>
              <a:lnSpc>
                <a:spcPct val="90000"/>
              </a:lnSpc>
              <a:spcBef>
                <a:spcPts val="1417"/>
              </a:spcBef>
              <a:buNone/>
            </a:pPr>
            <a:r>
              <a:rPr lang="pt-BR" dirty="0"/>
              <a:t>» Não se deve permitir que em uma mesma tabela existam duas ocorrências (tuplas) com </a:t>
            </a:r>
            <a:r>
              <a:rPr lang="pt-BR" b="1" dirty="0">
                <a:solidFill>
                  <a:srgbClr val="FF0000"/>
                </a:solidFill>
              </a:rPr>
              <a:t>chaves primárias iguais</a:t>
            </a:r>
            <a:r>
              <a:rPr lang="pt-BR" dirty="0"/>
              <a:t>. </a:t>
            </a:r>
          </a:p>
          <a:p>
            <a:pPr>
              <a:lnSpc>
                <a:spcPct val="90000"/>
              </a:lnSpc>
              <a:spcBef>
                <a:spcPts val="1417"/>
              </a:spcBef>
              <a:buNone/>
            </a:pPr>
            <a:r>
              <a:rPr lang="pt-BR" dirty="0"/>
              <a:t>Ou seja, os atributos que são chave primária devem ser únicos (ND = No </a:t>
            </a:r>
            <a:r>
              <a:rPr lang="pt-BR" dirty="0" err="1"/>
              <a:t>Duplicate</a:t>
            </a:r>
            <a:r>
              <a:rPr lang="pt-BR" dirty="0"/>
              <a:t> ou Unique).</a:t>
            </a:r>
          </a:p>
          <a:p>
            <a:pPr>
              <a:lnSpc>
                <a:spcPct val="90000"/>
              </a:lnSpc>
              <a:spcBef>
                <a:spcPts val="1417"/>
              </a:spcBef>
              <a:buNone/>
            </a:pPr>
            <a:endParaRPr lang="pt-BR" sz="2800" b="0" strike="noStrike" spc="-1" dirty="0">
              <a:solidFill>
                <a:srgbClr val="000000"/>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97B4C-60FD-F5D2-EA9D-2990D83CCAD8}"/>
              </a:ext>
            </a:extLst>
          </p:cNvPr>
          <p:cNvSpPr>
            <a:spLocks noGrp="1"/>
          </p:cNvSpPr>
          <p:nvPr>
            <p:ph type="title"/>
          </p:nvPr>
        </p:nvSpPr>
        <p:spPr>
          <a:xfrm>
            <a:off x="838380" y="174323"/>
            <a:ext cx="10515240" cy="507157"/>
          </a:xfrm>
        </p:spPr>
        <p:txBody>
          <a:bodyPr/>
          <a:lstStyle/>
          <a:p>
            <a:r>
              <a:rPr lang="pt-BR" dirty="0" err="1"/>
              <a:t>Null</a:t>
            </a:r>
            <a:r>
              <a:rPr lang="pt-BR" dirty="0"/>
              <a:t> e </a:t>
            </a:r>
            <a:r>
              <a:rPr lang="pt-BR" dirty="0" err="1"/>
              <a:t>not</a:t>
            </a:r>
            <a:r>
              <a:rPr lang="pt-BR" dirty="0"/>
              <a:t> </a:t>
            </a:r>
            <a:r>
              <a:rPr lang="pt-BR" dirty="0" err="1"/>
              <a:t>null</a:t>
            </a:r>
            <a:endParaRPr lang="pt-BR" dirty="0"/>
          </a:p>
        </p:txBody>
      </p:sp>
      <p:sp>
        <p:nvSpPr>
          <p:cNvPr id="3" name="Subtítulo 2">
            <a:extLst>
              <a:ext uri="{FF2B5EF4-FFF2-40B4-BE49-F238E27FC236}">
                <a16:creationId xmlns:a16="http://schemas.microsoft.com/office/drawing/2014/main" id="{F3728153-2498-6B85-8892-E7BC5629C4D9}"/>
              </a:ext>
            </a:extLst>
          </p:cNvPr>
          <p:cNvSpPr>
            <a:spLocks noGrp="1"/>
          </p:cNvSpPr>
          <p:nvPr>
            <p:ph/>
          </p:nvPr>
        </p:nvSpPr>
        <p:spPr>
          <a:xfrm>
            <a:off x="838080" y="1477108"/>
            <a:ext cx="10515240" cy="4699412"/>
          </a:xfrm>
        </p:spPr>
        <p:txBody>
          <a:bodyPr/>
          <a:lstStyle/>
          <a:p>
            <a:r>
              <a:rPr lang="pt-BR" sz="1800" dirty="0"/>
              <a:t>Campo definido como NULL, significa dizer que esse campo pode ficar nulo, ou seja, não é obrigatório possuir nenhum valor. Já um campo definido como NOT NULL precisa de algum valor na coluna, mesmo que seja um valor vazio como um "".</a:t>
            </a:r>
          </a:p>
          <a:p>
            <a:endParaRPr lang="pt-BR" sz="1800" dirty="0"/>
          </a:p>
          <a:p>
            <a:r>
              <a:rPr lang="pt-BR" sz="1800" dirty="0"/>
              <a:t>Assim, você precisa ver suas necessidades, geralmente o que acontece quando estamos criando a estrutura do banco de dados é que colocamos o NOT NULL nas colunas essenciais para a tabelas, as colunas que não podem de forma alguma serem armazenadas sem um valor definido pra ela. Já o NULL indicamos apenas quando temos campos opcionais, onde não fazem muita diferença ter esse campo ou não ter.</a:t>
            </a:r>
          </a:p>
          <a:p>
            <a:endParaRPr lang="pt-BR" sz="1800" dirty="0"/>
          </a:p>
          <a:p>
            <a:r>
              <a:rPr lang="pt-BR" sz="1800" dirty="0"/>
              <a:t>Sobre quais os erros que podemos ter: Se tentarmos inserir um registro (uma linha completa, com todos os campos da tabela), e não informarmos um valor (nem que seja ""), teremos uma erro de violação. Já usando o NULL não teremos erros já que não precisamos indicar campos nulos, podemos simplesmente ignorá-los.</a:t>
            </a:r>
          </a:p>
        </p:txBody>
      </p:sp>
    </p:spTree>
    <p:extLst>
      <p:ext uri="{BB962C8B-B14F-4D97-AF65-F5344CB8AC3E}">
        <p14:creationId xmlns:p14="http://schemas.microsoft.com/office/powerpoint/2010/main" val="1113477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r>
              <a:rPr lang="pt-BR" dirty="0"/>
              <a:t>Recomendações</a:t>
            </a:r>
          </a:p>
        </p:txBody>
      </p:sp>
      <p:sp>
        <p:nvSpPr>
          <p:cNvPr id="118" name="PlaceHolder 2"/>
          <p:cNvSpPr>
            <a:spLocks noGrp="1"/>
          </p:cNvSpPr>
          <p:nvPr>
            <p:ph/>
          </p:nvPr>
        </p:nvSpPr>
        <p:spPr>
          <a:xfrm>
            <a:off x="838080" y="1825560"/>
            <a:ext cx="10515240" cy="4350960"/>
          </a:xfrm>
          <a:prstGeom prst="rect">
            <a:avLst/>
          </a:prstGeom>
          <a:noFill/>
          <a:ln w="0">
            <a:noFill/>
          </a:ln>
        </p:spPr>
        <p:txBody>
          <a:bodyPr anchor="t">
            <a:noAutofit/>
          </a:bodyPr>
          <a:lstStyle/>
          <a:p>
            <a:pPr>
              <a:lnSpc>
                <a:spcPct val="90000"/>
              </a:lnSpc>
              <a:spcBef>
                <a:spcPts val="1417"/>
              </a:spcBef>
              <a:buNone/>
            </a:pPr>
            <a:r>
              <a:rPr lang="pt-BR" b="1" dirty="0">
                <a:solidFill>
                  <a:srgbClr val="FF0000"/>
                </a:solidFill>
              </a:rPr>
              <a:t>Selecione chaves primárias que realmente tenham preenchimento único no domínio do problema.</a:t>
            </a:r>
          </a:p>
          <a:p>
            <a:pPr>
              <a:lnSpc>
                <a:spcPct val="90000"/>
              </a:lnSpc>
              <a:spcBef>
                <a:spcPts val="1417"/>
              </a:spcBef>
              <a:buNone/>
            </a:pPr>
            <a:r>
              <a:rPr lang="pt-BR" dirty="0"/>
              <a:t>»	Se possível, prefira chaves primárias simples e numéricas.</a:t>
            </a:r>
          </a:p>
          <a:p>
            <a:pPr>
              <a:lnSpc>
                <a:spcPct val="90000"/>
              </a:lnSpc>
              <a:spcBef>
                <a:spcPts val="1417"/>
              </a:spcBef>
              <a:buNone/>
            </a:pPr>
            <a:r>
              <a:rPr lang="pt-BR" dirty="0"/>
              <a:t>» Se não houver nenhuma coluna que possa ser uma chave candidata, utilize chaves primárias sequenciais, geralmente, atribuídas pelo sistema.</a:t>
            </a:r>
          </a:p>
          <a:p>
            <a:pPr>
              <a:lnSpc>
                <a:spcPct val="90000"/>
              </a:lnSpc>
              <a:spcBef>
                <a:spcPts val="1417"/>
              </a:spcBef>
              <a:buNone/>
            </a:pPr>
            <a:endParaRPr lang="pt-BR" sz="2800" b="0" strike="noStrike" spc="-1" dirty="0">
              <a:solidFill>
                <a:srgbClr val="000000"/>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r>
              <a:rPr lang="pt-BR" dirty="0"/>
              <a:t>Integridade Referencial</a:t>
            </a:r>
          </a:p>
        </p:txBody>
      </p:sp>
      <p:sp>
        <p:nvSpPr>
          <p:cNvPr id="120" name="PlaceHolder 2"/>
          <p:cNvSpPr>
            <a:spLocks noGrp="1"/>
          </p:cNvSpPr>
          <p:nvPr>
            <p:ph/>
          </p:nvPr>
        </p:nvSpPr>
        <p:spPr>
          <a:xfrm>
            <a:off x="838080" y="1825560"/>
            <a:ext cx="10515240" cy="4350960"/>
          </a:xfrm>
          <a:prstGeom prst="rect">
            <a:avLst/>
          </a:prstGeom>
          <a:noFill/>
          <a:ln w="0">
            <a:noFill/>
          </a:ln>
        </p:spPr>
        <p:txBody>
          <a:bodyPr anchor="t">
            <a:noAutofit/>
          </a:bodyPr>
          <a:lstStyle/>
          <a:p>
            <a:pPr>
              <a:lnSpc>
                <a:spcPct val="90000"/>
              </a:lnSpc>
              <a:spcBef>
                <a:spcPts val="1417"/>
              </a:spcBef>
              <a:buNone/>
            </a:pPr>
            <a:r>
              <a:rPr lang="pt-BR" dirty="0"/>
              <a:t>Diz respeito às chaves estrangeiras e visa manter a integridade dos relacionamentos previstos no banco de dados. </a:t>
            </a:r>
          </a:p>
          <a:p>
            <a:pPr>
              <a:lnSpc>
                <a:spcPct val="90000"/>
              </a:lnSpc>
              <a:spcBef>
                <a:spcPts val="1417"/>
              </a:spcBef>
              <a:buNone/>
            </a:pPr>
            <a:r>
              <a:rPr lang="pt-BR" dirty="0"/>
              <a:t>Ou seja, a integridade referencial cuida para que uma relação possa ter um conjunto de atributos que contém valores com mesmo domínio de um conjunto de atributos que forma a chave primária de outra relação. </a:t>
            </a:r>
          </a:p>
          <a:p>
            <a:pPr>
              <a:lnSpc>
                <a:spcPct val="90000"/>
              </a:lnSpc>
              <a:spcBef>
                <a:spcPts val="1417"/>
              </a:spcBef>
              <a:buNone/>
            </a:pPr>
            <a:r>
              <a:rPr lang="pt-BR" dirty="0"/>
              <a:t>Este conjunto é chamado chave estrangeira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D3A9F-3018-6DBB-6D19-968E060CE306}"/>
              </a:ext>
            </a:extLst>
          </p:cNvPr>
          <p:cNvSpPr>
            <a:spLocks noGrp="1"/>
          </p:cNvSpPr>
          <p:nvPr>
            <p:ph type="title"/>
          </p:nvPr>
        </p:nvSpPr>
        <p:spPr>
          <a:xfrm>
            <a:off x="838080" y="111822"/>
            <a:ext cx="10515240" cy="464954"/>
          </a:xfrm>
        </p:spPr>
        <p:txBody>
          <a:bodyPr/>
          <a:lstStyle/>
          <a:p>
            <a:r>
              <a:rPr lang="pt-BR" dirty="0"/>
              <a:t>Integridade Referencial</a:t>
            </a:r>
          </a:p>
        </p:txBody>
      </p:sp>
      <p:sp>
        <p:nvSpPr>
          <p:cNvPr id="3" name="Subtítulo 2">
            <a:extLst>
              <a:ext uri="{FF2B5EF4-FFF2-40B4-BE49-F238E27FC236}">
                <a16:creationId xmlns:a16="http://schemas.microsoft.com/office/drawing/2014/main" id="{536B41F4-F088-CC11-EBF6-774056E2B92A}"/>
              </a:ext>
            </a:extLst>
          </p:cNvPr>
          <p:cNvSpPr>
            <a:spLocks noGrp="1"/>
          </p:cNvSpPr>
          <p:nvPr>
            <p:ph/>
          </p:nvPr>
        </p:nvSpPr>
        <p:spPr>
          <a:xfrm>
            <a:off x="838080" y="1336431"/>
            <a:ext cx="10515240" cy="4840089"/>
          </a:xfrm>
        </p:spPr>
        <p:txBody>
          <a:bodyPr>
            <a:normAutofit fontScale="32500" lnSpcReduction="20000"/>
          </a:bodyPr>
          <a:lstStyle/>
          <a:p>
            <a:endParaRPr lang="pt-BR" sz="2400" dirty="0"/>
          </a:p>
          <a:p>
            <a:endParaRPr lang="pt-BR" sz="2400" dirty="0"/>
          </a:p>
          <a:p>
            <a:r>
              <a:rPr lang="pt-BR" sz="11200" dirty="0"/>
              <a:t>Na definição dos cuidados referentes a esse tipo de integridade, utilizaremos dois conceitos:</a:t>
            </a:r>
          </a:p>
          <a:p>
            <a:endParaRPr lang="pt-BR" sz="11200" dirty="0"/>
          </a:p>
          <a:p>
            <a:r>
              <a:rPr lang="pt-BR" sz="11200" dirty="0"/>
              <a:t>»   Tabela-Pai (</a:t>
            </a:r>
            <a:r>
              <a:rPr lang="pt-BR" sz="11200" dirty="0" err="1"/>
              <a:t>Parent</a:t>
            </a:r>
            <a:r>
              <a:rPr lang="pt-BR" sz="11200" dirty="0"/>
              <a:t> </a:t>
            </a:r>
            <a:r>
              <a:rPr lang="pt-BR" sz="11200" dirty="0" err="1"/>
              <a:t>Table</a:t>
            </a:r>
            <a:r>
              <a:rPr lang="pt-BR" sz="11200" dirty="0"/>
              <a:t>): é aquela onde o atributo de relacionamento desempenha o papel de chave primária.</a:t>
            </a:r>
          </a:p>
          <a:p>
            <a:r>
              <a:rPr lang="pt-BR" sz="11200" dirty="0"/>
              <a:t>» Tabela-Filho (</a:t>
            </a:r>
            <a:r>
              <a:rPr lang="pt-BR" sz="11200" dirty="0" err="1"/>
              <a:t>Dependent</a:t>
            </a:r>
            <a:r>
              <a:rPr lang="pt-BR" sz="11200" dirty="0"/>
              <a:t> </a:t>
            </a:r>
            <a:r>
              <a:rPr lang="pt-BR" sz="11200" dirty="0" err="1"/>
              <a:t>Table</a:t>
            </a:r>
            <a:r>
              <a:rPr lang="pt-BR" sz="11200" dirty="0"/>
              <a:t>): tabela onde o atributo de relacionamento desempenha o papel de chave estrangeira</a:t>
            </a:r>
          </a:p>
          <a:p>
            <a:endParaRPr lang="pt-BR" dirty="0"/>
          </a:p>
        </p:txBody>
      </p:sp>
    </p:spTree>
    <p:extLst>
      <p:ext uri="{BB962C8B-B14F-4D97-AF65-F5344CB8AC3E}">
        <p14:creationId xmlns:p14="http://schemas.microsoft.com/office/powerpoint/2010/main" val="2144099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3CC5005D-DC77-3366-7224-0CA8F19089B4}"/>
              </a:ext>
            </a:extLst>
          </p:cNvPr>
          <p:cNvSpPr>
            <a:spLocks noGrp="1"/>
          </p:cNvSpPr>
          <p:nvPr>
            <p:ph/>
          </p:nvPr>
        </p:nvSpPr>
        <p:spPr>
          <a:xfrm>
            <a:off x="838080" y="1485900"/>
            <a:ext cx="10515240" cy="4690620"/>
          </a:xfrm>
        </p:spPr>
        <p:txBody>
          <a:bodyPr/>
          <a:lstStyle/>
          <a:p>
            <a:endParaRPr lang="pt-BR" dirty="0"/>
          </a:p>
          <a:p>
            <a:r>
              <a:rPr lang="pt-BR" sz="3600" dirty="0"/>
              <a:t>Para manter a integridade referencial, a regra básica é: o conteúdo de uma chave estrangeira deve, necessariamente, ser igual ao de uma ocorrência da Tabela-Pai ou então ser nulo. </a:t>
            </a:r>
          </a:p>
          <a:p>
            <a:r>
              <a:rPr lang="pt-BR" sz="3600" dirty="0"/>
              <a:t>Vale ressaltar que o valor da chave estrangeira só poderá ser nulo na Tabela-Filho, se o atributo que for chave estrangeira não fizer parte da chave primária da Tabela-Filho.</a:t>
            </a:r>
          </a:p>
        </p:txBody>
      </p:sp>
      <p:sp>
        <p:nvSpPr>
          <p:cNvPr id="4" name="Título 3">
            <a:extLst>
              <a:ext uri="{FF2B5EF4-FFF2-40B4-BE49-F238E27FC236}">
                <a16:creationId xmlns:a16="http://schemas.microsoft.com/office/drawing/2014/main" id="{B1D3144E-969F-6B41-D73A-93E4EC0819AE}"/>
              </a:ext>
            </a:extLst>
          </p:cNvPr>
          <p:cNvSpPr>
            <a:spLocks noGrp="1"/>
          </p:cNvSpPr>
          <p:nvPr>
            <p:ph type="title"/>
          </p:nvPr>
        </p:nvSpPr>
        <p:spPr>
          <a:xfrm>
            <a:off x="838380" y="138555"/>
            <a:ext cx="10515240" cy="542925"/>
          </a:xfrm>
        </p:spPr>
        <p:txBody>
          <a:bodyPr/>
          <a:lstStyle/>
          <a:p>
            <a:r>
              <a:rPr lang="pt-BR" dirty="0"/>
              <a:t>Resumindo</a:t>
            </a:r>
          </a:p>
        </p:txBody>
      </p:sp>
    </p:spTree>
    <p:extLst>
      <p:ext uri="{BB962C8B-B14F-4D97-AF65-F5344CB8AC3E}">
        <p14:creationId xmlns:p14="http://schemas.microsoft.com/office/powerpoint/2010/main" val="3324091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84969CE-2E4E-91BB-8451-95B022C8DD91}"/>
              </a:ext>
            </a:extLst>
          </p:cNvPr>
          <p:cNvSpPr>
            <a:spLocks noGrp="1"/>
          </p:cNvSpPr>
          <p:nvPr>
            <p:ph type="title"/>
          </p:nvPr>
        </p:nvSpPr>
        <p:spPr>
          <a:xfrm>
            <a:off x="838380" y="202458"/>
            <a:ext cx="10515240" cy="479022"/>
          </a:xfrm>
        </p:spPr>
        <p:txBody>
          <a:bodyPr/>
          <a:lstStyle/>
          <a:p>
            <a:r>
              <a:rPr lang="pt-BR" dirty="0"/>
              <a:t>Exemplo</a:t>
            </a:r>
          </a:p>
        </p:txBody>
      </p:sp>
      <p:sp>
        <p:nvSpPr>
          <p:cNvPr id="5" name="Espaço Reservado para Conteúdo 4">
            <a:extLst>
              <a:ext uri="{FF2B5EF4-FFF2-40B4-BE49-F238E27FC236}">
                <a16:creationId xmlns:a16="http://schemas.microsoft.com/office/drawing/2014/main" id="{0D278B23-C84D-9C16-1B30-7565D3554AB2}"/>
              </a:ext>
            </a:extLst>
          </p:cNvPr>
          <p:cNvSpPr>
            <a:spLocks noGrp="1"/>
          </p:cNvSpPr>
          <p:nvPr>
            <p:ph/>
          </p:nvPr>
        </p:nvSpPr>
        <p:spPr>
          <a:xfrm>
            <a:off x="838080" y="1012874"/>
            <a:ext cx="10515240" cy="5163646"/>
          </a:xfrm>
        </p:spPr>
        <p:txBody>
          <a:bodyPr>
            <a:normAutofit/>
          </a:bodyPr>
          <a:lstStyle/>
          <a:p>
            <a:endParaRPr lang="pt-BR" sz="2400" dirty="0"/>
          </a:p>
          <a:p>
            <a:r>
              <a:rPr lang="pt-BR" sz="2400" dirty="0"/>
              <a:t>Tabela Funcionário (vide Tabela seguinte), temos que o </a:t>
            </a:r>
            <a:r>
              <a:rPr lang="pt-BR" sz="2400" dirty="0" err="1"/>
              <a:t>Cod_Depto</a:t>
            </a:r>
            <a:r>
              <a:rPr lang="pt-BR" sz="2400" dirty="0"/>
              <a:t> é NULL. Isso é possível apenas porque o atributo </a:t>
            </a:r>
            <a:r>
              <a:rPr lang="pt-BR" sz="2400" dirty="0" err="1"/>
              <a:t>Cod_Depto</a:t>
            </a:r>
            <a:r>
              <a:rPr lang="pt-BR" sz="2400" dirty="0"/>
              <a:t> não faz parte da chave primária da tabela Funcionário. </a:t>
            </a:r>
          </a:p>
          <a:p>
            <a:r>
              <a:rPr lang="pt-BR" sz="2400" dirty="0"/>
              <a:t>E deve significar que, por enquanto, a funcionária Ana Marques não foi alocada em nenhum departamento (vamos supor que ela acabou de ser contratada). </a:t>
            </a:r>
          </a:p>
          <a:p>
            <a:r>
              <a:rPr lang="pt-BR" sz="2400" dirty="0"/>
              <a:t>Já todas as outras tuplas da tabela Funcionário possuem o </a:t>
            </a:r>
            <a:r>
              <a:rPr lang="pt-BR" sz="2400" dirty="0" err="1"/>
              <a:t>Cod_Depto</a:t>
            </a:r>
            <a:r>
              <a:rPr lang="pt-BR" sz="2400" dirty="0"/>
              <a:t> preenchido e, para que a integridade referencial seja mantida, como esse atributo é chave estrangeira, ele deve existir como chave primária em alguma outra tabela. </a:t>
            </a:r>
          </a:p>
          <a:p>
            <a:r>
              <a:rPr lang="pt-BR" sz="2400" dirty="0"/>
              <a:t>No caso, na tabela Departamento. Nesse exemplo fornecido, a tabela Funcionário é a Tabela-Filho e a tabela Departamento é a Tabela-Pai.</a:t>
            </a:r>
          </a:p>
        </p:txBody>
      </p:sp>
    </p:spTree>
    <p:extLst>
      <p:ext uri="{BB962C8B-B14F-4D97-AF65-F5344CB8AC3E}">
        <p14:creationId xmlns:p14="http://schemas.microsoft.com/office/powerpoint/2010/main" val="3723146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D2435-9272-8E43-166F-B99C99CF2D37}"/>
              </a:ext>
            </a:extLst>
          </p:cNvPr>
          <p:cNvSpPr>
            <a:spLocks noGrp="1"/>
          </p:cNvSpPr>
          <p:nvPr>
            <p:ph type="title"/>
          </p:nvPr>
        </p:nvSpPr>
        <p:spPr/>
        <p:txBody>
          <a:bodyPr/>
          <a:lstStyle/>
          <a:p>
            <a:endParaRPr lang="pt-BR" dirty="0"/>
          </a:p>
        </p:txBody>
      </p:sp>
      <p:graphicFrame>
        <p:nvGraphicFramePr>
          <p:cNvPr id="7" name="Espaço Reservado para Conteúdo 6">
            <a:extLst>
              <a:ext uri="{FF2B5EF4-FFF2-40B4-BE49-F238E27FC236}">
                <a16:creationId xmlns:a16="http://schemas.microsoft.com/office/drawing/2014/main" id="{B1D40BC5-F120-F637-7491-3A2C12DDD34A}"/>
              </a:ext>
            </a:extLst>
          </p:cNvPr>
          <p:cNvGraphicFramePr>
            <a:graphicFrameLocks noGrp="1"/>
          </p:cNvGraphicFramePr>
          <p:nvPr>
            <p:ph/>
            <p:extLst>
              <p:ext uri="{D42A27DB-BD31-4B8C-83A1-F6EECF244321}">
                <p14:modId xmlns:p14="http://schemas.microsoft.com/office/powerpoint/2010/main" val="834800545"/>
              </p:ext>
            </p:extLst>
          </p:nvPr>
        </p:nvGraphicFramePr>
        <p:xfrm>
          <a:off x="984738" y="2307102"/>
          <a:ext cx="4187778" cy="2926075"/>
        </p:xfrm>
        <a:graphic>
          <a:graphicData uri="http://schemas.openxmlformats.org/drawingml/2006/table">
            <a:tbl>
              <a:tblPr firstRow="1" firstCol="1" lastRow="1" lastCol="1" bandRow="1" bandCol="1"/>
              <a:tblGrid>
                <a:gridCol w="1395926">
                  <a:extLst>
                    <a:ext uri="{9D8B030D-6E8A-4147-A177-3AD203B41FA5}">
                      <a16:colId xmlns:a16="http://schemas.microsoft.com/office/drawing/2014/main" val="2412899096"/>
                    </a:ext>
                  </a:extLst>
                </a:gridCol>
                <a:gridCol w="1395926">
                  <a:extLst>
                    <a:ext uri="{9D8B030D-6E8A-4147-A177-3AD203B41FA5}">
                      <a16:colId xmlns:a16="http://schemas.microsoft.com/office/drawing/2014/main" val="1733216974"/>
                    </a:ext>
                  </a:extLst>
                </a:gridCol>
                <a:gridCol w="1395926">
                  <a:extLst>
                    <a:ext uri="{9D8B030D-6E8A-4147-A177-3AD203B41FA5}">
                      <a16:colId xmlns:a16="http://schemas.microsoft.com/office/drawing/2014/main" val="3147381723"/>
                    </a:ext>
                  </a:extLst>
                </a:gridCol>
              </a:tblGrid>
              <a:tr h="585215">
                <a:tc>
                  <a:txBody>
                    <a:bodyPr/>
                    <a:lstStyle/>
                    <a:p>
                      <a:pPr marL="130810" marR="118110" algn="ctr">
                        <a:spcBef>
                          <a:spcPts val="625"/>
                        </a:spcBef>
                        <a:spcAft>
                          <a:spcPts val="0"/>
                        </a:spcAft>
                      </a:pPr>
                      <a:r>
                        <a:rPr lang="pt-PT" sz="14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CPF</a:t>
                      </a:r>
                      <a:r>
                        <a:rPr lang="pt-PT" sz="1400" b="1" spc="-10"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 </a:t>
                      </a:r>
                      <a:r>
                        <a:rPr lang="pt-PT" sz="14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(PK)</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4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Nome</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400" b="1">
                          <a:solidFill>
                            <a:srgbClr val="FFFFFF"/>
                          </a:solidFill>
                          <a:effectLst/>
                          <a:latin typeface="Calibri" panose="020F0502020204030204" pitchFamily="34" charset="0"/>
                          <a:ea typeface="Calibri" panose="020F0502020204030204" pitchFamily="34" charset="0"/>
                          <a:cs typeface="Calibri" panose="020F0502020204030204" pitchFamily="34" charset="0"/>
                        </a:rPr>
                        <a:t>Cod_Depto</a:t>
                      </a:r>
                      <a:r>
                        <a:rPr lang="pt-PT" sz="1400" b="1" spc="-20">
                          <a:solidFill>
                            <a:srgbClr val="FFFFFF"/>
                          </a:solidFill>
                          <a:effectLst/>
                          <a:latin typeface="Calibri" panose="020F0502020204030204" pitchFamily="34" charset="0"/>
                          <a:ea typeface="Calibri" panose="020F0502020204030204" pitchFamily="34" charset="0"/>
                          <a:cs typeface="Calibri" panose="020F0502020204030204" pitchFamily="34" charset="0"/>
                        </a:rPr>
                        <a:t> </a:t>
                      </a:r>
                      <a:r>
                        <a:rPr lang="pt-PT" sz="1400" b="1">
                          <a:solidFill>
                            <a:srgbClr val="FFFFFF"/>
                          </a:solidFill>
                          <a:effectLst/>
                          <a:latin typeface="Calibri" panose="020F0502020204030204" pitchFamily="34" charset="0"/>
                          <a:ea typeface="Calibri" panose="020F0502020204030204" pitchFamily="34" charset="0"/>
                          <a:cs typeface="Calibri" panose="020F0502020204030204" pitchFamily="34" charset="0"/>
                        </a:rPr>
                        <a:t>(FK)</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416424085"/>
                  </a:ext>
                </a:extLst>
              </a:tr>
              <a:tr h="585215">
                <a:tc>
                  <a:txBody>
                    <a:bodyPr/>
                    <a:lstStyle/>
                    <a:p>
                      <a:pPr marL="130810" marR="118110"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213415467-89</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Marcos</a:t>
                      </a:r>
                      <a:r>
                        <a:rPr lang="pt-PT" sz="1400" spc="-2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Alves</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7475"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1057683960"/>
                  </a:ext>
                </a:extLst>
              </a:tr>
              <a:tr h="585215">
                <a:tc>
                  <a:txBody>
                    <a:bodyPr/>
                    <a:lstStyle/>
                    <a:p>
                      <a:pPr marL="131445" marR="118110"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567324980-03</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8110" algn="ctr">
                        <a:spcBef>
                          <a:spcPts val="625"/>
                        </a:spcBef>
                        <a:spcAft>
                          <a:spcPts val="0"/>
                        </a:spcAft>
                      </a:pP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Tânia</a:t>
                      </a:r>
                      <a:r>
                        <a:rPr lang="pt-PT" sz="1400" spc="-3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Gomes</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7475" algn="ctr">
                        <a:spcBef>
                          <a:spcPts val="625"/>
                        </a:spcBef>
                        <a:spcAft>
                          <a:spcPts val="0"/>
                        </a:spcAft>
                      </a:pP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624591862"/>
                  </a:ext>
                </a:extLst>
              </a:tr>
              <a:tr h="585215">
                <a:tc>
                  <a:txBody>
                    <a:bodyPr/>
                    <a:lstStyle/>
                    <a:p>
                      <a:pPr marL="131445" marR="118110"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765456243-45</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João</a:t>
                      </a:r>
                      <a:r>
                        <a:rPr lang="pt-PT" sz="1400" spc="-2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Pontes</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7475" algn="ctr">
                        <a:spcBef>
                          <a:spcPts val="625"/>
                        </a:spcBef>
                        <a:spcAft>
                          <a:spcPts val="0"/>
                        </a:spcAft>
                      </a:pP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913913469"/>
                  </a:ext>
                </a:extLst>
              </a:tr>
              <a:tr h="585215">
                <a:tc>
                  <a:txBody>
                    <a:bodyPr/>
                    <a:lstStyle/>
                    <a:p>
                      <a:pPr marL="131445" marR="118110"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987675456-98</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7475" algn="ctr">
                        <a:spcBef>
                          <a:spcPts val="625"/>
                        </a:spcBef>
                        <a:spcAft>
                          <a:spcPts val="0"/>
                        </a:spcAft>
                      </a:pP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Ana</a:t>
                      </a:r>
                      <a:r>
                        <a:rPr lang="pt-PT" sz="1400" spc="-15">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400">
                          <a:solidFill>
                            <a:srgbClr val="000000"/>
                          </a:solidFill>
                          <a:effectLst/>
                          <a:latin typeface="Calibri" panose="020F0502020204030204" pitchFamily="34" charset="0"/>
                          <a:ea typeface="Calibri" panose="020F0502020204030204" pitchFamily="34" charset="0"/>
                          <a:cs typeface="Calibri" panose="020F0502020204030204" pitchFamily="34" charset="0"/>
                        </a:rPr>
                        <a:t>Marques</a:t>
                      </a:r>
                      <a:endParaRPr lang="pt-BR" sz="14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1445" marR="117475" algn="ctr">
                        <a:spcBef>
                          <a:spcPts val="625"/>
                        </a:spcBef>
                        <a:spcAft>
                          <a:spcPts val="0"/>
                        </a:spcAft>
                      </a:pPr>
                      <a:r>
                        <a:rPr lang="pt-PT"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NULL</a:t>
                      </a:r>
                      <a:endParaRPr lang="pt-BR" sz="14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360236063"/>
                  </a:ext>
                </a:extLst>
              </a:tr>
            </a:tbl>
          </a:graphicData>
        </a:graphic>
      </p:graphicFrame>
      <p:sp>
        <p:nvSpPr>
          <p:cNvPr id="9" name="Texto Explicativo: Seta para Baixo 8">
            <a:extLst>
              <a:ext uri="{FF2B5EF4-FFF2-40B4-BE49-F238E27FC236}">
                <a16:creationId xmlns:a16="http://schemas.microsoft.com/office/drawing/2014/main" id="{AEFB75FB-957A-9B3A-8F09-522B2DFCFF9C}"/>
              </a:ext>
            </a:extLst>
          </p:cNvPr>
          <p:cNvSpPr/>
          <p:nvPr/>
        </p:nvSpPr>
        <p:spPr>
          <a:xfrm>
            <a:off x="1941342" y="1577659"/>
            <a:ext cx="2138289" cy="729443"/>
          </a:xfrm>
          <a:prstGeom prst="down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FUNCIONÁRIO</a:t>
            </a:r>
          </a:p>
        </p:txBody>
      </p:sp>
      <p:graphicFrame>
        <p:nvGraphicFramePr>
          <p:cNvPr id="10" name="Tabela 9">
            <a:extLst>
              <a:ext uri="{FF2B5EF4-FFF2-40B4-BE49-F238E27FC236}">
                <a16:creationId xmlns:a16="http://schemas.microsoft.com/office/drawing/2014/main" id="{B4DECE9C-235E-4F27-EACC-072F1BB6D07A}"/>
              </a:ext>
            </a:extLst>
          </p:cNvPr>
          <p:cNvGraphicFramePr>
            <a:graphicFrameLocks noGrp="1"/>
          </p:cNvGraphicFramePr>
          <p:nvPr>
            <p:extLst>
              <p:ext uri="{D42A27DB-BD31-4B8C-83A1-F6EECF244321}">
                <p14:modId xmlns:p14="http://schemas.microsoft.com/office/powerpoint/2010/main" val="2439686824"/>
              </p:ext>
            </p:extLst>
          </p:nvPr>
        </p:nvGraphicFramePr>
        <p:xfrm>
          <a:off x="7019486" y="2466975"/>
          <a:ext cx="3770434" cy="2231634"/>
        </p:xfrm>
        <a:graphic>
          <a:graphicData uri="http://schemas.openxmlformats.org/drawingml/2006/table">
            <a:tbl>
              <a:tblPr firstRow="1" firstCol="1" lastRow="1" lastCol="1" bandRow="1" bandCol="1"/>
              <a:tblGrid>
                <a:gridCol w="1885217">
                  <a:extLst>
                    <a:ext uri="{9D8B030D-6E8A-4147-A177-3AD203B41FA5}">
                      <a16:colId xmlns:a16="http://schemas.microsoft.com/office/drawing/2014/main" val="49364439"/>
                    </a:ext>
                  </a:extLst>
                </a:gridCol>
                <a:gridCol w="1885217">
                  <a:extLst>
                    <a:ext uri="{9D8B030D-6E8A-4147-A177-3AD203B41FA5}">
                      <a16:colId xmlns:a16="http://schemas.microsoft.com/office/drawing/2014/main" val="769808353"/>
                    </a:ext>
                  </a:extLst>
                </a:gridCol>
              </a:tblGrid>
              <a:tr h="743878">
                <a:tc>
                  <a:txBody>
                    <a:bodyPr/>
                    <a:lstStyle/>
                    <a:p>
                      <a:pPr marL="130810" marR="118110" algn="ctr">
                        <a:spcBef>
                          <a:spcPts val="625"/>
                        </a:spcBef>
                        <a:spcAft>
                          <a:spcPts val="0"/>
                        </a:spcAft>
                      </a:pPr>
                      <a:r>
                        <a:rPr lang="pt-PT" sz="1800" b="1" u="sng" dirty="0">
                          <a:solidFill>
                            <a:srgbClr val="FFFFFF"/>
                          </a:solidFill>
                          <a:effectLst/>
                          <a:uFill>
                            <a:solidFill>
                              <a:srgbClr val="FFFFFF"/>
                            </a:solidFill>
                          </a:uFill>
                          <a:latin typeface="Calibri" panose="020F0502020204030204" pitchFamily="34" charset="0"/>
                          <a:ea typeface="Calibri" panose="020F0502020204030204" pitchFamily="34" charset="0"/>
                          <a:cs typeface="Calibri" panose="020F0502020204030204" pitchFamily="34" charset="0"/>
                        </a:rPr>
                        <a:t>Cod_Depto</a:t>
                      </a:r>
                      <a:r>
                        <a:rPr lang="pt-PT" sz="1800" b="1" spc="-20"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 </a:t>
                      </a:r>
                      <a:r>
                        <a:rPr lang="pt-PT" sz="18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(PK)</a:t>
                      </a:r>
                      <a:endParaRPr lang="pt-BR" sz="18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tc>
                  <a:txBody>
                    <a:bodyPr/>
                    <a:lstStyle/>
                    <a:p>
                      <a:pPr marL="131445" marR="118110" algn="ctr">
                        <a:spcBef>
                          <a:spcPts val="625"/>
                        </a:spcBef>
                        <a:spcAft>
                          <a:spcPts val="0"/>
                        </a:spcAft>
                      </a:pPr>
                      <a:r>
                        <a:rPr lang="pt-PT" sz="18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Nome</a:t>
                      </a:r>
                      <a:endParaRPr lang="pt-BR" sz="18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56E56"/>
                    </a:solidFill>
                  </a:tcPr>
                </a:tc>
                <a:extLst>
                  <a:ext uri="{0D108BD9-81ED-4DB2-BD59-A6C34878D82A}">
                    <a16:rowId xmlns:a16="http://schemas.microsoft.com/office/drawing/2014/main" val="1497752631"/>
                  </a:ext>
                </a:extLst>
              </a:tr>
              <a:tr h="743878">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endParaRPr lang="pt-BR" sz="18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tc>
                  <a:txBody>
                    <a:bodyPr/>
                    <a:lstStyle/>
                    <a:p>
                      <a:pPr marL="131445" marR="118110" algn="ctr">
                        <a:spcBef>
                          <a:spcPts val="510"/>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Vendas</a:t>
                      </a:r>
                      <a:endParaRPr lang="pt-BR" sz="18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D4BD"/>
                    </a:solidFill>
                  </a:tcPr>
                </a:tc>
                <a:extLst>
                  <a:ext uri="{0D108BD9-81ED-4DB2-BD59-A6C34878D82A}">
                    <a16:rowId xmlns:a16="http://schemas.microsoft.com/office/drawing/2014/main" val="2441602793"/>
                  </a:ext>
                </a:extLst>
              </a:tr>
              <a:tr h="743878">
                <a:tc>
                  <a:txBody>
                    <a:bodyPr/>
                    <a:lstStyle/>
                    <a:p>
                      <a:pPr marL="130810" marR="118110" algn="ctr">
                        <a:spcBef>
                          <a:spcPts val="625"/>
                        </a:spcBef>
                        <a:spcAft>
                          <a:spcPts val="0"/>
                        </a:spcAft>
                      </a:pPr>
                      <a:r>
                        <a:rPr lang="pt-PT" sz="1800">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endParaRPr lang="pt-BR" sz="18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tc>
                  <a:txBody>
                    <a:bodyPr/>
                    <a:lstStyle/>
                    <a:p>
                      <a:pPr marL="130810" marR="118110" algn="ctr">
                        <a:spcBef>
                          <a:spcPts val="510"/>
                        </a:spcBef>
                        <a:spcAft>
                          <a:spcPts val="0"/>
                        </a:spcAft>
                      </a:pPr>
                      <a:r>
                        <a:rPr lang="pt-PT"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Financeiro</a:t>
                      </a:r>
                      <a:endParaRPr lang="pt-BR" sz="1800" dirty="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F3EA"/>
                    </a:solidFill>
                  </a:tcPr>
                </a:tc>
                <a:extLst>
                  <a:ext uri="{0D108BD9-81ED-4DB2-BD59-A6C34878D82A}">
                    <a16:rowId xmlns:a16="http://schemas.microsoft.com/office/drawing/2014/main" val="3660619020"/>
                  </a:ext>
                </a:extLst>
              </a:tr>
            </a:tbl>
          </a:graphicData>
        </a:graphic>
      </p:graphicFrame>
    </p:spTree>
    <p:extLst>
      <p:ext uri="{BB962C8B-B14F-4D97-AF65-F5344CB8AC3E}">
        <p14:creationId xmlns:p14="http://schemas.microsoft.com/office/powerpoint/2010/main" val="3407790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A39919-DDF3-6709-D578-29E905C339F0}"/>
              </a:ext>
            </a:extLst>
          </p:cNvPr>
          <p:cNvSpPr>
            <a:spLocks noGrp="1"/>
          </p:cNvSpPr>
          <p:nvPr>
            <p:ph type="title"/>
          </p:nvPr>
        </p:nvSpPr>
        <p:spPr>
          <a:xfrm>
            <a:off x="838080" y="365040"/>
            <a:ext cx="10515240" cy="507157"/>
          </a:xfrm>
        </p:spPr>
        <p:txBody>
          <a:bodyPr/>
          <a:lstStyle/>
          <a:p>
            <a:r>
              <a:rPr lang="pt-BR" dirty="0"/>
              <a:t>Exercícios</a:t>
            </a:r>
          </a:p>
        </p:txBody>
      </p:sp>
      <p:sp>
        <p:nvSpPr>
          <p:cNvPr id="3" name="Espaço Reservado para Conteúdo 2">
            <a:extLst>
              <a:ext uri="{FF2B5EF4-FFF2-40B4-BE49-F238E27FC236}">
                <a16:creationId xmlns:a16="http://schemas.microsoft.com/office/drawing/2014/main" id="{A8F4E924-F13E-2D3A-4DF8-C3584E4F9048}"/>
              </a:ext>
            </a:extLst>
          </p:cNvPr>
          <p:cNvSpPr>
            <a:spLocks noGrp="1"/>
          </p:cNvSpPr>
          <p:nvPr>
            <p:ph/>
          </p:nvPr>
        </p:nvSpPr>
        <p:spPr>
          <a:xfrm>
            <a:off x="838080" y="1434905"/>
            <a:ext cx="10515240" cy="4741615"/>
          </a:xfrm>
        </p:spPr>
        <p:txBody>
          <a:bodyPr>
            <a:normAutofit/>
          </a:bodyPr>
          <a:lstStyle/>
          <a:p>
            <a:endParaRPr lang="pt-BR" sz="2400" dirty="0"/>
          </a:p>
          <a:p>
            <a:r>
              <a:rPr lang="pt-BR" sz="2400" dirty="0"/>
              <a:t>1. Defina chave primaria e para que serve?</a:t>
            </a:r>
          </a:p>
          <a:p>
            <a:r>
              <a:rPr lang="pt-BR" sz="2400" dirty="0"/>
              <a:t>2. Defina chave estrangeira e para que serve?</a:t>
            </a:r>
          </a:p>
          <a:p>
            <a:r>
              <a:rPr lang="pt-BR" sz="2400" dirty="0"/>
              <a:t>3. O que seria uma chave composta?  </a:t>
            </a:r>
          </a:p>
          <a:p>
            <a:r>
              <a:rPr lang="pt-BR" sz="2400" dirty="0"/>
              <a:t>4. O que seria domínio de um atributo?</a:t>
            </a:r>
          </a:p>
          <a:p>
            <a:r>
              <a:rPr lang="pt-BR" sz="2400" dirty="0"/>
              <a:t>5.  O que seria integridade  da entidade?</a:t>
            </a:r>
          </a:p>
          <a:p>
            <a:r>
              <a:rPr lang="pt-BR" sz="2400" dirty="0"/>
              <a:t>6. Abaixo aparecem diversos esquemas de relação que compõem um banco de dados relacional. Identifique nestes esquemas, da maneira apropriada, as chaves primárias e chaves estrangeiras:</a:t>
            </a:r>
          </a:p>
        </p:txBody>
      </p:sp>
    </p:spTree>
    <p:extLst>
      <p:ext uri="{BB962C8B-B14F-4D97-AF65-F5344CB8AC3E}">
        <p14:creationId xmlns:p14="http://schemas.microsoft.com/office/powerpoint/2010/main" val="17945157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B4B74F-83A1-83F9-1B70-257BBAA3067B}"/>
              </a:ext>
            </a:extLst>
          </p:cNvPr>
          <p:cNvSpPr>
            <a:spLocks noGrp="1"/>
          </p:cNvSpPr>
          <p:nvPr>
            <p:ph type="title"/>
          </p:nvPr>
        </p:nvSpPr>
        <p:spPr>
          <a:xfrm>
            <a:off x="838080" y="267286"/>
            <a:ext cx="10515240" cy="414194"/>
          </a:xfrm>
        </p:spPr>
        <p:txBody>
          <a:bodyPr/>
          <a:lstStyle/>
          <a:p>
            <a:r>
              <a:rPr lang="pt-BR" dirty="0" err="1"/>
              <a:t>Exercicios</a:t>
            </a:r>
            <a:endParaRPr lang="pt-BR" dirty="0"/>
          </a:p>
        </p:txBody>
      </p:sp>
      <p:sp>
        <p:nvSpPr>
          <p:cNvPr id="3" name="Espaço Reservado para Conteúdo 2">
            <a:extLst>
              <a:ext uri="{FF2B5EF4-FFF2-40B4-BE49-F238E27FC236}">
                <a16:creationId xmlns:a16="http://schemas.microsoft.com/office/drawing/2014/main" id="{A6DFCF89-BAFE-B5CD-964F-B0A08B7E5E32}"/>
              </a:ext>
            </a:extLst>
          </p:cNvPr>
          <p:cNvSpPr>
            <a:spLocks noGrp="1"/>
          </p:cNvSpPr>
          <p:nvPr>
            <p:ph/>
          </p:nvPr>
        </p:nvSpPr>
        <p:spPr>
          <a:xfrm>
            <a:off x="838080" y="1195754"/>
            <a:ext cx="10515240" cy="4980766"/>
          </a:xfrm>
        </p:spPr>
        <p:txBody>
          <a:bodyPr/>
          <a:lstStyle/>
          <a:p>
            <a:endParaRPr lang="pt-BR" sz="2000" dirty="0"/>
          </a:p>
          <a:p>
            <a:r>
              <a:rPr lang="pt-BR" sz="2000" dirty="0"/>
              <a:t>Aluno (</a:t>
            </a:r>
            <a:r>
              <a:rPr lang="pt-BR" sz="2000" dirty="0" err="1"/>
              <a:t>CodigoAluno,Nome,CodigoCurso</a:t>
            </a:r>
            <a:r>
              <a:rPr lang="pt-BR" sz="2000" dirty="0"/>
              <a:t>) </a:t>
            </a:r>
          </a:p>
          <a:p>
            <a:r>
              <a:rPr lang="pt-BR" sz="2000" dirty="0"/>
              <a:t>Curso(</a:t>
            </a:r>
            <a:r>
              <a:rPr lang="pt-BR" sz="2000" dirty="0" err="1"/>
              <a:t>CodigoCurso,Nome</a:t>
            </a:r>
            <a:r>
              <a:rPr lang="pt-BR" sz="2000" dirty="0"/>
              <a:t>) </a:t>
            </a:r>
          </a:p>
          <a:p>
            <a:r>
              <a:rPr lang="pt-BR" sz="2000" dirty="0"/>
              <a:t>Disciplina(</a:t>
            </a:r>
            <a:r>
              <a:rPr lang="pt-BR" sz="2000" dirty="0" err="1"/>
              <a:t>CodigoDisciplina,Nome,Creditos,CodigoDepartamento</a:t>
            </a:r>
            <a:r>
              <a:rPr lang="pt-BR" sz="2000" dirty="0"/>
              <a:t>) </a:t>
            </a:r>
          </a:p>
          <a:p>
            <a:r>
              <a:rPr lang="pt-BR" sz="2000" dirty="0" err="1"/>
              <a:t>Curriculo</a:t>
            </a:r>
            <a:r>
              <a:rPr lang="pt-BR" sz="2000" dirty="0"/>
              <a:t>(</a:t>
            </a:r>
            <a:r>
              <a:rPr lang="pt-BR" sz="2000" dirty="0" err="1"/>
              <a:t>CodigoCurso,CodigoDisciplina,Obrigatória</a:t>
            </a:r>
            <a:r>
              <a:rPr lang="pt-BR" sz="2000" dirty="0"/>
              <a:t>-Opcional) </a:t>
            </a:r>
          </a:p>
          <a:p>
            <a:r>
              <a:rPr lang="pt-BR" sz="2000" dirty="0"/>
              <a:t>Conceito(</a:t>
            </a:r>
            <a:r>
              <a:rPr lang="pt-BR" sz="2000" dirty="0" err="1"/>
              <a:t>CodigoAluno,CodigoDisciplina,Ano-Semestre,Conceito</a:t>
            </a:r>
            <a:r>
              <a:rPr lang="pt-BR" sz="2000" dirty="0"/>
              <a:t>) </a:t>
            </a:r>
          </a:p>
          <a:p>
            <a:r>
              <a:rPr lang="pt-BR" sz="2000" dirty="0"/>
              <a:t>Departamento(</a:t>
            </a:r>
            <a:r>
              <a:rPr lang="pt-BR" sz="2000" dirty="0" err="1"/>
              <a:t>CodigoDepartamento,Nome</a:t>
            </a:r>
            <a:r>
              <a:rPr lang="pt-BR" sz="2000" dirty="0"/>
              <a:t>)</a:t>
            </a:r>
          </a:p>
          <a:p>
            <a:endParaRPr lang="pt-BR" dirty="0"/>
          </a:p>
        </p:txBody>
      </p:sp>
    </p:spTree>
    <p:extLst>
      <p:ext uri="{BB962C8B-B14F-4D97-AF65-F5344CB8AC3E}">
        <p14:creationId xmlns:p14="http://schemas.microsoft.com/office/powerpoint/2010/main" val="2932890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0A077FF-5E52-4564-8BD3-35070C9EC5D3}"/>
              </a:ext>
            </a:extLst>
          </p:cNvPr>
          <p:cNvSpPr>
            <a:spLocks noGrp="1"/>
          </p:cNvSpPr>
          <p:nvPr>
            <p:ph/>
          </p:nvPr>
        </p:nvSpPr>
        <p:spPr>
          <a:xfrm>
            <a:off x="838080" y="371475"/>
            <a:ext cx="10515240" cy="5805045"/>
          </a:xfrm>
        </p:spPr>
        <p:txBody>
          <a:bodyPr>
            <a:normAutofit/>
          </a:bodyPr>
          <a:lstStyle/>
          <a:p>
            <a:r>
              <a:rPr lang="pt-BR" sz="2400" dirty="0"/>
              <a:t>7. Domínio são os valores possíveis que um atributo pode assumir? Justifique</a:t>
            </a:r>
          </a:p>
          <a:p>
            <a:r>
              <a:rPr lang="pt-BR" sz="2400" dirty="0"/>
              <a:t>8. A cardinalidade de uma relação é caracterizada pela quantidade de chaves estrangeiras da relação? Justifique</a:t>
            </a:r>
          </a:p>
          <a:p>
            <a:r>
              <a:rPr lang="pt-BR" sz="2400" dirty="0"/>
              <a:t>9. Uma chave estrangeira pode não pertencer à chave primária?</a:t>
            </a:r>
          </a:p>
          <a:p>
            <a:r>
              <a:rPr lang="pt-BR" sz="2400" dirty="0"/>
              <a:t>10. No contexto de Banco de Dados, um conceito assegura que um valor que aparece em uma tabela para um determinado conjunto de atributos apareça em outro conjunto de atributos de outra tabela. Por exemplo, se cristalina é o nome de uma agência que aparece em uma </a:t>
            </a:r>
            <a:r>
              <a:rPr lang="pt-BR" sz="2400" dirty="0" err="1"/>
              <a:t>tupla</a:t>
            </a:r>
            <a:r>
              <a:rPr lang="pt-BR" sz="2400" dirty="0"/>
              <a:t> da tabela conta, então deve existir uma </a:t>
            </a:r>
            <a:r>
              <a:rPr lang="pt-BR" sz="2400" dirty="0" err="1"/>
              <a:t>tupla</a:t>
            </a:r>
            <a:r>
              <a:rPr lang="pt-BR" sz="2400" dirty="0"/>
              <a:t> cristalina na tabela agencia. Esse conceito é definido como um sistema de regras, utilizado para garantir que os relacionamentos entre </a:t>
            </a:r>
            <a:r>
              <a:rPr lang="pt-BR" sz="2400" dirty="0" err="1"/>
              <a:t>tuplas</a:t>
            </a:r>
            <a:r>
              <a:rPr lang="pt-BR" sz="2400" dirty="0"/>
              <a:t> de tabelas relacionadas sejam válidas e que não exclui ou altera, acidentalmente, dados relacionados. Falamos de qual conceito? Justifique </a:t>
            </a:r>
            <a:r>
              <a:rPr lang="pt-BR" sz="2400"/>
              <a:t>sua resposta.</a:t>
            </a:r>
            <a:endParaRPr lang="pt-BR" sz="2400" dirty="0"/>
          </a:p>
        </p:txBody>
      </p:sp>
    </p:spTree>
    <p:extLst>
      <p:ext uri="{BB962C8B-B14F-4D97-AF65-F5344CB8AC3E}">
        <p14:creationId xmlns:p14="http://schemas.microsoft.com/office/powerpoint/2010/main" val="3571463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8C9939D0-46A2-47C8-B898-F74C791BF5FA}"/>
              </a:ext>
            </a:extLst>
          </p:cNvPr>
          <p:cNvSpPr>
            <a:spLocks noGrp="1"/>
          </p:cNvSpPr>
          <p:nvPr>
            <p:ph/>
          </p:nvPr>
        </p:nvSpPr>
        <p:spPr>
          <a:xfrm>
            <a:off x="838080" y="514350"/>
            <a:ext cx="10515240" cy="5662170"/>
          </a:xfrm>
        </p:spPr>
        <p:txBody>
          <a:bodyPr>
            <a:normAutofit/>
          </a:bodyPr>
          <a:lstStyle/>
          <a:p>
            <a:r>
              <a:rPr lang="pt-BR" sz="2400" dirty="0"/>
              <a:t>11. Considere o esquema das relações de um BD relacional a seguir: Paciente(</a:t>
            </a:r>
            <a:r>
              <a:rPr lang="pt-BR" sz="2400" dirty="0" err="1"/>
              <a:t>CodigoConvenio</a:t>
            </a:r>
            <a:r>
              <a:rPr lang="pt-BR" sz="2400" dirty="0"/>
              <a:t> (FK), </a:t>
            </a:r>
            <a:r>
              <a:rPr lang="pt-BR" sz="2400" dirty="0" err="1"/>
              <a:t>NumeroPaciente</a:t>
            </a:r>
            <a:r>
              <a:rPr lang="pt-BR" sz="2400" dirty="0"/>
              <a:t>, Nome) Convenio(</a:t>
            </a:r>
            <a:r>
              <a:rPr lang="pt-BR" sz="2400" dirty="0" err="1"/>
              <a:t>CodigoConvenio</a:t>
            </a:r>
            <a:r>
              <a:rPr lang="pt-BR" sz="2400" dirty="0"/>
              <a:t>, Nome)</a:t>
            </a:r>
          </a:p>
          <a:p>
            <a:r>
              <a:rPr lang="pt-BR" sz="2400" dirty="0"/>
              <a:t>Medico(CRM, Nome, Especialização)</a:t>
            </a:r>
          </a:p>
          <a:p>
            <a:r>
              <a:rPr lang="pt-BR" sz="2400" dirty="0"/>
              <a:t>Consulta(</a:t>
            </a:r>
            <a:r>
              <a:rPr lang="pt-BR" sz="2400" dirty="0" err="1"/>
              <a:t>CodigoConvenio</a:t>
            </a:r>
            <a:r>
              <a:rPr lang="pt-BR" sz="2400" dirty="0"/>
              <a:t> (FK), </a:t>
            </a:r>
            <a:r>
              <a:rPr lang="pt-BR" sz="2400" dirty="0" err="1"/>
              <a:t>NumeroPaciente</a:t>
            </a:r>
            <a:r>
              <a:rPr lang="pt-BR" sz="2400" dirty="0"/>
              <a:t> (FK), CRM(FK), Data-Hora)</a:t>
            </a:r>
          </a:p>
          <a:p>
            <a:r>
              <a:rPr lang="pt-BR" sz="2400" dirty="0"/>
              <a:t>A partir desse esquema, explique que verificações/checagens deveriam ser feitas pelo SGBD para garantir integridade referencial nas seguintes situações:</a:t>
            </a:r>
          </a:p>
          <a:p>
            <a:r>
              <a:rPr lang="pt-BR" sz="2400" dirty="0"/>
              <a:t>a)	Uma linha é incluída na tabela Consulta.</a:t>
            </a:r>
          </a:p>
          <a:p>
            <a:r>
              <a:rPr lang="pt-BR" sz="2400" dirty="0"/>
              <a:t>b)	Uma linha é excluída da tabela Paciente.</a:t>
            </a:r>
          </a:p>
          <a:p>
            <a:endParaRPr lang="pt-BR" dirty="0"/>
          </a:p>
        </p:txBody>
      </p:sp>
    </p:spTree>
    <p:extLst>
      <p:ext uri="{BB962C8B-B14F-4D97-AF65-F5344CB8AC3E}">
        <p14:creationId xmlns:p14="http://schemas.microsoft.com/office/powerpoint/2010/main" val="3073029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596</TotalTime>
  <Words>2287</Words>
  <Application>Microsoft Office PowerPoint</Application>
  <PresentationFormat>Widescreen</PresentationFormat>
  <Paragraphs>222</Paragraphs>
  <Slides>33</Slides>
  <Notes>0</Notes>
  <HiddenSlides>0</HiddenSlides>
  <MMClips>0</MMClips>
  <ScaleCrop>false</ScaleCrop>
  <HeadingPairs>
    <vt:vector size="6" baseType="variant">
      <vt:variant>
        <vt:lpstr>Fontes usadas</vt:lpstr>
      </vt:variant>
      <vt:variant>
        <vt:i4>6</vt:i4>
      </vt:variant>
      <vt:variant>
        <vt:lpstr>Tema</vt:lpstr>
      </vt:variant>
      <vt:variant>
        <vt:i4>2</vt:i4>
      </vt:variant>
      <vt:variant>
        <vt:lpstr>Títulos de slides</vt:lpstr>
      </vt:variant>
      <vt:variant>
        <vt:i4>33</vt:i4>
      </vt:variant>
    </vt:vector>
  </HeadingPairs>
  <TitlesOfParts>
    <vt:vector size="41" baseType="lpstr">
      <vt:lpstr>Arial</vt:lpstr>
      <vt:lpstr>Calibri</vt:lpstr>
      <vt:lpstr>Calibri Light</vt:lpstr>
      <vt:lpstr>Symbol</vt:lpstr>
      <vt:lpstr>Times New Roman</vt:lpstr>
      <vt:lpstr>Wingdings</vt:lpstr>
      <vt:lpstr>Office Theme</vt:lpstr>
      <vt:lpstr>Office Theme</vt:lpstr>
      <vt:lpstr>O Modelo Relacional</vt:lpstr>
      <vt:lpstr>Introdução</vt:lpstr>
      <vt:lpstr>Introdução</vt:lpstr>
      <vt:lpstr>Introdução</vt:lpstr>
      <vt:lpstr>Apresentação do PowerPoint</vt:lpstr>
      <vt:lpstr> Veja a tabela abaixo</vt:lpstr>
      <vt:lpstr>Tabela ou Relação</vt:lpstr>
      <vt:lpstr>Linha (Tupla)</vt:lpstr>
      <vt:lpstr>Coluna (Atributo)</vt:lpstr>
      <vt:lpstr>Domínio do Atributo</vt:lpstr>
      <vt:lpstr>Chaves</vt:lpstr>
      <vt:lpstr>PK(chave primária)</vt:lpstr>
      <vt:lpstr>Apresentação do PowerPoint</vt:lpstr>
      <vt:lpstr>Outra chaves</vt:lpstr>
      <vt:lpstr>Chave primaria composta</vt:lpstr>
      <vt:lpstr>Chave estrangeira</vt:lpstr>
      <vt:lpstr>Tabela 01 (alocação)</vt:lpstr>
      <vt:lpstr>Tabela 02 (empregado)</vt:lpstr>
      <vt:lpstr>Tabela 03 (projeto)</vt:lpstr>
      <vt:lpstr>Regras de Integridade Fundamentais</vt:lpstr>
      <vt:lpstr>Regras de Integridade Fundamentais</vt:lpstr>
      <vt:lpstr>Integridade de Entidade (ou de Identidade ou Existencial)</vt:lpstr>
      <vt:lpstr>Null e not null</vt:lpstr>
      <vt:lpstr>Recomendações</vt:lpstr>
      <vt:lpstr>Integridade Referencial</vt:lpstr>
      <vt:lpstr>Integridade Referencial</vt:lpstr>
      <vt:lpstr>Resumindo</vt:lpstr>
      <vt:lpstr>Exemplo</vt:lpstr>
      <vt:lpstr>Apresentação do PowerPoint</vt:lpstr>
      <vt:lpstr>Exercícios</vt:lpstr>
      <vt:lpstr>Exercicios</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 Modelo Relacional</dc:title>
  <dc:subject/>
  <dc:creator>Auto Logon</dc:creator>
  <dc:description/>
  <cp:lastModifiedBy>Auto Logon</cp:lastModifiedBy>
  <cp:revision>62</cp:revision>
  <dcterms:created xsi:type="dcterms:W3CDTF">2024-03-06T23:23:35Z</dcterms:created>
  <dcterms:modified xsi:type="dcterms:W3CDTF">2024-03-14T23:45:13Z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19</vt:i4>
  </property>
</Properties>
</file>