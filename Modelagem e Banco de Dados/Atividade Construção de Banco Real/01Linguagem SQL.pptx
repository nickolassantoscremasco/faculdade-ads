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310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7" r:id="rId50"/>
    <p:sldId id="304" r:id="rId51"/>
    <p:sldId id="305" r:id="rId52"/>
    <p:sldId id="306" r:id="rId53"/>
    <p:sldId id="308" r:id="rId54"/>
    <p:sldId id="309" r:id="rId5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453E-168B-4A43-8484-02C2D45922E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B533-6168-4281-BBD1-B6A8139084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6951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453E-168B-4A43-8484-02C2D45922E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B533-6168-4281-BBD1-B6A8139084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8734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453E-168B-4A43-8484-02C2D45922E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B533-6168-4281-BBD1-B6A8139084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0552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453E-168B-4A43-8484-02C2D45922E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B533-6168-4281-BBD1-B6A8139084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877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453E-168B-4A43-8484-02C2D45922E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B533-6168-4281-BBD1-B6A8139084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7232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453E-168B-4A43-8484-02C2D45922E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B533-6168-4281-BBD1-B6A8139084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7030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453E-168B-4A43-8484-02C2D45922E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B533-6168-4281-BBD1-B6A8139084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5797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453E-168B-4A43-8484-02C2D45922E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B533-6168-4281-BBD1-B6A8139084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9605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453E-168B-4A43-8484-02C2D45922E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B533-6168-4281-BBD1-B6A8139084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0626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453E-168B-4A43-8484-02C2D45922E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B533-6168-4281-BBD1-B6A8139084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758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453E-168B-4A43-8484-02C2D45922E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B533-6168-4281-BBD1-B6A8139084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7605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1453E-168B-4A43-8484-02C2D45922E1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2FB533-6168-4281-BBD1-B6A8139084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575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Linguagem SQL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</a:t>
            </a:r>
            <a:r>
              <a:rPr lang="pt-BR" dirty="0" err="1"/>
              <a:t>Edídio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5498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Módulo 01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Objetivo : Introduzir os principais conceitos e definições relacionados</a:t>
            </a:r>
          </a:p>
          <a:p>
            <a:r>
              <a:rPr lang="pt-BR" dirty="0"/>
              <a:t>à área de Banco de Dados, além de dar uma visão geral da evolução dos </a:t>
            </a:r>
            <a:r>
              <a:rPr lang="pt-BR" dirty="0" err="1"/>
              <a:t>SGBDs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3567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Conteúdo Programático do Módulo 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Conceitos Básicos</a:t>
            </a:r>
          </a:p>
          <a:p>
            <a:r>
              <a:rPr lang="pt-BR" dirty="0"/>
              <a:t>» Sistemas de Banco de Dados</a:t>
            </a:r>
          </a:p>
          <a:p>
            <a:r>
              <a:rPr lang="pt-BR" dirty="0"/>
              <a:t>» Evolução dos Bancos de Dados</a:t>
            </a:r>
          </a:p>
          <a:p>
            <a:r>
              <a:rPr lang="pt-BR" dirty="0"/>
              <a:t>» Arquitetura dos Bancos de Dados</a:t>
            </a:r>
          </a:p>
          <a:p>
            <a:r>
              <a:rPr lang="pt-BR" dirty="0"/>
              <a:t>» Classificação dos Bancos de Dados</a:t>
            </a:r>
          </a:p>
          <a:p>
            <a:r>
              <a:rPr lang="pt-BR" dirty="0"/>
              <a:t>» Novas Tendências e Perspectivas</a:t>
            </a:r>
          </a:p>
        </p:txBody>
      </p:sp>
    </p:spTree>
    <p:extLst>
      <p:ext uri="{BB962C8B-B14F-4D97-AF65-F5344CB8AC3E}">
        <p14:creationId xmlns:p14="http://schemas.microsoft.com/office/powerpoint/2010/main" val="1124409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Dado é um elemento que mantém a sua forma bruta (texto, imagens, sons, vídeos, etc.) e ele sozinho não levará a compreender determinada situação. Ou seja, o termo “Dado” envolve fatos, imagens, sons que podem ou não serem úteis para determinado fim, eles apenas representam coisas do mundo real.</a:t>
            </a:r>
          </a:p>
        </p:txBody>
      </p:sp>
    </p:spTree>
    <p:extLst>
      <p:ext uri="{BB962C8B-B14F-4D97-AF65-F5344CB8AC3E}">
        <p14:creationId xmlns:p14="http://schemas.microsoft.com/office/powerpoint/2010/main" val="3340076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Informação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“Informação” é o conjunto de dados coletados de forma a se tornarem aplicáveis a determinada situação, ou seja, sua forma e conteúdo são apropriados para um uso específico. A informação não existe por si só, ela é obtida através de uma interpretação realizada sobre um grupo de dados. Além disso, ela necessita de uma situação ou objetivo que justifique a sua existência.</a:t>
            </a:r>
          </a:p>
        </p:txBody>
      </p:sp>
    </p:spTree>
    <p:extLst>
      <p:ext uri="{BB962C8B-B14F-4D97-AF65-F5344CB8AC3E}">
        <p14:creationId xmlns:p14="http://schemas.microsoft.com/office/powerpoint/2010/main" val="2906118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nome de um cliente, o número de peças em um estoque, o número de horas trabalhadas por um empregado e o valor total de um pedido são dados. Já o valor total das vendas por mês de uma loja é uma informação que para ser obtida, vai precisar considerar uma série de dados (tais como, o mês de cada pedido e o valor total do pedido) armazenados em algum lugar.</a:t>
            </a:r>
          </a:p>
        </p:txBody>
      </p:sp>
    </p:spTree>
    <p:extLst>
      <p:ext uri="{BB962C8B-B14F-4D97-AF65-F5344CB8AC3E}">
        <p14:creationId xmlns:p14="http://schemas.microsoft.com/office/powerpoint/2010/main" val="2813099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Também chamado de Base de Dados / é uma coleção de dados relacionados, organizados e armazenados visando facilitar a manipulação dos dados armazenados, permitindo realizar alterações, inserções, remoções e consultas.</a:t>
            </a:r>
          </a:p>
        </p:txBody>
      </p:sp>
    </p:spTree>
    <p:extLst>
      <p:ext uri="{BB962C8B-B14F-4D97-AF65-F5344CB8AC3E}">
        <p14:creationId xmlns:p14="http://schemas.microsoft.com/office/powerpoint/2010/main" val="3723355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de uma determinada parte da realidade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8809" y="2398955"/>
            <a:ext cx="5056095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731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Minimundo da Livraria englobaria diversas características que a definem como, por exemplo, o seu nome, a sua localização, os dados dos seus proprietários, os dados dos funcionários que trabalham lá, os dados dos livros disponíveis e de qualquer outro produto que esteja sendo comercializado. Isso porque essas informações são interessantes para serem armazenadas e, posteriormente recuperadas.</a:t>
            </a:r>
          </a:p>
        </p:txBody>
      </p:sp>
    </p:spTree>
    <p:extLst>
      <p:ext uri="{BB962C8B-B14F-4D97-AF65-F5344CB8AC3E}">
        <p14:creationId xmlns:p14="http://schemas.microsoft.com/office/powerpoint/2010/main" val="4120234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FF0000"/>
                </a:solidFill>
              </a:rPr>
              <a:t>Porém</a:t>
            </a:r>
            <a:r>
              <a:rPr lang="pt-BR" dirty="0"/>
              <a:t>, por exemplo, as cores das paredes da livraria, o material de que é feito o chão, não são características relevantes para serem consultadas em um sistema, logo, não fariam parte dos dados a serem armazenados no banco de dados. Logo, o minimundo será justamente a especificação da parte do mundo real que é relevante para a implementação da livraria e deverá conter informações que caracterizem o domínio do negócio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77076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SGBDs ou DBMS – (Database Management</a:t>
            </a:r>
            <a:br>
              <a:rPr lang="fr-FR" dirty="0"/>
            </a:br>
            <a:r>
              <a:rPr lang="fr-FR" dirty="0"/>
              <a:t>System)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SGBD é um </a:t>
            </a:r>
            <a:r>
              <a:rPr lang="pt-BR" b="1" dirty="0">
                <a:solidFill>
                  <a:srgbClr val="FF0000"/>
                </a:solidFill>
              </a:rPr>
              <a:t>pacote de software </a:t>
            </a:r>
            <a:r>
              <a:rPr lang="pt-BR" dirty="0"/>
              <a:t>designado para guardar e gerenciar um banco de dados. É ele que realiza a manipulação dos dados armazenados em um BD.</a:t>
            </a:r>
          </a:p>
        </p:txBody>
      </p:sp>
    </p:spTree>
    <p:extLst>
      <p:ext uri="{BB962C8B-B14F-4D97-AF65-F5344CB8AC3E}">
        <p14:creationId xmlns:p14="http://schemas.microsoft.com/office/powerpoint/2010/main" val="2213687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(SBD)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Conjunto formado por um banco de dados mais as aplicações que o manipulam</a:t>
            </a:r>
          </a:p>
        </p:txBody>
      </p:sp>
    </p:spTree>
    <p:extLst>
      <p:ext uri="{BB962C8B-B14F-4D97-AF65-F5344CB8AC3E}">
        <p14:creationId xmlns:p14="http://schemas.microsoft.com/office/powerpoint/2010/main" val="4180667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era antes de surgirem os bancos de dados?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9863" y="2022438"/>
            <a:ext cx="7508837" cy="353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864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Consequências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Dificuldade do acesso a dados</a:t>
            </a:r>
          </a:p>
          <a:p>
            <a:r>
              <a:rPr lang="pt-BR" dirty="0"/>
              <a:t>Isolamento dos dados</a:t>
            </a:r>
          </a:p>
          <a:p>
            <a:r>
              <a:rPr lang="pt-BR" dirty="0"/>
              <a:t>Problemas de integridade</a:t>
            </a:r>
          </a:p>
          <a:p>
            <a:r>
              <a:rPr lang="pt-BR" dirty="0"/>
              <a:t>Problemas de segurança</a:t>
            </a:r>
          </a:p>
          <a:p>
            <a:r>
              <a:rPr lang="pt-BR" dirty="0"/>
              <a:t>Anomalias no acesso concorrente</a:t>
            </a:r>
          </a:p>
        </p:txBody>
      </p:sp>
    </p:spTree>
    <p:extLst>
      <p:ext uri="{BB962C8B-B14F-4D97-AF65-F5344CB8AC3E}">
        <p14:creationId xmlns:p14="http://schemas.microsoft.com/office/powerpoint/2010/main" val="1012411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Consequências/Dificuldade do acesso a dados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Inconsistência</a:t>
            </a:r>
          </a:p>
          <a:p>
            <a:r>
              <a:rPr lang="pt-BR" dirty="0"/>
              <a:t>Ocorre quando a mesma informação apresenta valores, formatos ou significados diferentes em sistemas, tabelas ou registros distintos. Isso gera contradições que comprometem a confiabilidade das informações.</a:t>
            </a:r>
          </a:p>
        </p:txBody>
      </p:sp>
    </p:spTree>
    <p:extLst>
      <p:ext uri="{BB962C8B-B14F-4D97-AF65-F5344CB8AC3E}">
        <p14:creationId xmlns:p14="http://schemas.microsoft.com/office/powerpoint/2010/main" val="737235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Consequências/Isolamento dos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Dados estão armazenados em arquivos distintos(“não conversam”)</a:t>
            </a:r>
          </a:p>
        </p:txBody>
      </p:sp>
    </p:spTree>
    <p:extLst>
      <p:ext uri="{BB962C8B-B14F-4D97-AF65-F5344CB8AC3E}">
        <p14:creationId xmlns:p14="http://schemas.microsoft.com/office/powerpoint/2010/main" val="1318414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Consequências/Problemas de integridade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Novo código deveria ser escrito EM CADA SISTEMA.</a:t>
            </a:r>
          </a:p>
        </p:txBody>
      </p:sp>
    </p:spTree>
    <p:extLst>
      <p:ext uri="{BB962C8B-B14F-4D97-AF65-F5344CB8AC3E}">
        <p14:creationId xmlns:p14="http://schemas.microsoft.com/office/powerpoint/2010/main" val="3486950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Consequências/Problemas de segurança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Nem todos os usuários do sistema devem estar autorizados a ver/acessar todos os dados armazenados.</a:t>
            </a:r>
          </a:p>
        </p:txBody>
      </p:sp>
    </p:spTree>
    <p:extLst>
      <p:ext uri="{BB962C8B-B14F-4D97-AF65-F5344CB8AC3E}">
        <p14:creationId xmlns:p14="http://schemas.microsoft.com/office/powerpoint/2010/main" val="1330040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Consequências/Anomalias no acesso concorrente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Múltiplos usuários possam ter acesso aos dados ao MESMO TEMPO.</a:t>
            </a:r>
          </a:p>
          <a:p>
            <a:r>
              <a:rPr lang="pt-BR" dirty="0"/>
              <a:t>Poderia gerar sobrecarga</a:t>
            </a:r>
          </a:p>
        </p:txBody>
      </p:sp>
    </p:spTree>
    <p:extLst>
      <p:ext uri="{BB962C8B-B14F-4D97-AF65-F5344CB8AC3E}">
        <p14:creationId xmlns:p14="http://schemas.microsoft.com/office/powerpoint/2010/main" val="3265053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 SGBD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6080" y="1828801"/>
            <a:ext cx="5970494" cy="357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69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Histórico</a:t>
            </a:r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2739" y="2592593"/>
            <a:ext cx="7358230" cy="3087445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>
          <a:xfrm>
            <a:off x="6991656" y="3105788"/>
            <a:ext cx="22375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i="0" u="none" strike="noStrike" baseline="0" dirty="0">
                <a:latin typeface="Calibri-Bold"/>
              </a:rPr>
              <a:t>Programa acessando seu arquivo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57027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Vários programas acessando os dados tinham de conhecer sua estrutura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593" y="1957892"/>
            <a:ext cx="6045798" cy="334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1634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Acesso ao arquivo através de um sistema intermediário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7896" y="2312895"/>
            <a:ext cx="6777318" cy="307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715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Solução! SGBD gerenciando o acesso aos arquivos usados pelos programas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1835" y="2259106"/>
            <a:ext cx="6443831" cy="303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68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Construção do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Processo de consistir e gravar inicialmente dados no banco de dados.</a:t>
            </a:r>
          </a:p>
          <a:p>
            <a:r>
              <a:rPr lang="pt-BR" dirty="0"/>
              <a:t>Pode ser feito via SGBD(</a:t>
            </a:r>
            <a:r>
              <a:rPr lang="pt-BR" dirty="0" err="1"/>
              <a:t>Mysql</a:t>
            </a:r>
            <a:r>
              <a:rPr lang="pt-BR" dirty="0"/>
              <a:t>/</a:t>
            </a:r>
            <a:r>
              <a:rPr lang="pt-BR" dirty="0" err="1"/>
              <a:t>postql</a:t>
            </a:r>
            <a:r>
              <a:rPr lang="pt-BR" dirty="0"/>
              <a:t>/</a:t>
            </a:r>
            <a:r>
              <a:rPr lang="pt-BR" dirty="0" err="1"/>
              <a:t>sqlserver</a:t>
            </a:r>
            <a:r>
              <a:rPr lang="pt-BR" dirty="0"/>
              <a:t>) ou SBD(linha de comando)</a:t>
            </a:r>
          </a:p>
        </p:txBody>
      </p:sp>
    </p:spTree>
    <p:extLst>
      <p:ext uri="{BB962C8B-B14F-4D97-AF65-F5344CB8AC3E}">
        <p14:creationId xmlns:p14="http://schemas.microsoft.com/office/powerpoint/2010/main" val="40838694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Manipulação de um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Manipulação de um banco de dados</a:t>
            </a:r>
          </a:p>
          <a:p>
            <a:r>
              <a:rPr lang="pt-BR" dirty="0"/>
              <a:t>inclui funções como consulta por dados específicos e atualização para refletir as alterações no mundo real.</a:t>
            </a:r>
          </a:p>
        </p:txBody>
      </p:sp>
    </p:spTree>
    <p:extLst>
      <p:ext uri="{BB962C8B-B14F-4D97-AF65-F5344CB8AC3E}">
        <p14:creationId xmlns:p14="http://schemas.microsoft.com/office/powerpoint/2010/main" val="11619576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 o SGBD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Independência de Dados</a:t>
            </a:r>
          </a:p>
          <a:p>
            <a:r>
              <a:rPr lang="pt-BR" dirty="0"/>
              <a:t>Redução ou Eliminação de Redundâncias</a:t>
            </a:r>
          </a:p>
          <a:p>
            <a:r>
              <a:rPr lang="pt-BR" dirty="0"/>
              <a:t>Eliminação de Inconsistências</a:t>
            </a:r>
          </a:p>
          <a:p>
            <a:r>
              <a:rPr lang="pt-BR" dirty="0"/>
              <a:t>Compartilhamento dos Dados</a:t>
            </a:r>
          </a:p>
          <a:p>
            <a:r>
              <a:rPr lang="pt-BR" dirty="0"/>
              <a:t>Tratamento de Concorrência</a:t>
            </a:r>
          </a:p>
          <a:p>
            <a:r>
              <a:rPr lang="pt-BR" dirty="0"/>
              <a:t>Privacidade dos Dados</a:t>
            </a:r>
          </a:p>
          <a:p>
            <a:r>
              <a:rPr lang="pt-BR" dirty="0"/>
              <a:t>Segurança dos Dados</a:t>
            </a:r>
          </a:p>
          <a:p>
            <a:r>
              <a:rPr lang="pt-BR" dirty="0"/>
              <a:t>Padronização dos Dados</a:t>
            </a:r>
          </a:p>
          <a:p>
            <a:r>
              <a:rPr lang="pt-BR" dirty="0"/>
              <a:t>Controle de Transações</a:t>
            </a:r>
          </a:p>
        </p:txBody>
      </p:sp>
    </p:spTree>
    <p:extLst>
      <p:ext uri="{BB962C8B-B14F-4D97-AF65-F5344CB8AC3E}">
        <p14:creationId xmlns:p14="http://schemas.microsoft.com/office/powerpoint/2010/main" val="40156503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 o SGBD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Integridade dos Dados</a:t>
            </a:r>
          </a:p>
          <a:p>
            <a:r>
              <a:rPr lang="pt-BR" dirty="0"/>
              <a:t>Representação de Relacionamento Complexo entre Dados</a:t>
            </a:r>
          </a:p>
          <a:p>
            <a:r>
              <a:rPr lang="pt-BR" dirty="0"/>
              <a:t>Possibilidade de Múltiplas Interfaces</a:t>
            </a:r>
          </a:p>
        </p:txBody>
      </p:sp>
    </p:spTree>
    <p:extLst>
      <p:ext uri="{BB962C8B-B14F-4D97-AF65-F5344CB8AC3E}">
        <p14:creationId xmlns:p14="http://schemas.microsoft.com/office/powerpoint/2010/main" val="3409303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85017"/>
            <a:ext cx="10515600" cy="493857"/>
          </a:xfrm>
        </p:spPr>
        <p:txBody>
          <a:bodyPr>
            <a:normAutofit fontScale="90000"/>
          </a:bodyPr>
          <a:lstStyle/>
          <a:p>
            <a:r>
              <a:rPr lang="pt-BR" dirty="0"/>
              <a:t>Estrutura geral de um BD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1" y="789709"/>
            <a:ext cx="9408090" cy="538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1608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 mais................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Comandos DML (Data </a:t>
            </a:r>
            <a:r>
              <a:rPr lang="pt-BR" dirty="0" err="1"/>
              <a:t>Manipulation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) incluem comandos para inserir, atualizar, consultar e excluir dados do banco de dados.</a:t>
            </a:r>
          </a:p>
        </p:txBody>
      </p:sp>
    </p:spTree>
    <p:extLst>
      <p:ext uri="{BB962C8B-B14F-4D97-AF65-F5344CB8AC3E}">
        <p14:creationId xmlns:p14="http://schemas.microsoft.com/office/powerpoint/2010/main" val="5557743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 mais................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DDL (Data </a:t>
            </a:r>
            <a:r>
              <a:rPr lang="pt-BR" dirty="0" err="1"/>
              <a:t>Definition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) ou linguagem de definição de dados inclui comandos para a criação e manutenção das bases de dados.</a:t>
            </a:r>
          </a:p>
        </p:txBody>
      </p:sp>
    </p:spTree>
    <p:extLst>
      <p:ext uri="{BB962C8B-B14F-4D97-AF65-F5344CB8AC3E}">
        <p14:creationId xmlns:p14="http://schemas.microsoft.com/office/powerpoint/2010/main" val="21991695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 mais................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Pré</a:t>
            </a:r>
            <a:r>
              <a:rPr lang="pt-BR" dirty="0"/>
              <a:t>-compilador da DML - converte comandos da DML2 embutidos em um aplicativo para chamadas de procedimentos normais na linguagem hospedeira do BD. O </a:t>
            </a:r>
            <a:r>
              <a:rPr lang="pt-BR" dirty="0" err="1"/>
              <a:t>pré</a:t>
            </a:r>
            <a:r>
              <a:rPr lang="pt-BR" dirty="0"/>
              <a:t>-compilador precisa interagir com o processador de consultas pra gerar o código apropriado</a:t>
            </a:r>
          </a:p>
        </p:txBody>
      </p:sp>
    </p:spTree>
    <p:extLst>
      <p:ext uri="{BB962C8B-B14F-4D97-AF65-F5344CB8AC3E}">
        <p14:creationId xmlns:p14="http://schemas.microsoft.com/office/powerpoint/2010/main" val="36147920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 mais................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Compilador DDL3 - converte comandos da DDL em um conjunto de tabelas contendo meta dados (“dados sobre dados”), que são armazenados no Dicionário de Dados.</a:t>
            </a:r>
          </a:p>
        </p:txBody>
      </p:sp>
    </p:spTree>
    <p:extLst>
      <p:ext uri="{BB962C8B-B14F-4D97-AF65-F5344CB8AC3E}">
        <p14:creationId xmlns:p14="http://schemas.microsoft.com/office/powerpoint/2010/main" val="26009010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 mais................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Processador de consultas - traduz os comandos em uma linguagem de consulta para instruções de baixo nível que o gerenciador do banco de dados pode interpretar. Além disso, o processador de consultas tenta transformar uma requisição do usuário em uma forma compatível e mais eficiente com respeito ao banco de dados, encontrando uma boa estratégia para executar a consulta.</a:t>
            </a:r>
          </a:p>
        </p:txBody>
      </p:sp>
    </p:spTree>
    <p:extLst>
      <p:ext uri="{BB962C8B-B14F-4D97-AF65-F5344CB8AC3E}">
        <p14:creationId xmlns:p14="http://schemas.microsoft.com/office/powerpoint/2010/main" val="214466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Gerenciador do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Gerenciador do banco de dados - fornece a interface entre os dados de baixo nível armazenados no disco e os programas aplicativos e de consulta submetidos ao sistema.</a:t>
            </a:r>
          </a:p>
        </p:txBody>
      </p:sp>
    </p:spTree>
    <p:extLst>
      <p:ext uri="{BB962C8B-B14F-4D97-AF65-F5344CB8AC3E}">
        <p14:creationId xmlns:p14="http://schemas.microsoft.com/office/powerpoint/2010/main" val="38298217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Gerenciador de arquivos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Gerenciador de arquivos - gerencia a alocação do espaço na armazenagem do disco e as estruturas de dados usadas para representar a informação armazenada no disco. É o gerenciador de memória quem traduz os diversos comandos DML em comandos de baixo nível para atuar sobre os dados armazenados na base de dados.</a:t>
            </a:r>
          </a:p>
        </p:txBody>
      </p:sp>
    </p:spTree>
    <p:extLst>
      <p:ext uri="{BB962C8B-B14F-4D97-AF65-F5344CB8AC3E}">
        <p14:creationId xmlns:p14="http://schemas.microsoft.com/office/powerpoint/2010/main" val="16651135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 mais................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Arquivos de dados - armazenam o banco de dados propriamente dito.</a:t>
            </a:r>
          </a:p>
          <a:p>
            <a:r>
              <a:rPr lang="pt-BR" dirty="0"/>
              <a:t>Dicionário de dados - armazena informações sobre a estrutura do banco de dados.</a:t>
            </a:r>
          </a:p>
          <a:p>
            <a:r>
              <a:rPr lang="pt-BR" dirty="0"/>
              <a:t>Também chamado de catálogo de dados, contém os meta dados, isto é, as informações a respeito dos componentes do banco de dados: tabelas, índices, procedimentos, restrições</a:t>
            </a:r>
          </a:p>
          <a:p>
            <a:r>
              <a:rPr lang="pt-BR" dirty="0"/>
              <a:t>Índices - proporcionam acesso rápido aos itens de dados com valores específicos. São estruturas que permitem um acesso mais eficiente aos dados</a:t>
            </a:r>
          </a:p>
        </p:txBody>
      </p:sp>
    </p:spTree>
    <p:extLst>
      <p:ext uri="{BB962C8B-B14F-4D97-AF65-F5344CB8AC3E}">
        <p14:creationId xmlns:p14="http://schemas.microsoft.com/office/powerpoint/2010/main" val="12825938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631CA25-0EF9-2CCC-4AF2-E228C8DAE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Classes de Usuários de um Sistema de Banco de</a:t>
            </a:r>
            <a:br>
              <a:rPr lang="pt-BR" b="1" dirty="0"/>
            </a:br>
            <a:r>
              <a:rPr lang="pt-BR" b="1" dirty="0"/>
              <a:t>Dados</a:t>
            </a:r>
          </a:p>
        </p:txBody>
      </p:sp>
    </p:spTree>
    <p:extLst>
      <p:ext uri="{BB962C8B-B14F-4D97-AF65-F5344CB8AC3E}">
        <p14:creationId xmlns:p14="http://schemas.microsoft.com/office/powerpoint/2010/main" val="37368871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Classes de Usuários de um Sistema de Banco de</a:t>
            </a:r>
            <a:br>
              <a:rPr lang="pt-BR" dirty="0"/>
            </a:br>
            <a:r>
              <a:rPr lang="pt-BR" dirty="0"/>
              <a:t>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Administrador de Bancos de Dados (DBA – Data Base Administrator)</a:t>
            </a:r>
          </a:p>
          <a:p>
            <a:r>
              <a:rPr lang="pt-BR" dirty="0"/>
              <a:t>Responsável, entre outras coisas, por autorizar acesso à base de dados e coordenar e monitorar seu uso. Adicionalmente, ele é responsável por problemas, tais como, quebra de segurança ou baixo  desempenho do BD.</a:t>
            </a:r>
          </a:p>
        </p:txBody>
      </p:sp>
    </p:spTree>
    <p:extLst>
      <p:ext uri="{BB962C8B-B14F-4D97-AF65-F5344CB8AC3E}">
        <p14:creationId xmlns:p14="http://schemas.microsoft.com/office/powerpoint/2010/main" val="7233792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Projetista de Bancos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Também chamado de analista de banco de dados, possui a responsabilidade de identificar os dados a serem armazenados no BD e pela escolha da estrutura apropriada a ser utilizada para armazená-los. Ou seja, é a pessoa responsável pelo projeto de construção e utilização do BD</a:t>
            </a:r>
          </a:p>
        </p:txBody>
      </p:sp>
    </p:spTree>
    <p:extLst>
      <p:ext uri="{BB962C8B-B14F-4D97-AF65-F5344CB8AC3E}">
        <p14:creationId xmlns:p14="http://schemas.microsoft.com/office/powerpoint/2010/main" val="9303874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Usuários Finais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Usuários ocasionais</a:t>
            </a:r>
          </a:p>
          <a:p>
            <a:r>
              <a:rPr lang="pt-BR" dirty="0"/>
              <a:t>Usuários comuns ou paramétricos</a:t>
            </a:r>
          </a:p>
          <a:p>
            <a:r>
              <a:rPr lang="pt-BR" dirty="0"/>
              <a:t>Usuários sofisticados</a:t>
            </a:r>
          </a:p>
          <a:p>
            <a:r>
              <a:rPr lang="pt-BR" dirty="0"/>
              <a:t>Analistas de Sistemas e Programadores de Aplicações</a:t>
            </a:r>
          </a:p>
        </p:txBody>
      </p:sp>
    </p:spTree>
    <p:extLst>
      <p:ext uri="{BB962C8B-B14F-4D97-AF65-F5344CB8AC3E}">
        <p14:creationId xmlns:p14="http://schemas.microsoft.com/office/powerpoint/2010/main" val="16514062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BD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Oracle é um sistema comercial, mas possui versões gratuitas para uso acadêmico e/ou doméstico (em casa). Ele foi o primeiro Banco de Dados Corporativo (cliente/ servidor) possuindo grande variedade de distribuições (para Macintosh, Windows, Linux, </a:t>
            </a:r>
            <a:r>
              <a:rPr lang="pt-BR" dirty="0" err="1"/>
              <a:t>FreeBSD</a:t>
            </a:r>
            <a:r>
              <a:rPr lang="pt-BR" dirty="0"/>
              <a:t>, Unix) e para computadores de grande porte. Foi um dos primeiros a fazer parte do mercado Web. Nele a linguagem padrão é a SQL, mas possui também uma linguagem própria para desenvolvimento de aplicações, a PL/SQL4</a:t>
            </a:r>
          </a:p>
        </p:txBody>
      </p:sp>
    </p:spTree>
    <p:extLst>
      <p:ext uri="{BB962C8B-B14F-4D97-AF65-F5344CB8AC3E}">
        <p14:creationId xmlns:p14="http://schemas.microsoft.com/office/powerpoint/2010/main" val="22793100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BD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Microsoft SQL Server – é o banco de dados comercial da Microsoft. Ele é um dos principais concorrentes do Oracle. Tem como uma das vantagens o fato de, por ser um produto Microsoft, se integrar nativamente com produtos e linguagens da Microsoft (talvez seja esse o fator que o popularizou!).</a:t>
            </a:r>
          </a:p>
        </p:txBody>
      </p:sp>
    </p:spTree>
    <p:extLst>
      <p:ext uri="{BB962C8B-B14F-4D97-AF65-F5344CB8AC3E}">
        <p14:creationId xmlns:p14="http://schemas.microsoft.com/office/powerpoint/2010/main" val="14257339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BD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IBM DB2 - é o Sistema Gerenciador de Banco de Dados Relacionais (SGDBR) produzido pela IBM. Existem diferentes versões do DB2 que rodam desde num simples PDA (computador de mão), até em potentes mainframes e funcionam em servidores baseados em sistemas Unix, Windows ou Linux. DB2 é vendido em diversos tipos de edições ou licenças.</a:t>
            </a:r>
          </a:p>
        </p:txBody>
      </p:sp>
    </p:spTree>
    <p:extLst>
      <p:ext uri="{BB962C8B-B14F-4D97-AF65-F5344CB8AC3E}">
        <p14:creationId xmlns:p14="http://schemas.microsoft.com/office/powerpoint/2010/main" val="35733678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BD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Interbase</a:t>
            </a:r>
            <a:r>
              <a:rPr lang="pt-BR" dirty="0"/>
              <a:t> - é um sistema gerenciador de banco de dados relacionais da Borland.</a:t>
            </a:r>
          </a:p>
          <a:p>
            <a:r>
              <a:rPr lang="pt-BR" dirty="0"/>
              <a:t>Foi incluído, pela Borland, nas suas ferramentas de desenvolvimento (Delphi, C++ </a:t>
            </a:r>
            <a:r>
              <a:rPr lang="pt-BR" dirty="0" err="1"/>
              <a:t>Builder</a:t>
            </a:r>
            <a:r>
              <a:rPr lang="pt-BR" dirty="0"/>
              <a:t> e </a:t>
            </a:r>
            <a:r>
              <a:rPr lang="pt-BR" dirty="0" err="1"/>
              <a:t>JBuider</a:t>
            </a:r>
            <a:r>
              <a:rPr lang="pt-BR" dirty="0"/>
              <a:t>). Ele pode ser instalado em sistemas operacionais Microsoft Windows, Linux, Mac OS X e Sun Solaris</a:t>
            </a:r>
          </a:p>
        </p:txBody>
      </p:sp>
    </p:spTree>
    <p:extLst>
      <p:ext uri="{BB962C8B-B14F-4D97-AF65-F5344CB8AC3E}">
        <p14:creationId xmlns:p14="http://schemas.microsoft.com/office/powerpoint/2010/main" val="29465269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BD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Firebird</a:t>
            </a:r>
            <a:r>
              <a:rPr lang="pt-BR" dirty="0"/>
              <a:t> - Nascido de uma iniciativa da Borland em abrir o código do </a:t>
            </a:r>
            <a:r>
              <a:rPr lang="pt-BR" dirty="0" err="1"/>
              <a:t>InterBase</a:t>
            </a:r>
            <a:r>
              <a:rPr lang="pt-BR" dirty="0"/>
              <a:t> 6.0, este sistema é open </a:t>
            </a:r>
            <a:r>
              <a:rPr lang="pt-BR" dirty="0" err="1"/>
              <a:t>source</a:t>
            </a:r>
            <a:r>
              <a:rPr lang="pt-BR" dirty="0"/>
              <a:t> e esbanja versatilidade e robustez. O </a:t>
            </a:r>
            <a:r>
              <a:rPr lang="pt-BR" dirty="0" err="1"/>
              <a:t>Firebird</a:t>
            </a:r>
            <a:r>
              <a:rPr lang="pt-BR" dirty="0"/>
              <a:t> (algumas vezes chamado de </a:t>
            </a:r>
            <a:r>
              <a:rPr lang="pt-BR" dirty="0" err="1"/>
              <a:t>FirebirdSQL</a:t>
            </a:r>
            <a:r>
              <a:rPr lang="pt-BR" dirty="0"/>
              <a:t>) roda em Linux, Windows, Mac OS e uma variedade de plataformas Unix. A Fundação </a:t>
            </a:r>
            <a:r>
              <a:rPr lang="pt-BR" dirty="0" err="1"/>
              <a:t>FirebirdSQL</a:t>
            </a:r>
            <a:r>
              <a:rPr lang="pt-BR" dirty="0"/>
              <a:t> coordena a manutenção e desenvolvimento do </a:t>
            </a:r>
            <a:r>
              <a:rPr lang="pt-BR" dirty="0" err="1"/>
              <a:t>Firebird</a:t>
            </a:r>
            <a:r>
              <a:rPr lang="pt-BR" dirty="0"/>
              <a:t>, sendo que os códigos fonte são disponibilizados sob o CVS da </a:t>
            </a:r>
            <a:r>
              <a:rPr lang="pt-BR" dirty="0" err="1"/>
              <a:t>SourceForge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15935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BD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MySQL - é, atualmente, um dos bancos de dados mais populares, com mais de 10 milhões de instalações pelo mundo. Ele possui versões para Windows, Solaris, Unix, </a:t>
            </a:r>
            <a:r>
              <a:rPr lang="pt-BR" dirty="0" err="1"/>
              <a:t>FreeBSD</a:t>
            </a:r>
            <a:r>
              <a:rPr lang="pt-BR" dirty="0"/>
              <a:t>, Linux e é gratuito para uso não-comercial. Algumas das empresas mais famosas que fazem uso deste banco estão: NASA, Banco Bradesco, </a:t>
            </a:r>
            <a:r>
              <a:rPr lang="pt-BR" dirty="0" err="1"/>
              <a:t>Dataprev</a:t>
            </a:r>
            <a:r>
              <a:rPr lang="pt-BR" dirty="0"/>
              <a:t>, HP, Nokia, Sony e Lufthansa.</a:t>
            </a:r>
          </a:p>
        </p:txBody>
      </p:sp>
    </p:spTree>
    <p:extLst>
      <p:ext uri="{BB962C8B-B14F-4D97-AF65-F5344CB8AC3E}">
        <p14:creationId xmlns:p14="http://schemas.microsoft.com/office/powerpoint/2010/main" val="6717650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BD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PostgreSQL</a:t>
            </a:r>
            <a:r>
              <a:rPr lang="pt-BR" dirty="0"/>
              <a:t> - é um sistema gerenciador de banco de dados objeto relacional (SGBDOR), desenvolvido como projeto de código aberto. Ele é um dos </a:t>
            </a:r>
            <a:r>
              <a:rPr lang="pt-BR" dirty="0" err="1"/>
              <a:t>SGBDs</a:t>
            </a:r>
            <a:r>
              <a:rPr lang="pt-BR" dirty="0"/>
              <a:t> (Sistema Gerenciador de Bancos de Dados) de código aberto mais avançados, é </a:t>
            </a:r>
            <a:r>
              <a:rPr lang="pt-BR" dirty="0" err="1"/>
              <a:t>grautito</a:t>
            </a:r>
            <a:r>
              <a:rPr lang="pt-BR" dirty="0"/>
              <a:t> e tem uma boa aceitação no mercado.</a:t>
            </a:r>
          </a:p>
        </p:txBody>
      </p:sp>
    </p:spTree>
    <p:extLst>
      <p:ext uri="{BB962C8B-B14F-4D97-AF65-F5344CB8AC3E}">
        <p14:creationId xmlns:p14="http://schemas.microsoft.com/office/powerpoint/2010/main" val="27082014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BD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Microsoft Access: é um banco de dados da Microsoft para uso em micros desktops e não em servidores. Esta é a principal diferença dele para os demais bancos SGBD como o Oracle, SQL Server e MySQL, por exemplo. Contudo, ele tem sido muito usado em pequenas e médias empresas para armazenamento de dados em pequenas quantidades.</a:t>
            </a:r>
          </a:p>
        </p:txBody>
      </p:sp>
    </p:spTree>
    <p:extLst>
      <p:ext uri="{BB962C8B-B14F-4D97-AF65-F5344CB8AC3E}">
        <p14:creationId xmlns:p14="http://schemas.microsoft.com/office/powerpoint/2010/main" val="11150840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1. Quais as principais desvantagens de fazer uso de um sistema de arquivos convencional em relação ao uso de banco de dados?</a:t>
            </a:r>
          </a:p>
          <a:p>
            <a:r>
              <a:rPr lang="pt-BR" dirty="0"/>
              <a:t>2. Quais as propriedades que uma transação?</a:t>
            </a:r>
          </a:p>
          <a:p>
            <a:r>
              <a:rPr lang="pt-BR" dirty="0"/>
              <a:t>3. O que são meta dados? Dê exemplos.</a:t>
            </a:r>
          </a:p>
          <a:p>
            <a:r>
              <a:rPr lang="pt-BR" dirty="0"/>
              <a:t>4. Que problemas podem ser causados pela falta de padronização dos dados armazenados?</a:t>
            </a:r>
          </a:p>
          <a:p>
            <a:r>
              <a:rPr lang="pt-BR" dirty="0"/>
              <a:t>5. Qual a importância do controle de redundância?</a:t>
            </a:r>
          </a:p>
        </p:txBody>
      </p:sp>
    </p:spTree>
    <p:extLst>
      <p:ext uri="{BB962C8B-B14F-4D97-AF65-F5344CB8AC3E}">
        <p14:creationId xmlns:p14="http://schemas.microsoft.com/office/powerpoint/2010/main" val="33129093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Obrigado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9210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69491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817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30921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1955</Words>
  <Application>Microsoft Office PowerPoint</Application>
  <PresentationFormat>Widescreen</PresentationFormat>
  <Paragraphs>129</Paragraphs>
  <Slides>54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54</vt:i4>
      </vt:variant>
    </vt:vector>
  </HeadingPairs>
  <TitlesOfParts>
    <vt:vector size="59" baseType="lpstr">
      <vt:lpstr>Calibri-Bold</vt:lpstr>
      <vt:lpstr>Arial</vt:lpstr>
      <vt:lpstr>Calibri</vt:lpstr>
      <vt:lpstr>Calibri Light</vt:lpstr>
      <vt:lpstr>Tema do Office</vt:lpstr>
      <vt:lpstr>Linguagem SQL</vt:lpstr>
      <vt:lpstr>Módulo 01</vt:lpstr>
      <vt:lpstr>Conteúdo Programático do Módulo 1</vt:lpstr>
      <vt:lpstr>Dado</vt:lpstr>
      <vt:lpstr>Informação </vt:lpstr>
      <vt:lpstr>Exemplos.</vt:lpstr>
      <vt:lpstr>Banco de Dados</vt:lpstr>
      <vt:lpstr>Modelo de uma determinada parte da realidade</vt:lpstr>
      <vt:lpstr>Exemplo</vt:lpstr>
      <vt:lpstr>Exemplo</vt:lpstr>
      <vt:lpstr>SGBDs ou DBMS – (Database Management System)</vt:lpstr>
      <vt:lpstr>(SBD)</vt:lpstr>
      <vt:lpstr>Como era antes de surgirem os bancos de dados?</vt:lpstr>
      <vt:lpstr>Consequências</vt:lpstr>
      <vt:lpstr>Consequências/Dificuldade do acesso a dados </vt:lpstr>
      <vt:lpstr>Consequências/Isolamento dos dados</vt:lpstr>
      <vt:lpstr>Consequências/Problemas de integridade</vt:lpstr>
      <vt:lpstr>Consequências/Problemas de segurança </vt:lpstr>
      <vt:lpstr>Consequências/Anomalias no acesso concorrente</vt:lpstr>
      <vt:lpstr>Solução SGBD</vt:lpstr>
      <vt:lpstr>Histórico</vt:lpstr>
      <vt:lpstr>Vários programas acessando os dados tinham de conhecer sua estrutura</vt:lpstr>
      <vt:lpstr>Acesso ao arquivo através de um sistema intermediário</vt:lpstr>
      <vt:lpstr>Solução! SGBD gerenciando o acesso aos arquivos usados pelos programas</vt:lpstr>
      <vt:lpstr>Construção do banco de dados</vt:lpstr>
      <vt:lpstr>Manipulação de um banco de dados</vt:lpstr>
      <vt:lpstr>Com o SGBD</vt:lpstr>
      <vt:lpstr>Com o SGBD</vt:lpstr>
      <vt:lpstr>Estrutura geral de um BD</vt:lpstr>
      <vt:lpstr>E mais................</vt:lpstr>
      <vt:lpstr>E mais................</vt:lpstr>
      <vt:lpstr>E mais................</vt:lpstr>
      <vt:lpstr>E mais................</vt:lpstr>
      <vt:lpstr>E mais................</vt:lpstr>
      <vt:lpstr>Gerenciador do banco de dados</vt:lpstr>
      <vt:lpstr>Gerenciador de arquivos </vt:lpstr>
      <vt:lpstr>E mais................</vt:lpstr>
      <vt:lpstr>Classes de Usuários de um Sistema de Banco de Dados</vt:lpstr>
      <vt:lpstr>Classes de Usuários de um Sistema de Banco de Dados</vt:lpstr>
      <vt:lpstr>Projetista de Bancos de Dados</vt:lpstr>
      <vt:lpstr>Usuários Finais</vt:lpstr>
      <vt:lpstr>Exemplos de BD</vt:lpstr>
      <vt:lpstr>Exemplos de BD</vt:lpstr>
      <vt:lpstr>Exemplos de BD</vt:lpstr>
      <vt:lpstr>Exemplos de BD</vt:lpstr>
      <vt:lpstr>Exemplos de BD</vt:lpstr>
      <vt:lpstr>Exemplos de BD</vt:lpstr>
      <vt:lpstr>Exemplos de BD</vt:lpstr>
      <vt:lpstr>Exemplos de BD</vt:lpstr>
      <vt:lpstr>Exercícios</vt:lpstr>
      <vt:lpstr>Obrigado</vt:lpstr>
      <vt:lpstr>Apresentação do PowerPoint</vt:lpstr>
      <vt:lpstr>Apresentação do PowerPoint</vt:lpstr>
      <vt:lpstr>Apresentação do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Linguagem SQL</dc:title>
  <dc:creator>Fatec</dc:creator>
  <cp:lastModifiedBy>Edídio Lima</cp:lastModifiedBy>
  <cp:revision>36</cp:revision>
  <dcterms:created xsi:type="dcterms:W3CDTF">2018-03-06T20:32:22Z</dcterms:created>
  <dcterms:modified xsi:type="dcterms:W3CDTF">2026-08-11T18:28:30Z</dcterms:modified>
</cp:coreProperties>
</file>